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147468929" r:id="rId9"/>
    <p:sldId id="2147468930" r:id="rId10"/>
    <p:sldId id="2147468932" r:id="rId11"/>
    <p:sldId id="2147468933" r:id="rId12"/>
    <p:sldId id="2147468934" r:id="rId13"/>
    <p:sldId id="2147468938" r:id="rId14"/>
    <p:sldId id="2147468937" r:id="rId15"/>
    <p:sldId id="2147468935" r:id="rId16"/>
    <p:sldId id="2147468936" r:id="rId17"/>
    <p:sldId id="2147468940" r:id="rId18"/>
    <p:sldId id="214746894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8DB5E-2B94-4108-8294-951B6A6089B1}" name="Craig Shalekoff" initials="" userId="S::craigs@trilogycx.com::cdf4c69e-9afe-4908-bac7-b9e3a3eadf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93C"/>
    <a:srgbClr val="043E3E"/>
    <a:srgbClr val="404040"/>
    <a:srgbClr val="49FE0C"/>
    <a:srgbClr val="0C1926"/>
    <a:srgbClr val="CAEA6F"/>
    <a:srgbClr val="FDCA07"/>
    <a:srgbClr val="4AC50E"/>
    <a:srgbClr val="71AD47"/>
    <a:srgbClr val="BA2C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C0333-9AB4-CC45-8432-2999404AB019}" v="54" dt="2026-08-18T09:47:42.978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05"/>
    <p:restoredTop sz="96056"/>
  </p:normalViewPr>
  <p:slideViewPr>
    <p:cSldViewPr snapToGrid="0">
      <p:cViewPr>
        <p:scale>
          <a:sx n="117" d="100"/>
          <a:sy n="117" d="100"/>
        </p:scale>
        <p:origin x="1024" y="144"/>
      </p:cViewPr>
      <p:guideLst>
        <p:guide orient="horz" pos="55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Shalekoff" userId="e3287485-232c-4f14-8163-f81c9b111480" providerId="ADAL" clId="{D92329EA-77D3-52B4-9BC6-E67D2BAED969}"/>
    <pc:docChg chg="undo custSel addSld delSld modSld sldOrd">
      <pc:chgData name="Craig Shalekoff" userId="e3287485-232c-4f14-8163-f81c9b111480" providerId="ADAL" clId="{D92329EA-77D3-52B4-9BC6-E67D2BAED969}" dt="2026-08-18T10:39:47.975" v="1000" actId="20577"/>
      <pc:docMkLst>
        <pc:docMk/>
      </pc:docMkLst>
      <pc:sldChg chg="modSp mod">
        <pc:chgData name="Craig Shalekoff" userId="e3287485-232c-4f14-8163-f81c9b111480" providerId="ADAL" clId="{D92329EA-77D3-52B4-9BC6-E67D2BAED969}" dt="2026-08-18T09:33:37.181" v="584"/>
        <pc:sldMkLst>
          <pc:docMk/>
          <pc:sldMk cId="0" sldId="2147468935"/>
        </pc:sldMkLst>
        <pc:spChg chg="mod">
          <ac:chgData name="Craig Shalekoff" userId="e3287485-232c-4f14-8163-f81c9b111480" providerId="ADAL" clId="{D92329EA-77D3-52B4-9BC6-E67D2BAED969}" dt="2026-08-18T09:31:08.497" v="562" actId="1076"/>
          <ac:spMkLst>
            <pc:docMk/>
            <pc:sldMk cId="0" sldId="2147468935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8T09:33:29.361" v="581" actId="21"/>
          <ac:spMkLst>
            <pc:docMk/>
            <pc:sldMk cId="0" sldId="2147468935"/>
            <ac:spMk id="3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8T09:33:37.181" v="584"/>
          <ac:spMkLst>
            <pc:docMk/>
            <pc:sldMk cId="0" sldId="2147468935"/>
            <ac:spMk id="39" creationId="{00000000-0000-0000-0000-000000000000}"/>
          </ac:spMkLst>
        </pc:spChg>
      </pc:sldChg>
      <pc:sldChg chg="ord">
        <pc:chgData name="Craig Shalekoff" userId="e3287485-232c-4f14-8163-f81c9b111480" providerId="ADAL" clId="{D92329EA-77D3-52B4-9BC6-E67D2BAED969}" dt="2026-08-18T09:17:29.546" v="10" actId="20578"/>
        <pc:sldMkLst>
          <pc:docMk/>
          <pc:sldMk cId="0" sldId="2147468937"/>
        </pc:sldMkLst>
      </pc:sldChg>
      <pc:sldChg chg="delSp add del mod setBg">
        <pc:chgData name="Craig Shalekoff" userId="e3287485-232c-4f14-8163-f81c9b111480" providerId="ADAL" clId="{D92329EA-77D3-52B4-9BC6-E67D2BAED969}" dt="2026-08-18T09:30:23.101" v="556" actId="2696"/>
        <pc:sldMkLst>
          <pc:docMk/>
          <pc:sldMk cId="6540360" sldId="2147468939"/>
        </pc:sldMkLst>
        <pc:spChg chg="del">
          <ac:chgData name="Craig Shalekoff" userId="e3287485-232c-4f14-8163-f81c9b111480" providerId="ADAL" clId="{D92329EA-77D3-52B4-9BC6-E67D2BAED969}" dt="2026-08-18T09:16:51.768" v="2" actId="478"/>
          <ac:spMkLst>
            <pc:docMk/>
            <pc:sldMk cId="6540360" sldId="2147468939"/>
            <ac:spMk id="4" creationId="{EBD4AD8E-9B80-ADA7-EFE4-8AB80249D335}"/>
          </ac:spMkLst>
        </pc:spChg>
      </pc:sldChg>
      <pc:sldChg chg="addSp delSp modSp add mod ord setBg modAnim">
        <pc:chgData name="Craig Shalekoff" userId="e3287485-232c-4f14-8163-f81c9b111480" providerId="ADAL" clId="{D92329EA-77D3-52B4-9BC6-E67D2BAED969}" dt="2026-08-18T09:23:53.407" v="54"/>
        <pc:sldMkLst>
          <pc:docMk/>
          <pc:sldMk cId="831441229" sldId="2147468940"/>
        </pc:sldMkLst>
        <pc:spChg chg="del">
          <ac:chgData name="Craig Shalekoff" userId="e3287485-232c-4f14-8163-f81c9b111480" providerId="ADAL" clId="{D92329EA-77D3-52B4-9BC6-E67D2BAED969}" dt="2026-08-18T09:17:06.655" v="5" actId="478"/>
          <ac:spMkLst>
            <pc:docMk/>
            <pc:sldMk cId="831441229" sldId="2147468940"/>
            <ac:spMk id="3" creationId="{55920BA1-DDB6-D59C-B406-C5FC03367707}"/>
          </ac:spMkLst>
        </pc:spChg>
        <pc:spChg chg="del">
          <ac:chgData name="Craig Shalekoff" userId="e3287485-232c-4f14-8163-f81c9b111480" providerId="ADAL" clId="{D92329EA-77D3-52B4-9BC6-E67D2BAED969}" dt="2026-08-18T09:17:09.182" v="6" actId="478"/>
          <ac:spMkLst>
            <pc:docMk/>
            <pc:sldMk cId="831441229" sldId="2147468940"/>
            <ac:spMk id="4" creationId="{7E750D40-4577-4378-0F9C-5E7727D6744B}"/>
          </ac:spMkLst>
        </pc:spChg>
        <pc:spChg chg="add mod">
          <ac:chgData name="Craig Shalekoff" userId="e3287485-232c-4f14-8163-f81c9b111480" providerId="ADAL" clId="{D92329EA-77D3-52B4-9BC6-E67D2BAED969}" dt="2026-08-18T09:20:36.337" v="27" actId="167"/>
          <ac:spMkLst>
            <pc:docMk/>
            <pc:sldMk cId="831441229" sldId="2147468940"/>
            <ac:spMk id="33" creationId="{680680EA-CF8C-5871-F7B2-8C41C989D5C1}"/>
          </ac:spMkLst>
        </pc:spChg>
        <pc:spChg chg="del">
          <ac:chgData name="Craig Shalekoff" userId="e3287485-232c-4f14-8163-f81c9b111480" providerId="ADAL" clId="{D92329EA-77D3-52B4-9BC6-E67D2BAED969}" dt="2026-08-18T09:17:11.386" v="7" actId="478"/>
          <ac:spMkLst>
            <pc:docMk/>
            <pc:sldMk cId="831441229" sldId="2147468940"/>
            <ac:spMk id="34" creationId="{6028725D-0800-7E6B-F5F1-5A38B7B8657A}"/>
          </ac:spMkLst>
        </pc:spChg>
        <pc:spChg chg="add mod">
          <ac:chgData name="Craig Shalekoff" userId="e3287485-232c-4f14-8163-f81c9b111480" providerId="ADAL" clId="{D92329EA-77D3-52B4-9BC6-E67D2BAED969}" dt="2026-08-18T09:23:39.076" v="52" actId="14100"/>
          <ac:spMkLst>
            <pc:docMk/>
            <pc:sldMk cId="831441229" sldId="2147468940"/>
            <ac:spMk id="35" creationId="{DC380AE5-E66E-8524-AEF1-80F7E131720C}"/>
          </ac:spMkLst>
        </pc:spChg>
      </pc:sldChg>
      <pc:sldChg chg="addSp delSp modSp add del mod setBg modAnim">
        <pc:chgData name="Craig Shalekoff" userId="e3287485-232c-4f14-8163-f81c9b111480" providerId="ADAL" clId="{D92329EA-77D3-52B4-9BC6-E67D2BAED969}" dt="2026-08-18T09:40:43.544" v="777"/>
        <pc:sldMkLst>
          <pc:docMk/>
          <pc:sldMk cId="512057967" sldId="2147468941"/>
        </pc:sldMkLst>
        <pc:spChg chg="add mod">
          <ac:chgData name="Craig Shalekoff" userId="e3287485-232c-4f14-8163-f81c9b111480" providerId="ADAL" clId="{D92329EA-77D3-52B4-9BC6-E67D2BAED969}" dt="2026-08-18T09:37:02.556" v="775" actId="1076"/>
          <ac:spMkLst>
            <pc:docMk/>
            <pc:sldMk cId="512057967" sldId="2147468941"/>
            <ac:spMk id="3" creationId="{F399ECA4-14BA-9B75-EF43-975169B43C71}"/>
          </ac:spMkLst>
        </pc:spChg>
        <pc:spChg chg="add mod">
          <ac:chgData name="Craig Shalekoff" userId="e3287485-232c-4f14-8163-f81c9b111480" providerId="ADAL" clId="{D92329EA-77D3-52B4-9BC6-E67D2BAED969}" dt="2026-08-18T09:31:53.693" v="567" actId="164"/>
          <ac:spMkLst>
            <pc:docMk/>
            <pc:sldMk cId="512057967" sldId="2147468941"/>
            <ac:spMk id="4" creationId="{A8387B7C-10B9-65D1-51C6-CF1B9550E033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5" creationId="{A64A9B77-461C-21D5-23E2-D149A80F7F79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7" creationId="{BE1C5CC8-2DC4-3AD6-5745-BDB29B8B495F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0" creationId="{0EE575C6-5838-88B4-08E9-2CD36F9E62C1}"/>
          </ac:spMkLst>
        </pc:spChg>
        <pc:spChg chg="mod">
          <ac:chgData name="Craig Shalekoff" userId="e3287485-232c-4f14-8163-f81c9b111480" providerId="ADAL" clId="{D92329EA-77D3-52B4-9BC6-E67D2BAED969}" dt="2026-08-18T09:26:02.388" v="58" actId="1076"/>
          <ac:spMkLst>
            <pc:docMk/>
            <pc:sldMk cId="512057967" sldId="2147468941"/>
            <ac:spMk id="11" creationId="{8759E367-EF37-0C00-CA72-1D32D5725CDA}"/>
          </ac:spMkLst>
        </pc:spChg>
        <pc:spChg chg="mod">
          <ac:chgData name="Craig Shalekoff" userId="e3287485-232c-4f14-8163-f81c9b111480" providerId="ADAL" clId="{D92329EA-77D3-52B4-9BC6-E67D2BAED969}" dt="2026-08-18T09:26:02.388" v="58" actId="1076"/>
          <ac:spMkLst>
            <pc:docMk/>
            <pc:sldMk cId="512057967" sldId="2147468941"/>
            <ac:spMk id="12" creationId="{F95E4516-EA3C-2AB8-6103-8E1B5473039A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3" creationId="{9A6EE58A-537C-CC5E-1ED6-C4B4F88B7D1D}"/>
          </ac:spMkLst>
        </pc:spChg>
        <pc:spChg chg="mod">
          <ac:chgData name="Craig Shalekoff" userId="e3287485-232c-4f14-8163-f81c9b111480" providerId="ADAL" clId="{D92329EA-77D3-52B4-9BC6-E67D2BAED969}" dt="2026-08-18T09:26:02.388" v="58" actId="1076"/>
          <ac:spMkLst>
            <pc:docMk/>
            <pc:sldMk cId="512057967" sldId="2147468941"/>
            <ac:spMk id="14" creationId="{E823D924-65CD-B71B-8C91-F03AD377E409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6" creationId="{1CB52DA6-9B42-BC1B-24E1-1E8D33D5D3E4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7" creationId="{862B0B4A-5948-E4D0-3AA9-8C108A800E45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8" creationId="{5B985210-6A94-9C7E-CE1D-EE969730DB30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19" creationId="{66E996DF-4369-09CC-0447-D378802DC319}"/>
          </ac:spMkLst>
        </pc:spChg>
        <pc:spChg chg="mod">
          <ac:chgData name="Craig Shalekoff" userId="e3287485-232c-4f14-8163-f81c9b111480" providerId="ADAL" clId="{D92329EA-77D3-52B4-9BC6-E67D2BAED969}" dt="2026-08-18T09:26:02.388" v="58" actId="1076"/>
          <ac:spMkLst>
            <pc:docMk/>
            <pc:sldMk cId="512057967" sldId="2147468941"/>
            <ac:spMk id="20" creationId="{461FB9D2-B03C-8FE9-9ABB-F13AE7F51BD5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24" creationId="{FC5B1D43-BF64-D104-FB21-FE57A1442883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25" creationId="{4630D7A5-1B97-DC88-5830-42FECBA50AF2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26" creationId="{783F764F-5880-C609-3B50-F701F92D318A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27" creationId="{E5A9FFCD-53F7-44DD-E0D3-D29154ED959B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28" creationId="{D12E6A5B-ADC2-A342-9436-2FBB0F73816E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30" creationId="{E8180AB9-546D-4BC5-6A9A-099DE017796F}"/>
          </ac:spMkLst>
        </pc:spChg>
        <pc:spChg chg="del">
          <ac:chgData name="Craig Shalekoff" userId="e3287485-232c-4f14-8163-f81c9b111480" providerId="ADAL" clId="{D92329EA-77D3-52B4-9BC6-E67D2BAED969}" dt="2026-08-18T09:24:19.012" v="57" actId="478"/>
          <ac:spMkLst>
            <pc:docMk/>
            <pc:sldMk cId="512057967" sldId="2147468941"/>
            <ac:spMk id="31" creationId="{DC9A661A-30F5-7313-759F-945AC877A741}"/>
          </ac:spMkLst>
        </pc:spChg>
        <pc:spChg chg="mod">
          <ac:chgData name="Craig Shalekoff" userId="e3287485-232c-4f14-8163-f81c9b111480" providerId="ADAL" clId="{D92329EA-77D3-52B4-9BC6-E67D2BAED969}" dt="2026-08-18T09:36:08.648" v="643" actId="1038"/>
          <ac:spMkLst>
            <pc:docMk/>
            <pc:sldMk cId="512057967" sldId="2147468941"/>
            <ac:spMk id="33" creationId="{98DE0AF5-1915-F7F1-D555-8AC7150A5E79}"/>
          </ac:spMkLst>
        </pc:spChg>
        <pc:spChg chg="mod">
          <ac:chgData name="Craig Shalekoff" userId="e3287485-232c-4f14-8163-f81c9b111480" providerId="ADAL" clId="{D92329EA-77D3-52B4-9BC6-E67D2BAED969}" dt="2026-08-18T09:30:12.005" v="555" actId="1076"/>
          <ac:spMkLst>
            <pc:docMk/>
            <pc:sldMk cId="512057967" sldId="2147468941"/>
            <ac:spMk id="35" creationId="{A554A3A2-0555-51D1-7CBF-A37B86F24845}"/>
          </ac:spMkLst>
        </pc:spChg>
        <pc:spChg chg="add mod">
          <ac:chgData name="Craig Shalekoff" userId="e3287485-232c-4f14-8163-f81c9b111480" providerId="ADAL" clId="{D92329EA-77D3-52B4-9BC6-E67D2BAED969}" dt="2026-08-18T09:31:53.693" v="567" actId="164"/>
          <ac:spMkLst>
            <pc:docMk/>
            <pc:sldMk cId="512057967" sldId="2147468941"/>
            <ac:spMk id="36" creationId="{80134924-95E5-8F02-A58E-6405B9F16E80}"/>
          </ac:spMkLst>
        </pc:spChg>
        <pc:spChg chg="add mod">
          <ac:chgData name="Craig Shalekoff" userId="e3287485-232c-4f14-8163-f81c9b111480" providerId="ADAL" clId="{D92329EA-77D3-52B4-9BC6-E67D2BAED969}" dt="2026-08-18T09:32:18.173" v="572" actId="164"/>
          <ac:spMkLst>
            <pc:docMk/>
            <pc:sldMk cId="512057967" sldId="2147468941"/>
            <ac:spMk id="37" creationId="{1893B2E7-42EC-28F4-54F4-C1E975A24764}"/>
          </ac:spMkLst>
        </pc:spChg>
        <pc:spChg chg="add mod">
          <ac:chgData name="Craig Shalekoff" userId="e3287485-232c-4f14-8163-f81c9b111480" providerId="ADAL" clId="{D92329EA-77D3-52B4-9BC6-E67D2BAED969}" dt="2026-08-18T09:32:18.173" v="572" actId="164"/>
          <ac:spMkLst>
            <pc:docMk/>
            <pc:sldMk cId="512057967" sldId="2147468941"/>
            <ac:spMk id="39" creationId="{12A3B001-F35A-FAB3-BFA7-18CD6C66E58A}"/>
          </ac:spMkLst>
        </pc:spChg>
        <pc:spChg chg="add mod">
          <ac:chgData name="Craig Shalekoff" userId="e3287485-232c-4f14-8163-f81c9b111480" providerId="ADAL" clId="{D92329EA-77D3-52B4-9BC6-E67D2BAED969}" dt="2026-08-18T09:32:54.607" v="576" actId="164"/>
          <ac:spMkLst>
            <pc:docMk/>
            <pc:sldMk cId="512057967" sldId="2147468941"/>
            <ac:spMk id="42" creationId="{D34A8127-5BDC-D5E9-6E5B-32EC747EF497}"/>
          </ac:spMkLst>
        </pc:spChg>
        <pc:spChg chg="add mod">
          <ac:chgData name="Craig Shalekoff" userId="e3287485-232c-4f14-8163-f81c9b111480" providerId="ADAL" clId="{D92329EA-77D3-52B4-9BC6-E67D2BAED969}" dt="2026-08-18T09:33:11.671" v="579" actId="207"/>
          <ac:spMkLst>
            <pc:docMk/>
            <pc:sldMk cId="512057967" sldId="2147468941"/>
            <ac:spMk id="44" creationId="{A193BC99-43FD-16A6-A718-8C8CE0307421}"/>
          </ac:spMkLst>
        </pc:spChg>
        <pc:spChg chg="add mod">
          <ac:chgData name="Craig Shalekoff" userId="e3287485-232c-4f14-8163-f81c9b111480" providerId="ADAL" clId="{D92329EA-77D3-52B4-9BC6-E67D2BAED969}" dt="2026-08-18T09:33:57.614" v="587" actId="164"/>
          <ac:spMkLst>
            <pc:docMk/>
            <pc:sldMk cId="512057967" sldId="2147468941"/>
            <ac:spMk id="46" creationId="{B347FC25-6279-2E28-B686-5D078FE330A6}"/>
          </ac:spMkLst>
        </pc:spChg>
        <pc:spChg chg="add mod">
          <ac:chgData name="Craig Shalekoff" userId="e3287485-232c-4f14-8163-f81c9b111480" providerId="ADAL" clId="{D92329EA-77D3-52B4-9BC6-E67D2BAED969}" dt="2026-08-18T09:33:59.952" v="588" actId="207"/>
          <ac:spMkLst>
            <pc:docMk/>
            <pc:sldMk cId="512057967" sldId="2147468941"/>
            <ac:spMk id="48" creationId="{4FD92386-1E57-B1CB-B236-A136C3035655}"/>
          </ac:spMkLst>
        </pc:spChg>
        <pc:spChg chg="add mod">
          <ac:chgData name="Craig Shalekoff" userId="e3287485-232c-4f14-8163-f81c9b111480" providerId="ADAL" clId="{D92329EA-77D3-52B4-9BC6-E67D2BAED969}" dt="2026-08-18T09:34:56.500" v="598" actId="164"/>
          <ac:spMkLst>
            <pc:docMk/>
            <pc:sldMk cId="512057967" sldId="2147468941"/>
            <ac:spMk id="52" creationId="{8557FE4C-D547-6442-4591-9602914861B0}"/>
          </ac:spMkLst>
        </pc:spChg>
        <pc:spChg chg="add mod">
          <ac:chgData name="Craig Shalekoff" userId="e3287485-232c-4f14-8163-f81c9b111480" providerId="ADAL" clId="{D92329EA-77D3-52B4-9BC6-E67D2BAED969}" dt="2026-08-18T09:35:24.190" v="629" actId="1036"/>
          <ac:spMkLst>
            <pc:docMk/>
            <pc:sldMk cId="512057967" sldId="2147468941"/>
            <ac:spMk id="54" creationId="{D8FC0B20-104B-BD94-3DA7-B9019CB02F1D}"/>
          </ac:spMkLst>
        </pc:spChg>
        <pc:spChg chg="add mod">
          <ac:chgData name="Craig Shalekoff" userId="e3287485-232c-4f14-8163-f81c9b111480" providerId="ADAL" clId="{D92329EA-77D3-52B4-9BC6-E67D2BAED969}" dt="2026-08-18T09:35:49.301" v="632" actId="164"/>
          <ac:spMkLst>
            <pc:docMk/>
            <pc:sldMk cId="512057967" sldId="2147468941"/>
            <ac:spMk id="56" creationId="{EB237936-5BF1-F882-63B3-738676D7417F}"/>
          </ac:spMkLst>
        </pc:spChg>
        <pc:spChg chg="add mod">
          <ac:chgData name="Craig Shalekoff" userId="e3287485-232c-4f14-8163-f81c9b111480" providerId="ADAL" clId="{D92329EA-77D3-52B4-9BC6-E67D2BAED969}" dt="2026-08-18T09:35:51.830" v="633" actId="207"/>
          <ac:spMkLst>
            <pc:docMk/>
            <pc:sldMk cId="512057967" sldId="2147468941"/>
            <ac:spMk id="58" creationId="{B18D4DF9-53EA-DD70-826D-A6EC42C067DA}"/>
          </ac:spMkLst>
        </pc:spChg>
        <pc:grpChg chg="add mod">
          <ac:chgData name="Craig Shalekoff" userId="e3287485-232c-4f14-8163-f81c9b111480" providerId="ADAL" clId="{D92329EA-77D3-52B4-9BC6-E67D2BAED969}" dt="2026-08-18T09:34:26.786" v="593" actId="1076"/>
          <ac:grpSpMkLst>
            <pc:docMk/>
            <pc:sldMk cId="512057967" sldId="2147468941"/>
            <ac:grpSpMk id="40" creationId="{EC48C44E-45EC-C168-7A04-128CE845CA6A}"/>
          </ac:grpSpMkLst>
        </pc:grpChg>
        <pc:grpChg chg="add mod">
          <ac:chgData name="Craig Shalekoff" userId="e3287485-232c-4f14-8163-f81c9b111480" providerId="ADAL" clId="{D92329EA-77D3-52B4-9BC6-E67D2BAED969}" dt="2026-08-18T09:34:18.902" v="591" actId="1076"/>
          <ac:grpSpMkLst>
            <pc:docMk/>
            <pc:sldMk cId="512057967" sldId="2147468941"/>
            <ac:grpSpMk id="41" creationId="{09B735EB-BBEA-4EE5-C9AC-6A58488E1733}"/>
          </ac:grpSpMkLst>
        </pc:grpChg>
        <pc:grpChg chg="add mod">
          <ac:chgData name="Craig Shalekoff" userId="e3287485-232c-4f14-8163-f81c9b111480" providerId="ADAL" clId="{D92329EA-77D3-52B4-9BC6-E67D2BAED969}" dt="2026-08-18T09:34:30.816" v="594" actId="1076"/>
          <ac:grpSpMkLst>
            <pc:docMk/>
            <pc:sldMk cId="512057967" sldId="2147468941"/>
            <ac:grpSpMk id="45" creationId="{5C1A084B-1AF5-5918-177E-9652CD45EEDE}"/>
          </ac:grpSpMkLst>
        </pc:grpChg>
        <pc:grpChg chg="add mod">
          <ac:chgData name="Craig Shalekoff" userId="e3287485-232c-4f14-8163-f81c9b111480" providerId="ADAL" clId="{D92329EA-77D3-52B4-9BC6-E67D2BAED969}" dt="2026-08-18T09:34:34.198" v="595" actId="1076"/>
          <ac:grpSpMkLst>
            <pc:docMk/>
            <pc:sldMk cId="512057967" sldId="2147468941"/>
            <ac:grpSpMk id="49" creationId="{997F1E6F-BBB1-178D-C80B-2757CB125487}"/>
          </ac:grpSpMkLst>
        </pc:grpChg>
        <pc:grpChg chg="add mod">
          <ac:chgData name="Craig Shalekoff" userId="e3287485-232c-4f14-8163-f81c9b111480" providerId="ADAL" clId="{D92329EA-77D3-52B4-9BC6-E67D2BAED969}" dt="2026-08-18T09:35:17.315" v="613" actId="1035"/>
          <ac:grpSpMkLst>
            <pc:docMk/>
            <pc:sldMk cId="512057967" sldId="2147468941"/>
            <ac:grpSpMk id="55" creationId="{E4DFA86A-553F-F6DD-1C80-1C52CCCF3863}"/>
          </ac:grpSpMkLst>
        </pc:grpChg>
        <pc:grpChg chg="add mod">
          <ac:chgData name="Craig Shalekoff" userId="e3287485-232c-4f14-8163-f81c9b111480" providerId="ADAL" clId="{D92329EA-77D3-52B4-9BC6-E67D2BAED969}" dt="2026-08-18T09:35:49.301" v="632" actId="164"/>
          <ac:grpSpMkLst>
            <pc:docMk/>
            <pc:sldMk cId="512057967" sldId="2147468941"/>
            <ac:grpSpMk id="59" creationId="{A8B0A606-27DE-B02A-73B3-DF72503C3322}"/>
          </ac:grpSpMkLst>
        </pc:grpChg>
        <pc:picChg chg="del">
          <ac:chgData name="Craig Shalekoff" userId="e3287485-232c-4f14-8163-f81c9b111480" providerId="ADAL" clId="{D92329EA-77D3-52B4-9BC6-E67D2BAED969}" dt="2026-08-18T09:24:19.012" v="57" actId="478"/>
          <ac:picMkLst>
            <pc:docMk/>
            <pc:sldMk cId="512057967" sldId="2147468941"/>
            <ac:picMk id="29" creationId="{0952AA0A-F48F-B02D-925C-ABED1BF62B91}"/>
          </ac:picMkLst>
        </pc:picChg>
        <pc:picChg chg="add mod">
          <ac:chgData name="Craig Shalekoff" userId="e3287485-232c-4f14-8163-f81c9b111480" providerId="ADAL" clId="{D92329EA-77D3-52B4-9BC6-E67D2BAED969}" dt="2026-08-18T09:31:53.693" v="567" actId="164"/>
          <ac:picMkLst>
            <pc:docMk/>
            <pc:sldMk cId="512057967" sldId="2147468941"/>
            <ac:picMk id="34" creationId="{4DF603ED-6F34-312D-0D17-0589F44DB27C}"/>
          </ac:picMkLst>
        </pc:picChg>
        <pc:picChg chg="add mod">
          <ac:chgData name="Craig Shalekoff" userId="e3287485-232c-4f14-8163-f81c9b111480" providerId="ADAL" clId="{D92329EA-77D3-52B4-9BC6-E67D2BAED969}" dt="2026-08-18T09:32:18.173" v="572" actId="164"/>
          <ac:picMkLst>
            <pc:docMk/>
            <pc:sldMk cId="512057967" sldId="2147468941"/>
            <ac:picMk id="38" creationId="{7F14B491-E5E1-C9E7-7784-8A1AFC879C2A}"/>
          </ac:picMkLst>
        </pc:picChg>
        <pc:picChg chg="add mod">
          <ac:chgData name="Craig Shalekoff" userId="e3287485-232c-4f14-8163-f81c9b111480" providerId="ADAL" clId="{D92329EA-77D3-52B4-9BC6-E67D2BAED969}" dt="2026-08-18T09:32:54.607" v="576" actId="164"/>
          <ac:picMkLst>
            <pc:docMk/>
            <pc:sldMk cId="512057967" sldId="2147468941"/>
            <ac:picMk id="43" creationId="{F6E01500-3E6E-2CB9-BCC2-79641F745F2F}"/>
          </ac:picMkLst>
        </pc:picChg>
        <pc:picChg chg="add mod">
          <ac:chgData name="Craig Shalekoff" userId="e3287485-232c-4f14-8163-f81c9b111480" providerId="ADAL" clId="{D92329EA-77D3-52B4-9BC6-E67D2BAED969}" dt="2026-08-18T09:33:57.614" v="587" actId="164"/>
          <ac:picMkLst>
            <pc:docMk/>
            <pc:sldMk cId="512057967" sldId="2147468941"/>
            <ac:picMk id="47" creationId="{F14402F0-BDB2-79D5-8F73-47919BA63EF4}"/>
          </ac:picMkLst>
        </pc:picChg>
        <pc:picChg chg="add mod">
          <ac:chgData name="Craig Shalekoff" userId="e3287485-232c-4f14-8163-f81c9b111480" providerId="ADAL" clId="{D92329EA-77D3-52B4-9BC6-E67D2BAED969}" dt="2026-08-18T09:34:56.500" v="598" actId="164"/>
          <ac:picMkLst>
            <pc:docMk/>
            <pc:sldMk cId="512057967" sldId="2147468941"/>
            <ac:picMk id="53" creationId="{9E8FD55C-96F1-A4C6-D783-7089DD987B51}"/>
          </ac:picMkLst>
        </pc:picChg>
        <pc:picChg chg="add mod">
          <ac:chgData name="Craig Shalekoff" userId="e3287485-232c-4f14-8163-f81c9b111480" providerId="ADAL" clId="{D92329EA-77D3-52B4-9BC6-E67D2BAED969}" dt="2026-08-18T09:35:49.301" v="632" actId="164"/>
          <ac:picMkLst>
            <pc:docMk/>
            <pc:sldMk cId="512057967" sldId="2147468941"/>
            <ac:picMk id="57" creationId="{C4D0C4EE-3D66-8304-E6E3-01C2191B7A96}"/>
          </ac:picMkLst>
        </pc:picChg>
        <pc:cxnChg chg="add del">
          <ac:chgData name="Craig Shalekoff" userId="e3287485-232c-4f14-8163-f81c9b111480" providerId="ADAL" clId="{D92329EA-77D3-52B4-9BC6-E67D2BAED969}" dt="2026-08-18T09:35:57.075" v="634" actId="478"/>
          <ac:cxnSpMkLst>
            <pc:docMk/>
            <pc:sldMk cId="512057967" sldId="2147468941"/>
            <ac:cxnSpMk id="51" creationId="{1E024370-E57A-F122-D013-B4646DC5079A}"/>
          </ac:cxnSpMkLst>
        </pc:cxnChg>
      </pc:sldChg>
      <pc:sldChg chg="modSp add del mod">
        <pc:chgData name="Craig Shalekoff" userId="e3287485-232c-4f14-8163-f81c9b111480" providerId="ADAL" clId="{D92329EA-77D3-52B4-9BC6-E67D2BAED969}" dt="2026-08-18T09:41:52.739" v="784"/>
        <pc:sldMkLst>
          <pc:docMk/>
          <pc:sldMk cId="335667056" sldId="2147468942"/>
        </pc:sldMkLst>
        <pc:spChg chg="mod">
          <ac:chgData name="Craig Shalekoff" userId="e3287485-232c-4f14-8163-f81c9b111480" providerId="ADAL" clId="{D92329EA-77D3-52B4-9BC6-E67D2BAED969}" dt="2026-08-18T09:40:55.049" v="781"/>
          <ac:spMkLst>
            <pc:docMk/>
            <pc:sldMk cId="335667056" sldId="2147468942"/>
            <ac:spMk id="3" creationId="{F399ECA4-14BA-9B75-EF43-975169B43C71}"/>
          </ac:spMkLst>
        </pc:spChg>
        <pc:grpChg chg="mod">
          <ac:chgData name="Craig Shalekoff" userId="e3287485-232c-4f14-8163-f81c9b111480" providerId="ADAL" clId="{D92329EA-77D3-52B4-9BC6-E67D2BAED969}" dt="2026-08-18T09:40:55.049" v="782"/>
          <ac:grpSpMkLst>
            <pc:docMk/>
            <pc:sldMk cId="335667056" sldId="2147468942"/>
            <ac:grpSpMk id="41" creationId="{09B735EB-BBEA-4EE5-C9AC-6A58488E1733}"/>
          </ac:grpSpMkLst>
        </pc:grpChg>
      </pc:sldChg>
      <pc:sldChg chg="add del setBg">
        <pc:chgData name="Craig Shalekoff" userId="e3287485-232c-4f14-8163-f81c9b111480" providerId="ADAL" clId="{D92329EA-77D3-52B4-9BC6-E67D2BAED969}" dt="2026-08-18T09:30:06.692" v="553"/>
        <pc:sldMkLst>
          <pc:docMk/>
          <pc:sldMk cId="615710848" sldId="2147468942"/>
        </pc:sldMkLst>
      </pc:sldChg>
      <pc:sldChg chg="delSp add del mod setBg">
        <pc:chgData name="Craig Shalekoff" userId="e3287485-232c-4f14-8163-f81c9b111480" providerId="ADAL" clId="{D92329EA-77D3-52B4-9BC6-E67D2BAED969}" dt="2026-08-18T09:33:18.196" v="580" actId="2696"/>
        <pc:sldMkLst>
          <pc:docMk/>
          <pc:sldMk cId="3037105233" sldId="2147468942"/>
        </pc:sldMkLst>
        <pc:spChg chg="del">
          <ac:chgData name="Craig Shalekoff" userId="e3287485-232c-4f14-8163-f81c9b111480" providerId="ADAL" clId="{D92329EA-77D3-52B4-9BC6-E67D2BAED969}" dt="2026-08-18T09:31:14.697" v="564" actId="478"/>
          <ac:spMkLst>
            <pc:docMk/>
            <pc:sldMk cId="3037105233" sldId="2147468942"/>
            <ac:spMk id="16" creationId="{1AD02E4A-A8F5-2B2E-3819-ACAE49B9D73D}"/>
          </ac:spMkLst>
        </pc:spChg>
      </pc:sldChg>
      <pc:sldChg chg="addSp modSp add mod">
        <pc:chgData name="Craig Shalekoff" userId="e3287485-232c-4f14-8163-f81c9b111480" providerId="ADAL" clId="{D92329EA-77D3-52B4-9BC6-E67D2BAED969}" dt="2026-08-18T10:39:47.975" v="1000" actId="20577"/>
        <pc:sldMkLst>
          <pc:docMk/>
          <pc:sldMk cId="2570683187" sldId="2147468943"/>
        </pc:sldMkLst>
        <pc:spChg chg="mod">
          <ac:chgData name="Craig Shalekoff" userId="e3287485-232c-4f14-8163-f81c9b111480" providerId="ADAL" clId="{D92329EA-77D3-52B4-9BC6-E67D2BAED969}" dt="2026-08-18T10:39:36.566" v="986" actId="20577"/>
          <ac:spMkLst>
            <pc:docMk/>
            <pc:sldMk cId="2570683187" sldId="2147468943"/>
            <ac:spMk id="3" creationId="{F399ECA4-14BA-9B75-EF43-975169B43C71}"/>
          </ac:spMkLst>
        </pc:spChg>
        <pc:spChg chg="add mod">
          <ac:chgData name="Craig Shalekoff" userId="e3287485-232c-4f14-8163-f81c9b111480" providerId="ADAL" clId="{D92329EA-77D3-52B4-9BC6-E67D2BAED969}" dt="2026-08-18T10:37:24.571" v="899" actId="1076"/>
          <ac:spMkLst>
            <pc:docMk/>
            <pc:sldMk cId="2570683187" sldId="2147468943"/>
            <ac:spMk id="25" creationId="{EB793083-90B0-A1E1-508B-E140E6BFF85B}"/>
          </ac:spMkLst>
        </pc:spChg>
        <pc:spChg chg="add mod">
          <ac:chgData name="Craig Shalekoff" userId="e3287485-232c-4f14-8163-f81c9b111480" providerId="ADAL" clId="{D92329EA-77D3-52B4-9BC6-E67D2BAED969}" dt="2026-08-18T10:37:24.571" v="899" actId="1076"/>
          <ac:spMkLst>
            <pc:docMk/>
            <pc:sldMk cId="2570683187" sldId="2147468943"/>
            <ac:spMk id="26" creationId="{0C1EFB78-F939-50D9-B8EC-38EC338AB396}"/>
          </ac:spMkLst>
        </pc:spChg>
        <pc:spChg chg="add mod">
          <ac:chgData name="Craig Shalekoff" userId="e3287485-232c-4f14-8163-f81c9b111480" providerId="ADAL" clId="{D92329EA-77D3-52B4-9BC6-E67D2BAED969}" dt="2026-08-18T10:37:24.571" v="899" actId="1076"/>
          <ac:spMkLst>
            <pc:docMk/>
            <pc:sldMk cId="2570683187" sldId="2147468943"/>
            <ac:spMk id="27" creationId="{0FE745E3-215F-D770-4FC7-E7569771AFE8}"/>
          </ac:spMkLst>
        </pc:spChg>
        <pc:spChg chg="add mod">
          <ac:chgData name="Craig Shalekoff" userId="e3287485-232c-4f14-8163-f81c9b111480" providerId="ADAL" clId="{D92329EA-77D3-52B4-9BC6-E67D2BAED969}" dt="2026-08-18T10:39:47.975" v="1000" actId="20577"/>
          <ac:spMkLst>
            <pc:docMk/>
            <pc:sldMk cId="2570683187" sldId="2147468943"/>
            <ac:spMk id="28" creationId="{414023A5-6329-1BB0-4260-4ED7378C0E56}"/>
          </ac:spMkLst>
        </pc:spChg>
        <pc:spChg chg="mod">
          <ac:chgData name="Craig Shalekoff" userId="e3287485-232c-4f14-8163-f81c9b111480" providerId="ADAL" clId="{D92329EA-77D3-52B4-9BC6-E67D2BAED969}" dt="2026-08-18T10:37:17.968" v="898" actId="14100"/>
          <ac:spMkLst>
            <pc:docMk/>
            <pc:sldMk cId="2570683187" sldId="2147468943"/>
            <ac:spMk id="33" creationId="{98DE0AF5-1915-F7F1-D555-8AC7150A5E79}"/>
          </ac:spMkLst>
        </pc:spChg>
        <pc:spChg chg="mod">
          <ac:chgData name="Craig Shalekoff" userId="e3287485-232c-4f14-8163-f81c9b111480" providerId="ADAL" clId="{D92329EA-77D3-52B4-9BC6-E67D2BAED969}" dt="2026-08-18T09:48:00.113" v="878" actId="120"/>
          <ac:spMkLst>
            <pc:docMk/>
            <pc:sldMk cId="2570683187" sldId="2147468943"/>
            <ac:spMk id="35" creationId="{A554A3A2-0555-51D1-7CBF-A37B86F24845}"/>
          </ac:spMkLst>
        </pc:s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40" creationId="{EC48C44E-45EC-C168-7A04-128CE845CA6A}"/>
          </ac:grpSpMkLst>
        </pc:gr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41" creationId="{09B735EB-BBEA-4EE5-C9AC-6A58488E1733}"/>
          </ac:grpSpMkLst>
        </pc:gr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45" creationId="{5C1A084B-1AF5-5918-177E-9652CD45EEDE}"/>
          </ac:grpSpMkLst>
        </pc:gr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49" creationId="{997F1E6F-BBB1-178D-C80B-2757CB125487}"/>
          </ac:grpSpMkLst>
        </pc:gr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55" creationId="{E4DFA86A-553F-F6DD-1C80-1C52CCCF3863}"/>
          </ac:grpSpMkLst>
        </pc:grpChg>
        <pc:grpChg chg="mod">
          <ac:chgData name="Craig Shalekoff" userId="e3287485-232c-4f14-8163-f81c9b111480" providerId="ADAL" clId="{D92329EA-77D3-52B4-9BC6-E67D2BAED969}" dt="2026-08-18T09:46:56.289" v="859" actId="1035"/>
          <ac:grpSpMkLst>
            <pc:docMk/>
            <pc:sldMk cId="2570683187" sldId="2147468943"/>
            <ac:grpSpMk id="59" creationId="{A8B0A606-27DE-B02A-73B3-DF72503C3322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 millions)</c:v>
                </c:pt>
              </c:strCache>
            </c:strRef>
          </c:tx>
          <c:spPr>
            <a:solidFill>
              <a:srgbClr val="CAEA70"/>
            </a:solidFill>
            <a:effectLst/>
          </c:spPr>
          <c:invertIfNegative val="0"/>
          <c:dLbls>
            <c:numFmt formatCode="&quot;R&quot;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5F7F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</c:v>
                </c:pt>
                <c:pt idx="1">
                  <c:v>180</c:v>
                </c:pt>
                <c:pt idx="2">
                  <c:v>600</c:v>
                </c:pt>
                <c:pt idx="3">
                  <c:v>900</c:v>
                </c:pt>
                <c:pt idx="4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55-7C43-A023-A9C04ECF871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@ 18% (R millions)</c:v>
                </c:pt>
              </c:strCache>
            </c:strRef>
          </c:tx>
          <c:spPr>
            <a:solidFill>
              <a:srgbClr val="71E56E"/>
            </a:solidFill>
            <a:effectLst/>
          </c:spPr>
          <c:invertIfNegative val="0"/>
          <c:dLbls>
            <c:numFmt formatCode="&quot;R&quot;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5F7F9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  <c:pt idx="3">
                  <c:v>Year 4</c:v>
                </c:pt>
                <c:pt idx="4">
                  <c:v>Year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10.8</c:v>
                </c:pt>
                <c:pt idx="1">
                  <c:v>32.4</c:v>
                </c:pt>
                <c:pt idx="2">
                  <c:v>108</c:v>
                </c:pt>
                <c:pt idx="3">
                  <c:v>162</c:v>
                </c:pt>
                <c:pt idx="4">
                  <c:v>216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55-7C43-A023-A9C04ECF87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C4A6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5F7F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C3A52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9FB2C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C3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23D45-65DC-9145-9FC6-39B4D4ED1F08}" type="datetimeFigureOut">
              <a:rPr lang="en-GB" smtClean="0"/>
              <a:t>18/08/2026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72AAA-7150-ED4F-BF4B-6A6525111A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29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54B1-270C-7AB7-687F-B9F2E1C4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F5426D-6DC5-04AB-DAA2-B46A2D85E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9D2B0E-5E85-FB2C-C414-BC31AA854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09CFA-1583-1541-0736-128F74C13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51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72AAA-7150-ED4F-BF4B-6A6525111A8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6961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0A4C-D761-7647-99FC-DD17129E6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CA9AB-2137-7D41-A5B9-17C8881CB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B53E-86B1-5948-AE89-3ECD8FD8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4F89A-AAA5-3043-9AAE-3ABA8636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9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2616-390A-2B40-9426-28300D4B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DA43-3DDF-3A42-B7BB-F805EA44F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  <a:lvl2pPr>
              <a:defRPr b="0" i="0">
                <a:latin typeface="Avenir Medium" panose="02000503020000020003" pitchFamily="2" charset="0"/>
              </a:defRPr>
            </a:lvl2pPr>
            <a:lvl3pPr>
              <a:defRPr b="0" i="0">
                <a:latin typeface="Avenir Medium" panose="02000503020000020003" pitchFamily="2" charset="0"/>
              </a:defRPr>
            </a:lvl3pPr>
            <a:lvl4pPr>
              <a:defRPr b="0" i="0">
                <a:latin typeface="Avenir Medium" panose="02000503020000020003" pitchFamily="2" charset="0"/>
              </a:defRPr>
            </a:lvl4pPr>
            <a:lvl5pPr>
              <a:defRPr b="0" i="0">
                <a:latin typeface="Avenir Medium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9CB5C-C630-C040-B1DB-B509E2F5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fld id="{6B66A56A-E053-D143-AEFE-292BF06416FD}" type="datetimeFigureOut">
              <a:rPr lang="en-US" smtClean="0"/>
              <a:pPr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A93B9-034F-C64C-BAB8-91282611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D479-EBD8-9845-B72E-3F0C2C31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fld id="{DFEBD0EF-78A8-744E-9608-5FD3B3003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5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EF89-B327-5848-8D07-263DE222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8BE24-9875-534D-B29B-BABF536FE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020D-5154-A140-B1C2-9E4BE9DB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DC0A-C7B7-034D-85F1-2BDB19DC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07AB6-9CB0-F442-A3ED-E6C94C21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8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C5A8-9FA2-9849-A292-11DAEBE4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60D8-2428-B445-BC83-20F4CC7C7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700AF-45F2-9F46-BD6D-F44DA3177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AC472-59A7-7D4E-B80E-A8D2AA05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102A-8DE5-9A47-B554-5B435B1A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777D6-D754-1042-BC2A-C6B12935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7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4698-3927-FC48-BF40-F228E195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25DC0-C630-E441-B4B2-96A7946E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503C9-C614-ED4D-A724-B02C0A4EE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9305B-6FC4-7649-AD83-58C35C4D3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F82B5-3C09-E443-B861-1405E0A4F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E5B3A-475D-0741-85F6-F6BECB14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895A3-40BA-6B48-8DAC-12321DEE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A6879-3B25-4343-9C4E-4EBAAA55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C698-B8F8-464F-99B4-FD2F6605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BDF8E-631D-774E-B41B-F5FD5DBC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7320B-E1D0-3A44-9264-0C837F81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0AE19-2C7B-EE42-AA58-48CDDA59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1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F6C73-2BA7-DD47-8FFC-4F93A800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4F0F-6CB4-B94E-B05B-A61634D6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B722A-C8E9-6747-85F0-6D4C8A86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B841-378D-3F44-9EE1-18933386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DFFE-DD03-F240-A947-A44924D0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8F046-81E6-0C49-811E-5AF50855E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4BCA4-0C08-6048-B440-15ED6E7E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03472-D744-7E43-8996-5DB0156B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8482C-08EE-0D46-9246-D7C03912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4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AB23-9095-5E42-A88B-75A79B54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62747-AC67-D14E-B00A-6F0E894EF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24E8B-1E80-1D47-BA50-D2CE3F0BF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87E5-8349-214D-B0B9-0C6749D9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88FF5-6A0C-7646-961E-59E33B69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77B8C-7108-2A48-B3A7-6CEF8696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1E86-1625-0349-92CC-7925B19C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643F4-8436-5742-BB0B-ACE29C855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5A8D2-5577-7647-9447-586F6521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3C63-F07A-EC47-B340-3049BDBE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F5DB1-7277-164D-9F55-E837DCE6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59027-5728-A947-A6E7-982190212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7BE4-4728-8F45-8C99-F53F42B0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A9F8D-F859-444A-8D09-FA5C547E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3F4B-3ED6-5D47-B3BA-EA8102BA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D022-3162-B14B-9445-2246A4D7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21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5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5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4741-759E-664C-BCC6-043A406F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51EC3-9208-124F-A9CA-2EB0BBDE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iret One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png"/><Relationship Id="rId11" Type="http://schemas.openxmlformats.org/officeDocument/2006/relationships/image" Target="../media/image22.png"/><Relationship Id="rId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25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C6D7EE6-5F72-F743-2BFD-7454F446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5146"/>
            <a:ext cx="12192001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514BB99-39CF-BE0F-FE36-7EFA90ABD134}"/>
              </a:ext>
            </a:extLst>
          </p:cNvPr>
          <p:cNvSpPr/>
          <p:nvPr/>
        </p:nvSpPr>
        <p:spPr>
          <a:xfrm>
            <a:off x="0" y="-5012"/>
            <a:ext cx="12192000" cy="6863011"/>
          </a:xfrm>
          <a:prstGeom prst="rect">
            <a:avLst/>
          </a:prstGeom>
          <a:solidFill>
            <a:srgbClr val="0C1926">
              <a:alpha val="667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8802072" y="-1689067"/>
            <a:ext cx="5486400" cy="5486400"/>
          </a:xfrm>
          <a:prstGeom prst="ellipse">
            <a:avLst/>
          </a:prstGeom>
          <a:solidFill>
            <a:srgbClr val="CAEA70">
              <a:alpha val="6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assets/medscheme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01" y="780651"/>
            <a:ext cx="3198089" cy="9668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Sales Capability Proposal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30352" y="260604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Medscheme</a:t>
            </a:r>
            <a:endParaRPr lang="en-US" sz="6400" dirty="0"/>
          </a:p>
        </p:txBody>
      </p:sp>
      <p:sp>
        <p:nvSpPr>
          <p:cNvPr id="7" name="Text 3"/>
          <p:cNvSpPr/>
          <p:nvPr/>
        </p:nvSpPr>
        <p:spPr>
          <a:xfrm>
            <a:off x="548640" y="370332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Medscheme International</a:t>
            </a:r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FBBAEA-BE36-E9F1-CB43-4CF35F104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48640" y="5525239"/>
            <a:ext cx="2905845" cy="552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4152F9F-F509-F547-1E59-E6AD2518DE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010" y="780651"/>
            <a:ext cx="4640947" cy="9668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39" y="1554480"/>
            <a:ext cx="10239103" cy="4160520"/>
          </a:xfrm>
          <a:prstGeom prst="roundRect">
            <a:avLst>
              <a:gd name="adj" fmla="val 1538"/>
            </a:avLst>
          </a:prstGeom>
          <a:solidFill>
            <a:srgbClr val="1C3A52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810512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53719" y="194127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59" y="2423160"/>
            <a:ext cx="9866811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has been a top-2 global BPO destination for five years, with the UK's top 15 BPO firms already resident and US demand now accelerating.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is the fastest-growing but least-served vertical: US payers are offshoring member support at scale — Humana alone moved 2,000 agents to Cape Town via EXL and TTEC.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South African BPOs can show real healthcare administration, regulatory or compliance capability — Trilogy included, on its own.</a:t>
            </a:r>
            <a:endParaRPr lang="en-US" sz="16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Medscheme has that healthcare capability but is not a known brand in the UK/US and has limited sales &amp; marketing reach to capture this demand alone.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COST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cost benchmark: US &amp; UK vs. South Africa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691640"/>
          <a:ext cx="11091672" cy="265176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Location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In-house (fully loaded)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Outsourced (fully loaded)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Hourly benchmark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 (onshore)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FB2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$55,000 – $75,000 / yr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FB2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onshore rate applies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AE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 – $45 /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 (onshore)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FB2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£19,300 – £25,200 / yr base salary*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FB2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onshore rate applies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AE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£15 – £25 / 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F7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Africa (nearshore/offshore delivery)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9FB2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 — delivery market, not buyer market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AE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$24,000 – $37,000 / yr equivalent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AEA7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 – $18 / hr  (£8 – £15 / hr)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*UK base salary range: PayScale 2026 (£19,261) and Indeed UK 2026 (£24,420); on-costs (recruitment, pension, equipment) add an estimated £5–£7k/yr per contact-centres.com / Expolink modelling.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46542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figures: Call Force Global, “In-House vs Outsourced Call Center” and “Call Center Outsourcing Cost” guides (BLS OEW SOC 43-4051 benchmark). UK/SA hourly range: FlyFone, “BPO Market Trends UK”.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1C3A52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822960" y="5276088"/>
            <a:ext cx="548640" cy="54864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5606" y="541873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5184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Directionally, South African delivery runs at roughly 40–60% of fully-loaded UK/US onshore cost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COST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revenue potential &amp; timeline to realisation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INDICATIVE REVENUES AT THIS STAGE ONLY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49808" y="16824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TARGET (YR 5)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192024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seats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235915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the discussions with Medscheme.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15968" y="1572768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17136" y="16824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SEAT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17136" y="192024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R50,000 / mth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17136" y="235915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billable seat rate (R600,000 / seat / year).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083296" y="1572768"/>
            <a:ext cx="3566160" cy="1325880"/>
          </a:xfrm>
          <a:prstGeom prst="roundRect">
            <a:avLst>
              <a:gd name="adj" fmla="val 4828"/>
            </a:avLst>
          </a:prstGeom>
          <a:solidFill>
            <a:srgbClr val="1C3A52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8284464" y="1682496"/>
            <a:ext cx="3163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 RUN-RATE REVENUE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84464" y="1920240"/>
            <a:ext cx="3163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R1.2bn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284464" y="235915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seats × R600,000/seat/year, once fully ramped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3264408"/>
            <a:ext cx="7315200" cy="2331720"/>
          </a:xfrm>
          <a:prstGeom prst="roundRect">
            <a:avLst>
              <a:gd name="adj" fmla="val 2745"/>
            </a:avLst>
          </a:prstGeom>
          <a:solidFill>
            <a:srgbClr val="1C3A52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34015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run-rate revenue &amp; EBITDA, ramping to the 2,000-seat target by Year 5</a:t>
            </a:r>
            <a:endParaRPr lang="en-US" sz="115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685800" y="3721608"/>
          <a:ext cx="7040880" cy="164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8092440" y="3264408"/>
            <a:ext cx="3364992" cy="2331720"/>
          </a:xfrm>
          <a:prstGeom prst="roundRect">
            <a:avLst>
              <a:gd name="adj" fmla="val 2745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321040" y="3447288"/>
            <a:ext cx="411480" cy="41148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428025" y="3554273"/>
            <a:ext cx="197510" cy="19751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69680" y="34655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ramp, explained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8321040" y="388620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Seats: 100 (Yr1) → 300 → 1,000 → 1,500 → 2,000 (Yr5).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seats × R600,000/seat/year. (R50,000/month), indicative billable seat rate.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shown as 18% of revenue — which is industry standard.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6" name="Shape 22"/>
          <p:cNvSpPr/>
          <p:nvPr/>
        </p:nvSpPr>
        <p:spPr>
          <a:xfrm>
            <a:off x="548640" y="5779008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3"/>
          <p:cNvSpPr/>
          <p:nvPr/>
        </p:nvSpPr>
        <p:spPr>
          <a:xfrm>
            <a:off x="822960" y="5980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1: 100 seats  —  </a:t>
            </a: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R60m run-rate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4480560" y="5980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3: 1,000 seats  —  </a:t>
            </a: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R600m run-rate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138160" y="59801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5: 2,000 seats  —  </a:t>
            </a:r>
            <a:r>
              <a:rPr lang="en-US" sz="12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R1.2bn run-rate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MARKET SNAPSHOT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 and UK healthcare outsourcing market, in context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53719" y="198699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$417.7B → $694.4B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healthcare BPO market, 2025 → 2030 (10.7% CAGR); North America holds 51.4% share (2024)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822960" y="3474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MarketsandMarkets, “Healthcare BPO Market Report 2025–2030”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name="adj" fmla="val 2979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6537960" y="1856232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6668719" y="198699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37960" y="24688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£220m → £1.7bn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37960" y="29260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NHS trust spend on independent-sector providers, 2012–13 → 2020–21 — a 659% rise in outsourced healthcare delivery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537960" y="347472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British Medical Association, “NHS outsourcing” analysis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548640" y="4023360"/>
            <a:ext cx="11091672" cy="1600200"/>
          </a:xfrm>
          <a:prstGeom prst="roundRect">
            <a:avLst>
              <a:gd name="adj" fmla="val 4000"/>
            </a:avLst>
          </a:prstGeom>
          <a:solidFill>
            <a:srgbClr val="1C3A52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5"/>
          <p:cNvSpPr/>
          <p:nvPr/>
        </p:nvSpPr>
        <p:spPr>
          <a:xfrm>
            <a:off x="868680" y="4343400"/>
            <a:ext cx="777240" cy="77724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70762" y="4545482"/>
            <a:ext cx="373075" cy="3730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011680" y="4251960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68%+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3794760" y="422452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US healthcare providers already outsource at least one member communication function — demonstrating a mature propensity to outsource,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25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administration (Medscheme's core strength) is following the same path.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868680" y="53218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HIMSS data, as cited by NeoWork / Worldwide Call Center healthcare outsourcing industry guides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5" name="Text 20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KEY PARTNERSHIPS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at the table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114800"/>
          </a:xfrm>
          <a:prstGeom prst="roundRect">
            <a:avLst>
              <a:gd name="adj" fmla="val 1818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5" name="Image 0" descr="assets/medschem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56232"/>
            <a:ext cx="1737360" cy="5212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4963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BPO / GBS specialist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22960" y="2862072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healthcare payer BPO/GBS capability, already positioned for international offshoring business from the UK and US.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regulatory compliance and back-office administration experience in health plan/scheme management.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334256" y="1600200"/>
            <a:ext cx="3520440" cy="4114800"/>
          </a:xfrm>
          <a:prstGeom prst="roundRect">
            <a:avLst>
              <a:gd name="adj" fmla="val 1818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608576" y="249631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CX &amp; UK/US market access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608576" y="2862072"/>
            <a:ext cx="29718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years' customer service BPO experience; 30+ contact centres built and managed for international clients.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sales &amp; marketing network across the UK and US, plus digital/AI-enabled CX automation capability.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520440" cy="4114800"/>
          </a:xfrm>
          <a:prstGeom prst="roundRect">
            <a:avLst>
              <a:gd name="adj" fmla="val 1818"/>
            </a:avLst>
          </a:prstGeom>
          <a:solidFill>
            <a:srgbClr val="1C3A52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9"/>
          <p:cNvSpPr/>
          <p:nvPr/>
        </p:nvSpPr>
        <p:spPr>
          <a:xfrm>
            <a:off x="8394192" y="18745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Point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8394192" y="2258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 advisory &amp; vendor selection (p3cx.com)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8394192" y="2624328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years of CX/BPO experience; 300+ deployments; founded 3 BPOs, integrated 27 contact </a:t>
            </a:r>
            <a:r>
              <a:rPr lang="en-US" sz="1100" dirty="0" err="1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</a:t>
            </a: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Silver Stevie® Award winner for Clinical Process Orchestration — closing care gaps and re-engaging hard-to-reach patients.</a:t>
            </a:r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10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inclusion: Virtual PCP network, AI patient SMS, clinical outreach, and SDOH intelligence to reach underserved populations.</a:t>
            </a:r>
          </a:p>
        </p:txBody>
      </p:sp>
      <p:sp>
        <p:nvSpPr>
          <p:cNvPr id="18" name="Text 14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252D7F5-0195-69CF-5131-C1DE0C2EAA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97573" y="1856232"/>
            <a:ext cx="2403057" cy="5006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COMPETITIVE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makes strategic sense, and why now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04672" y="1874520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35431" y="20052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37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Africa is a top-2 global BPO destination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577840" y="1737360"/>
            <a:ext cx="5696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country has held this position for five years running, with the UK's top 15 BPO firms already resident and US demand now accelerating on the same trajectory.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807208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804672" y="3035808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935431" y="316656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89864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capability is the scarce ingredient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77840" y="2898648"/>
            <a:ext cx="5696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complexity kept this vertical offshore-resistant for years — few SA providers can show credible healthcare compliance and administration experience. Medscheme can; most competitors cannot.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968496"/>
            <a:ext cx="11091672" cy="96012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804672" y="4197096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35431" y="4327855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059936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BPOs are racing to acquire this exact capability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577840" y="4059936"/>
            <a:ext cx="5696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players are actively investing in local healthcare capability to capture the offshoring wave — the window to move first, rather than follow, is open but narrowing.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1" name="Text 1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PARTNERSHIP &amp;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199"/>
            <a:ext cx="11091672" cy="4441371"/>
          </a:xfrm>
          <a:prstGeom prst="roundRect">
            <a:avLst>
              <a:gd name="adj" fmla="val 2745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53719" y="198699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59" y="2468879"/>
            <a:ext cx="10515601" cy="2788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Consulting agreement with Trilogy for International Business Development. (Terms &amp; Targets)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Trilogy will have an agreement with International Consultants Precision Point &amp; Others. (Terms &amp; Targets)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is for services and commissions.</a:t>
            </a:r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to be </a:t>
            </a:r>
            <a:r>
              <a:rPr lang="en-US" sz="20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Finalised</a:t>
            </a:r>
            <a:r>
              <a:rPr lang="en-US" sz="2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before end August.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9" name="Text 21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BUDGET ESTIMATE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TriMed Sales &amp; Marketing Budget Estimate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049438"/>
              </p:ext>
            </p:extLst>
          </p:nvPr>
        </p:nvGraphicFramePr>
        <p:xfrm>
          <a:off x="548640" y="1213690"/>
          <a:ext cx="11094723" cy="3864714"/>
        </p:xfrm>
        <a:graphic>
          <a:graphicData uri="http://schemas.openxmlformats.org/drawingml/2006/table">
            <a:tbl>
              <a:tblPr/>
              <a:tblGrid>
                <a:gridCol w="2043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4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8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454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5210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Month 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CAEA6F"/>
                          </a:solidFill>
                          <a:effectLst/>
                          <a:latin typeface="Calibri" panose="020F0502020204030204" pitchFamily="34" charset="0"/>
                        </a:rPr>
                        <a:t>Annual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Initiation and Market Positioning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 1 -3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$45 000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Market Engagement &amp; Sales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Month 4 -12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$10 000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$90 000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4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Travel, Expenses </a:t>
                      </a: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&amp; Marketing</a:t>
                      </a:r>
                      <a:endParaRPr lang="en-ZA" sz="11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Billed on a pass through basis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ZA" sz="11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7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Trilogy Lead Gen Team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Cape Town Based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$60 000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797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Total Estimate (USD)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$20 000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$20 000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$20 000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$15 000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$195 000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5184151"/>
                  </a:ext>
                </a:extLst>
              </a:tr>
              <a:tr h="5797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Total Estimate (ZAR)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360 000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360 000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360 000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270 000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270 000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   270 000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ZA" sz="1100" b="1" i="0" u="none" strike="noStrike" dirty="0">
                          <a:solidFill>
                            <a:srgbClr val="FDCA07"/>
                          </a:solidFill>
                          <a:effectLst/>
                          <a:latin typeface="Calibri" panose="020F0502020204030204" pitchFamily="34" charset="0"/>
                        </a:rPr>
                        <a:t> R        4 290 000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A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1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52711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39" y="5232110"/>
            <a:ext cx="11094722" cy="1157803"/>
          </a:xfrm>
          <a:prstGeom prst="roundRect">
            <a:avLst>
              <a:gd name="adj" fmla="val 8235"/>
            </a:avLst>
          </a:prstGeom>
          <a:solidFill>
            <a:srgbClr val="1C3A52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1129284" y="5556505"/>
            <a:ext cx="457200" cy="4572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248156" y="5675377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5323550"/>
            <a:ext cx="9023604" cy="912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 estimate uses an indicative exchange rate of USD × 18 (e.g. $55,000/month → R990,000/month).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5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 and Travel are excluded and will be billed on a pass-through basis.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5F7F9"/>
                </a:solidFill>
                <a:latin typeface="Calibri" pitchFamily="34" charset="0"/>
                <a:cs typeface="Calibri" pitchFamily="34" charset="-120"/>
              </a:rPr>
              <a:t>Medscheme will pay a Commission of 15% on all revenues billed by Medscheme directly to the clients.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F5F7F9"/>
                </a:solidFill>
                <a:latin typeface="Calibri" pitchFamily="34" charset="0"/>
                <a:cs typeface="Calibri" pitchFamily="34" charset="-120"/>
              </a:rPr>
              <a:t>This commission percentage will be validated and revised once the full retail “Market Pricing” exercise has been completed by Trilogy and Precision Point Partners as part of the first 3 months consulting work.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521440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4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82357-4C5C-AF27-2193-E7A14488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8E9273F-E405-3529-241E-2C7B7C9BA0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5146"/>
            <a:ext cx="12192001" cy="6858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E15CF2F-3E78-B0B3-3550-EC7DEB31E687}"/>
              </a:ext>
            </a:extLst>
          </p:cNvPr>
          <p:cNvSpPr/>
          <p:nvPr/>
        </p:nvSpPr>
        <p:spPr>
          <a:xfrm>
            <a:off x="0" y="-5012"/>
            <a:ext cx="12192000" cy="6863011"/>
          </a:xfrm>
          <a:prstGeom prst="rect">
            <a:avLst/>
          </a:prstGeom>
          <a:solidFill>
            <a:srgbClr val="0C1926">
              <a:alpha val="6678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2821084-4A95-0A3E-26A7-EFABE88DCD36}"/>
              </a:ext>
            </a:extLst>
          </p:cNvPr>
          <p:cNvSpPr/>
          <p:nvPr/>
        </p:nvSpPr>
        <p:spPr>
          <a:xfrm>
            <a:off x="8802072" y="-1689067"/>
            <a:ext cx="5486400" cy="5486400"/>
          </a:xfrm>
          <a:prstGeom prst="ellipse">
            <a:avLst/>
          </a:prstGeom>
          <a:solidFill>
            <a:srgbClr val="CAEA70">
              <a:alpha val="6000"/>
            </a:srgbClr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1" descr="assets/medscheme_logo.png">
            <a:extLst>
              <a:ext uri="{FF2B5EF4-FFF2-40B4-BE49-F238E27FC236}">
                <a16:creationId xmlns:a16="http://schemas.microsoft.com/office/drawing/2014/main" id="{AF626E17-2EE0-059D-1993-B822CCB92F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901" y="780651"/>
            <a:ext cx="3198089" cy="96686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BFDA9B90-7A7A-4758-1B8B-F904A735981B}"/>
              </a:ext>
            </a:extLst>
          </p:cNvPr>
          <p:cNvSpPr/>
          <p:nvPr/>
        </p:nvSpPr>
        <p:spPr>
          <a:xfrm>
            <a:off x="722996" y="2623820"/>
            <a:ext cx="48650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AE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SERVICES HUB – ALIGNED WITH INTERNATIONAL BPO BEST PRACTICES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0FD954-C1D1-5733-D9D4-A33257038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48640" y="5525239"/>
            <a:ext cx="2905845" cy="5521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F16BA7-E5BF-60C0-541B-49E39B6321B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0010" y="780651"/>
            <a:ext cx="4640947" cy="966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77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</a:rPr>
              <a:t>08 — SHARED SERVICES MODEL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Why a BPO Centralized Shared Services Hub</a:t>
            </a:r>
          </a:p>
        </p:txBody>
      </p:sp>
      <p:sp>
        <p:nvSpPr>
          <p:cNvPr id="4" name="Text"/>
          <p:cNvSpPr/>
          <p:nvPr/>
        </p:nvSpPr>
        <p:spPr>
          <a:xfrm>
            <a:off x="548640" y="134112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Centralising these disciplines does more than tidy an org chart — it changes what Medscheme can measure, govern and scale.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900000"/>
            <a:ext cx="2659380" cy="21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IconCircle"/>
          <p:cNvSpPr/>
          <p:nvPr/>
        </p:nvSpPr>
        <p:spPr>
          <a:xfrm>
            <a:off x="1618330" y="1960000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" descr="icon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743330" y="2085000"/>
            <a:ext cx="270000" cy="270000"/>
          </a:xfrm>
          <a:prstGeom prst="rect">
            <a:avLst/>
          </a:prstGeom>
        </p:spPr>
      </p:pic>
      <p:sp>
        <p:nvSpPr>
          <p:cNvPr id="8" name="Text"/>
          <p:cNvSpPr/>
          <p:nvPr/>
        </p:nvSpPr>
        <p:spPr>
          <a:xfrm>
            <a:off x="638640" y="2540000"/>
            <a:ext cx="24793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Aligned to International Standards</a:t>
            </a:r>
          </a:p>
        </p:txBody>
      </p:sp>
      <p:sp>
        <p:nvSpPr>
          <p:cNvPr id="9" name="Text"/>
          <p:cNvSpPr/>
          <p:nvPr/>
        </p:nvSpPr>
        <p:spPr>
          <a:xfrm>
            <a:off x="648640" y="3160000"/>
            <a:ext cx="2459380" cy="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One consistent operating framework, benchmarked against global BPO best practice — not a different standard at every site.</a:t>
            </a:r>
          </a:p>
        </p:txBody>
      </p:sp>
      <p:sp>
        <p:nvSpPr>
          <p:cNvPr id="10" name="Card"/>
          <p:cNvSpPr/>
          <p:nvPr/>
        </p:nvSpPr>
        <p:spPr>
          <a:xfrm>
            <a:off x="3360420" y="1900000"/>
            <a:ext cx="2659380" cy="21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IconCircle"/>
          <p:cNvSpPr/>
          <p:nvPr/>
        </p:nvSpPr>
        <p:spPr>
          <a:xfrm>
            <a:off x="4430110" y="1960000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55110" y="2085000"/>
            <a:ext cx="270000" cy="27000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3450420" y="2540000"/>
            <a:ext cx="24793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Near Real-Time Analytics</a:t>
            </a:r>
          </a:p>
        </p:txBody>
      </p:sp>
      <p:sp>
        <p:nvSpPr>
          <p:cNvPr id="14" name="Text"/>
          <p:cNvSpPr/>
          <p:nvPr/>
        </p:nvSpPr>
        <p:spPr>
          <a:xfrm>
            <a:off x="3460420" y="3160000"/>
            <a:ext cx="2459380" cy="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A single data layer across every discipline, surfacing trends and risk as they emerge, not weeks later.</a:t>
            </a:r>
          </a:p>
        </p:txBody>
      </p:sp>
      <p:sp>
        <p:nvSpPr>
          <p:cNvPr id="15" name="Card"/>
          <p:cNvSpPr/>
          <p:nvPr/>
        </p:nvSpPr>
        <p:spPr>
          <a:xfrm>
            <a:off x="6172200" y="1900000"/>
            <a:ext cx="2659380" cy="21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IconCircle"/>
          <p:cNvSpPr/>
          <p:nvPr/>
        </p:nvSpPr>
        <p:spPr>
          <a:xfrm>
            <a:off x="7241890" y="1960000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66890" y="2085000"/>
            <a:ext cx="270000" cy="270000"/>
          </a:xfrm>
          <a:prstGeom prst="rect">
            <a:avLst/>
          </a:prstGeom>
        </p:spPr>
      </p:pic>
      <p:sp>
        <p:nvSpPr>
          <p:cNvPr id="18" name="Text"/>
          <p:cNvSpPr/>
          <p:nvPr/>
        </p:nvSpPr>
        <p:spPr>
          <a:xfrm>
            <a:off x="6262200" y="2540000"/>
            <a:ext cx="24793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Real-Time Operating Reporting</a:t>
            </a:r>
          </a:p>
        </p:txBody>
      </p:sp>
      <p:sp>
        <p:nvSpPr>
          <p:cNvPr id="19" name="Text"/>
          <p:cNvSpPr/>
          <p:nvPr/>
        </p:nvSpPr>
        <p:spPr>
          <a:xfrm>
            <a:off x="6272200" y="3160000"/>
            <a:ext cx="2459380" cy="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One live view of operational performance for Medscheme leadership, instead of fragmented, delayed reports.</a:t>
            </a:r>
          </a:p>
        </p:txBody>
      </p:sp>
      <p:sp>
        <p:nvSpPr>
          <p:cNvPr id="20" name="Card"/>
          <p:cNvSpPr/>
          <p:nvPr/>
        </p:nvSpPr>
        <p:spPr>
          <a:xfrm>
            <a:off x="8983980" y="1900000"/>
            <a:ext cx="2659380" cy="21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IconCircle"/>
          <p:cNvSpPr/>
          <p:nvPr/>
        </p:nvSpPr>
        <p:spPr>
          <a:xfrm>
            <a:off x="10053670" y="1960000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178670" y="2085000"/>
            <a:ext cx="270000" cy="270000"/>
          </a:xfrm>
          <a:prstGeom prst="rect">
            <a:avLst/>
          </a:prstGeom>
        </p:spPr>
      </p:pic>
      <p:sp>
        <p:nvSpPr>
          <p:cNvPr id="23" name="Text"/>
          <p:cNvSpPr/>
          <p:nvPr/>
        </p:nvSpPr>
        <p:spPr>
          <a:xfrm>
            <a:off x="9073980" y="2540000"/>
            <a:ext cx="247938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Commercial Contract Management</a:t>
            </a:r>
          </a:p>
        </p:txBody>
      </p:sp>
      <p:sp>
        <p:nvSpPr>
          <p:cNvPr id="24" name="Text"/>
          <p:cNvSpPr/>
          <p:nvPr/>
        </p:nvSpPr>
        <p:spPr>
          <a:xfrm>
            <a:off x="9083980" y="3160000"/>
            <a:ext cx="2459380" cy="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Centralised oversight of SLAs, pricing and commercial terms, keeping governance and accountability in one place.</a:t>
            </a:r>
          </a:p>
        </p:txBody>
      </p:sp>
      <p:sp>
        <p:nvSpPr>
          <p:cNvPr id="25" name="Card"/>
          <p:cNvSpPr/>
          <p:nvPr/>
        </p:nvSpPr>
        <p:spPr>
          <a:xfrm>
            <a:off x="548640" y="4200000"/>
            <a:ext cx="11094720" cy="2358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"/>
          <p:cNvSpPr/>
          <p:nvPr/>
        </p:nvSpPr>
        <p:spPr>
          <a:xfrm>
            <a:off x="848640" y="4390000"/>
            <a:ext cx="10494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AEA70"/>
                </a:solidFill>
                <a:latin typeface="Calibri" pitchFamily="34" charset="0"/>
              </a:rPr>
              <a:t>Why centralise Recruitment, Training, QA &amp; Analytics, WFM, MIS and Onboarding?</a:t>
            </a:r>
          </a:p>
        </p:txBody>
      </p:sp>
      <p:sp>
        <p:nvSpPr>
          <p:cNvPr id="27" name="Check"/>
          <p:cNvSpPr/>
          <p:nvPr/>
        </p:nvSpPr>
        <p:spPr>
          <a:xfrm>
            <a:off x="848640" y="490000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8" name="Text"/>
          <p:cNvSpPr/>
          <p:nvPr/>
        </p:nvSpPr>
        <p:spPr>
          <a:xfrm>
            <a:off x="1148640" y="4910000"/>
            <a:ext cx="2233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Consistency</a:t>
            </a:r>
          </a:p>
        </p:txBody>
      </p:sp>
      <p:sp>
        <p:nvSpPr>
          <p:cNvPr id="29" name="Text"/>
          <p:cNvSpPr/>
          <p:nvPr/>
        </p:nvSpPr>
        <p:spPr>
          <a:xfrm>
            <a:off x="848640" y="5240000"/>
            <a:ext cx="2533680" cy="1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Every site works to the same standard, not a different version of “good” in each location.</a:t>
            </a:r>
          </a:p>
        </p:txBody>
      </p:sp>
      <p:sp>
        <p:nvSpPr>
          <p:cNvPr id="30" name="Check"/>
          <p:cNvSpPr/>
          <p:nvPr/>
        </p:nvSpPr>
        <p:spPr>
          <a:xfrm>
            <a:off x="3502320" y="490000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1" name="Text"/>
          <p:cNvSpPr/>
          <p:nvPr/>
        </p:nvSpPr>
        <p:spPr>
          <a:xfrm>
            <a:off x="3802320" y="4910000"/>
            <a:ext cx="2233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Economies of Scale</a:t>
            </a:r>
          </a:p>
        </p:txBody>
      </p:sp>
      <p:sp>
        <p:nvSpPr>
          <p:cNvPr id="32" name="Text"/>
          <p:cNvSpPr/>
          <p:nvPr/>
        </p:nvSpPr>
        <p:spPr>
          <a:xfrm>
            <a:off x="3502320" y="5240000"/>
            <a:ext cx="2533680" cy="1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Specialist recruiters, trainers and QA analysts serve the whole operation, instead of being duplicated per site.</a:t>
            </a:r>
          </a:p>
        </p:txBody>
      </p:sp>
      <p:sp>
        <p:nvSpPr>
          <p:cNvPr id="33" name="Check"/>
          <p:cNvSpPr/>
          <p:nvPr/>
        </p:nvSpPr>
        <p:spPr>
          <a:xfrm>
            <a:off x="6156000" y="490000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4" name="Text"/>
          <p:cNvSpPr/>
          <p:nvPr/>
        </p:nvSpPr>
        <p:spPr>
          <a:xfrm>
            <a:off x="6456000" y="4910000"/>
            <a:ext cx="2233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Faster Scaling</a:t>
            </a:r>
          </a:p>
        </p:txBody>
      </p:sp>
      <p:sp>
        <p:nvSpPr>
          <p:cNvPr id="35" name="Text"/>
          <p:cNvSpPr/>
          <p:nvPr/>
        </p:nvSpPr>
        <p:spPr>
          <a:xfrm>
            <a:off x="6156000" y="5240000"/>
            <a:ext cx="2533680" cy="1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New teams launch against a proven playbook instead of starting from a blank page.</a:t>
            </a:r>
          </a:p>
        </p:txBody>
      </p:sp>
      <p:sp>
        <p:nvSpPr>
          <p:cNvPr id="36" name="Check"/>
          <p:cNvSpPr/>
          <p:nvPr/>
        </p:nvSpPr>
        <p:spPr>
          <a:xfrm>
            <a:off x="8809680" y="490000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7" name="Text"/>
          <p:cNvSpPr/>
          <p:nvPr/>
        </p:nvSpPr>
        <p:spPr>
          <a:xfrm>
            <a:off x="9109680" y="4910000"/>
            <a:ext cx="223368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One Source of Truth</a:t>
            </a:r>
          </a:p>
        </p:txBody>
      </p:sp>
      <p:sp>
        <p:nvSpPr>
          <p:cNvPr id="38" name="Text"/>
          <p:cNvSpPr/>
          <p:nvPr/>
        </p:nvSpPr>
        <p:spPr>
          <a:xfrm>
            <a:off x="8809680" y="5240000"/>
            <a:ext cx="2533680" cy="1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Performance data feeds a single model, so an improvement in one area is visible everywhere.</a:t>
            </a:r>
          </a:p>
        </p:txBody>
      </p:sp>
      <p:sp>
        <p:nvSpPr>
          <p:cNvPr id="39" name="PageNum"/>
          <p:cNvSpPr/>
          <p:nvPr/>
        </p:nvSpPr>
        <p:spPr>
          <a:xfrm>
            <a:off x="11475000" y="655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</a:rPr>
              <a:t>08 — SHARED SERVICES MODEL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The Shared Service Solution Hub</a:t>
            </a:r>
          </a:p>
        </p:txBody>
      </p:sp>
      <p:sp>
        <p:nvSpPr>
          <p:cNvPr id="4" name="Text"/>
          <p:cNvSpPr/>
          <p:nvPr/>
        </p:nvSpPr>
        <p:spPr>
          <a:xfrm>
            <a:off x="523175" y="1741617"/>
            <a:ext cx="1846217" cy="2685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Trilogy Shared Services sits at the centre, orchestrating the services that enable operations and business, with dedicated practitioners deployed across each discipline to analyse, evaluate and strengthen the Medscheme operations.</a:t>
            </a:r>
          </a:p>
        </p:txBody>
      </p:sp>
      <p:cxnSp>
        <p:nvCxnSpPr>
          <p:cNvPr id="5" name="Connector"/>
          <p:cNvCxnSpPr>
            <a:cxnSpLocks/>
          </p:cNvCxnSpPr>
          <p:nvPr/>
        </p:nvCxnSpPr>
        <p:spPr>
          <a:xfrm>
            <a:off x="5980000" y="2312489"/>
            <a:ext cx="1075000" cy="1133434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6" name="Connector"/>
          <p:cNvCxnSpPr>
            <a:cxnSpLocks/>
            <a:endCxn id="45" idx="2"/>
          </p:cNvCxnSpPr>
          <p:nvPr/>
        </p:nvCxnSpPr>
        <p:spPr>
          <a:xfrm>
            <a:off x="4895850" y="3002391"/>
            <a:ext cx="1379150" cy="443532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7" name="Connector"/>
          <p:cNvCxnSpPr>
            <a:cxnSpLocks/>
          </p:cNvCxnSpPr>
          <p:nvPr/>
        </p:nvCxnSpPr>
        <p:spPr>
          <a:xfrm flipH="1">
            <a:off x="4581500" y="3745923"/>
            <a:ext cx="1753500" cy="505617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8" name="Connector"/>
          <p:cNvCxnSpPr>
            <a:cxnSpLocks/>
            <a:stCxn id="45" idx="3"/>
          </p:cNvCxnSpPr>
          <p:nvPr/>
        </p:nvCxnSpPr>
        <p:spPr>
          <a:xfrm flipH="1">
            <a:off x="5770000" y="3997466"/>
            <a:ext cx="733457" cy="932046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9" name="Connector"/>
          <p:cNvCxnSpPr>
            <a:cxnSpLocks/>
            <a:stCxn id="32" idx="2"/>
            <a:endCxn id="45" idx="7"/>
          </p:cNvCxnSpPr>
          <p:nvPr/>
        </p:nvCxnSpPr>
        <p:spPr>
          <a:xfrm flipH="1">
            <a:off x="7606543" y="2213223"/>
            <a:ext cx="1250957" cy="681157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10" name="Connector"/>
          <p:cNvCxnSpPr>
            <a:cxnSpLocks/>
            <a:endCxn id="45" idx="6"/>
          </p:cNvCxnSpPr>
          <p:nvPr/>
        </p:nvCxnSpPr>
        <p:spPr>
          <a:xfrm flipH="1">
            <a:off x="7835000" y="3111500"/>
            <a:ext cx="1321700" cy="334423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11" name="Connector"/>
          <p:cNvCxnSpPr>
            <a:cxnSpLocks/>
          </p:cNvCxnSpPr>
          <p:nvPr/>
        </p:nvCxnSpPr>
        <p:spPr>
          <a:xfrm>
            <a:off x="7055000" y="3445923"/>
            <a:ext cx="2533500" cy="961071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12" name="Connector"/>
          <p:cNvCxnSpPr>
            <a:cxnSpLocks/>
            <a:stCxn id="45" idx="5"/>
          </p:cNvCxnSpPr>
          <p:nvPr/>
        </p:nvCxnSpPr>
        <p:spPr>
          <a:xfrm>
            <a:off x="7606543" y="3997466"/>
            <a:ext cx="453457" cy="932046"/>
          </a:xfrm>
          <a:prstGeom prst="line">
            <a:avLst/>
          </a:prstGeom>
          <a:ln w="15875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13" name="IconCircle"/>
          <p:cNvSpPr/>
          <p:nvPr/>
        </p:nvSpPr>
        <p:spPr>
          <a:xfrm>
            <a:off x="5685000" y="1093786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con" descr="icon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5770000" y="1178786"/>
            <a:ext cx="210000" cy="210000"/>
          </a:xfrm>
          <a:prstGeom prst="rect">
            <a:avLst/>
          </a:prstGeom>
        </p:spPr>
      </p:pic>
      <p:sp>
        <p:nvSpPr>
          <p:cNvPr id="15" name="Text"/>
          <p:cNvSpPr/>
          <p:nvPr/>
        </p:nvSpPr>
        <p:spPr>
          <a:xfrm>
            <a:off x="4800000" y="1503786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Recruitment</a:t>
            </a:r>
          </a:p>
        </p:txBody>
      </p:sp>
      <p:sp>
        <p:nvSpPr>
          <p:cNvPr id="16" name="Text"/>
          <p:cNvSpPr/>
          <p:nvPr/>
        </p:nvSpPr>
        <p:spPr>
          <a:xfrm>
            <a:off x="4800000" y="1728786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Sourcing and screening talent matched to Medscheme's specific operational needs.</a:t>
            </a:r>
          </a:p>
        </p:txBody>
      </p:sp>
      <p:sp>
        <p:nvSpPr>
          <p:cNvPr id="17" name="IconCircle"/>
          <p:cNvSpPr/>
          <p:nvPr/>
        </p:nvSpPr>
        <p:spPr>
          <a:xfrm>
            <a:off x="3535000" y="2227489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620000" y="2312489"/>
            <a:ext cx="210000" cy="210000"/>
          </a:xfrm>
          <a:prstGeom prst="rect">
            <a:avLst/>
          </a:prstGeom>
        </p:spPr>
      </p:pic>
      <p:sp>
        <p:nvSpPr>
          <p:cNvPr id="19" name="Text"/>
          <p:cNvSpPr/>
          <p:nvPr/>
        </p:nvSpPr>
        <p:spPr>
          <a:xfrm>
            <a:off x="2650000" y="2637489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Training</a:t>
            </a:r>
          </a:p>
        </p:txBody>
      </p:sp>
      <p:sp>
        <p:nvSpPr>
          <p:cNvPr id="20" name="Text"/>
          <p:cNvSpPr/>
          <p:nvPr/>
        </p:nvSpPr>
        <p:spPr>
          <a:xfrm>
            <a:off x="2650000" y="2862489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Structured induction that gets every practitioner productive, fast.</a:t>
            </a:r>
          </a:p>
        </p:txBody>
      </p:sp>
      <p:sp>
        <p:nvSpPr>
          <p:cNvPr id="21" name="IconCircle"/>
          <p:cNvSpPr/>
          <p:nvPr/>
        </p:nvSpPr>
        <p:spPr>
          <a:xfrm>
            <a:off x="3830000" y="3861717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3900000" y="3934673"/>
            <a:ext cx="210000" cy="210000"/>
          </a:xfrm>
          <a:prstGeom prst="rect">
            <a:avLst/>
          </a:prstGeom>
        </p:spPr>
      </p:pic>
      <p:sp>
        <p:nvSpPr>
          <p:cNvPr id="23" name="Text"/>
          <p:cNvSpPr/>
          <p:nvPr/>
        </p:nvSpPr>
        <p:spPr>
          <a:xfrm>
            <a:off x="2930000" y="4259673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Incubation</a:t>
            </a:r>
          </a:p>
        </p:txBody>
      </p:sp>
      <p:sp>
        <p:nvSpPr>
          <p:cNvPr id="24" name="Text"/>
          <p:cNvSpPr/>
          <p:nvPr/>
        </p:nvSpPr>
        <p:spPr>
          <a:xfrm>
            <a:off x="2930000" y="4484673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A safe space to test and refine new processes before they go live.</a:t>
            </a:r>
          </a:p>
        </p:txBody>
      </p:sp>
      <p:sp>
        <p:nvSpPr>
          <p:cNvPr id="25" name="IconCircle"/>
          <p:cNvSpPr/>
          <p:nvPr/>
        </p:nvSpPr>
        <p:spPr>
          <a:xfrm>
            <a:off x="5224315" y="5031403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6" name="Icon" descr="ico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5309315" y="5116403"/>
            <a:ext cx="210000" cy="210000"/>
          </a:xfrm>
          <a:prstGeom prst="rect">
            <a:avLst/>
          </a:prstGeom>
        </p:spPr>
      </p:pic>
      <p:sp>
        <p:nvSpPr>
          <p:cNvPr id="27" name="Text"/>
          <p:cNvSpPr/>
          <p:nvPr/>
        </p:nvSpPr>
        <p:spPr>
          <a:xfrm>
            <a:off x="4339315" y="5441403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Onboarding</a:t>
            </a:r>
          </a:p>
        </p:txBody>
      </p:sp>
      <p:sp>
        <p:nvSpPr>
          <p:cNvPr id="28" name="Text"/>
          <p:cNvSpPr/>
          <p:nvPr/>
        </p:nvSpPr>
        <p:spPr>
          <a:xfrm>
            <a:off x="4339315" y="5666403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Documented, low-risk transition of new starters into live operations.</a:t>
            </a:r>
          </a:p>
        </p:txBody>
      </p:sp>
      <p:sp>
        <p:nvSpPr>
          <p:cNvPr id="29" name="IconCircle"/>
          <p:cNvSpPr/>
          <p:nvPr/>
        </p:nvSpPr>
        <p:spPr>
          <a:xfrm>
            <a:off x="8667500" y="1118223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0" name="Icon" descr="icon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8752500" y="1203223"/>
            <a:ext cx="210000" cy="210000"/>
          </a:xfrm>
          <a:prstGeom prst="rect">
            <a:avLst/>
          </a:prstGeom>
        </p:spPr>
      </p:pic>
      <p:sp>
        <p:nvSpPr>
          <p:cNvPr id="31" name="Text"/>
          <p:cNvSpPr/>
          <p:nvPr/>
        </p:nvSpPr>
        <p:spPr>
          <a:xfrm>
            <a:off x="7782500" y="1528223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QA</a:t>
            </a:r>
          </a:p>
        </p:txBody>
      </p:sp>
      <p:sp>
        <p:nvSpPr>
          <p:cNvPr id="32" name="Text"/>
          <p:cNvSpPr/>
          <p:nvPr/>
        </p:nvSpPr>
        <p:spPr>
          <a:xfrm>
            <a:off x="7782500" y="1753223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Continuous quality scoring and root-cause insight on every interaction.</a:t>
            </a:r>
          </a:p>
        </p:txBody>
      </p:sp>
      <p:sp>
        <p:nvSpPr>
          <p:cNvPr id="33" name="IconCircle"/>
          <p:cNvSpPr/>
          <p:nvPr/>
        </p:nvSpPr>
        <p:spPr>
          <a:xfrm>
            <a:off x="10210000" y="2303891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4" name="Icon" descr="icon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295000" y="2388891"/>
            <a:ext cx="210000" cy="210000"/>
          </a:xfrm>
          <a:prstGeom prst="rect">
            <a:avLst/>
          </a:prstGeom>
        </p:spPr>
      </p:pic>
      <p:sp>
        <p:nvSpPr>
          <p:cNvPr id="35" name="Text"/>
          <p:cNvSpPr/>
          <p:nvPr/>
        </p:nvSpPr>
        <p:spPr>
          <a:xfrm>
            <a:off x="9325000" y="2777391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Workforce Management</a:t>
            </a:r>
          </a:p>
        </p:txBody>
      </p:sp>
      <p:sp>
        <p:nvSpPr>
          <p:cNvPr id="36" name="Text"/>
          <p:cNvSpPr/>
          <p:nvPr/>
        </p:nvSpPr>
        <p:spPr>
          <a:xfrm>
            <a:off x="9325000" y="3002391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Accurate forecasting and scheduling aligned to real demand.</a:t>
            </a:r>
          </a:p>
        </p:txBody>
      </p:sp>
      <p:sp>
        <p:nvSpPr>
          <p:cNvPr id="37" name="IconCircle"/>
          <p:cNvSpPr/>
          <p:nvPr/>
        </p:nvSpPr>
        <p:spPr>
          <a:xfrm>
            <a:off x="10210000" y="4026994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8" name="Icon" descr="icon.png"/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10295000" y="4111994"/>
            <a:ext cx="210000" cy="210000"/>
          </a:xfrm>
          <a:prstGeom prst="rect">
            <a:avLst/>
          </a:prstGeom>
        </p:spPr>
      </p:pic>
      <p:sp>
        <p:nvSpPr>
          <p:cNvPr id="39" name="Text"/>
          <p:cNvSpPr/>
          <p:nvPr/>
        </p:nvSpPr>
        <p:spPr>
          <a:xfrm>
            <a:off x="9325000" y="4436994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AI Insights &amp; Analytics</a:t>
            </a:r>
          </a:p>
        </p:txBody>
      </p:sp>
      <p:sp>
        <p:nvSpPr>
          <p:cNvPr id="40" name="Text"/>
          <p:cNvSpPr/>
          <p:nvPr/>
        </p:nvSpPr>
        <p:spPr>
          <a:xfrm>
            <a:off x="9325000" y="4661994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AI-driven analysis that surfaces patterns and opportunities humans miss.</a:t>
            </a:r>
          </a:p>
        </p:txBody>
      </p:sp>
      <p:sp>
        <p:nvSpPr>
          <p:cNvPr id="41" name="IconCircle"/>
          <p:cNvSpPr/>
          <p:nvPr/>
        </p:nvSpPr>
        <p:spPr>
          <a:xfrm>
            <a:off x="8060000" y="5046403"/>
            <a:ext cx="380000" cy="3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2" name="Icon" descr="icon.png"/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8145000" y="5131403"/>
            <a:ext cx="210000" cy="210000"/>
          </a:xfrm>
          <a:prstGeom prst="rect">
            <a:avLst/>
          </a:prstGeom>
        </p:spPr>
      </p:pic>
      <p:sp>
        <p:nvSpPr>
          <p:cNvPr id="43" name="Text"/>
          <p:cNvSpPr/>
          <p:nvPr/>
        </p:nvSpPr>
        <p:spPr>
          <a:xfrm>
            <a:off x="7175000" y="5456403"/>
            <a:ext cx="215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9"/>
                </a:solidFill>
                <a:latin typeface="Calibri" pitchFamily="34" charset="0"/>
              </a:rPr>
              <a:t>Continuous Improvement</a:t>
            </a:r>
          </a:p>
        </p:txBody>
      </p:sp>
      <p:sp>
        <p:nvSpPr>
          <p:cNvPr id="44" name="Text"/>
          <p:cNvSpPr/>
          <p:nvPr/>
        </p:nvSpPr>
        <p:spPr>
          <a:xfrm>
            <a:off x="7222600" y="5696403"/>
            <a:ext cx="215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6E8497"/>
                </a:solidFill>
                <a:latin typeface="Calibri" pitchFamily="34" charset="0"/>
              </a:rPr>
              <a:t>A feedback loop that turns insight into lasting operational gains.</a:t>
            </a:r>
          </a:p>
        </p:txBody>
      </p:sp>
      <p:sp>
        <p:nvSpPr>
          <p:cNvPr id="45" name="IconCircle"/>
          <p:cNvSpPr/>
          <p:nvPr/>
        </p:nvSpPr>
        <p:spPr>
          <a:xfrm>
            <a:off x="6275000" y="2665923"/>
            <a:ext cx="1560000" cy="1560000"/>
          </a:xfrm>
          <a:prstGeom prst="ellipse">
            <a:avLst/>
          </a:prstGeom>
          <a:solidFill>
            <a:srgbClr val="132A3D"/>
          </a:solidFill>
          <a:ln w="25400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"/>
          <p:cNvSpPr/>
          <p:nvPr/>
        </p:nvSpPr>
        <p:spPr>
          <a:xfrm>
            <a:off x="6334600" y="3267330"/>
            <a:ext cx="1440000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9"/>
                </a:solidFill>
                <a:latin typeface="Calibri" pitchFamily="34" charset="0"/>
              </a:rPr>
              <a:t>SHARED SERVICES</a:t>
            </a:r>
          </a:p>
        </p:txBody>
      </p:sp>
      <p:sp>
        <p:nvSpPr>
          <p:cNvPr id="48" name="PageNum"/>
          <p:cNvSpPr/>
          <p:nvPr/>
        </p:nvSpPr>
        <p:spPr>
          <a:xfrm>
            <a:off x="11475000" y="655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497"/>
                </a:solidFill>
                <a:latin typeface="Calibri" pitchFamily="34" charset="0"/>
              </a:rPr>
              <a:t>12</a:t>
            </a:r>
          </a:p>
        </p:txBody>
      </p:sp>
      <p:sp>
        <p:nvSpPr>
          <p:cNvPr id="64" name="Text">
            <a:extLst>
              <a:ext uri="{FF2B5EF4-FFF2-40B4-BE49-F238E27FC236}">
                <a16:creationId xmlns:a16="http://schemas.microsoft.com/office/drawing/2014/main" id="{F438CBF1-98A9-6E86-AF5A-6D06A1BF4C88}"/>
              </a:ext>
            </a:extLst>
          </p:cNvPr>
          <p:cNvSpPr/>
          <p:nvPr/>
        </p:nvSpPr>
        <p:spPr>
          <a:xfrm>
            <a:off x="6334600" y="3522084"/>
            <a:ext cx="1440000" cy="277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MIS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Reporting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</a:rPr>
              <a:t>08 — SHARED SERVICES MODEL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Augment Medscheme Shared Services to international best practices</a:t>
            </a:r>
          </a:p>
        </p:txBody>
      </p:sp>
      <p:sp>
        <p:nvSpPr>
          <p:cNvPr id="4" name="Text"/>
          <p:cNvSpPr/>
          <p:nvPr/>
        </p:nvSpPr>
        <p:spPr>
          <a:xfrm>
            <a:off x="548640" y="134112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A structured, four-phase engagement applied across every discipline in the Hub: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"/>
          <p:cNvSpPr/>
          <p:nvPr/>
        </p:nvSpPr>
        <p:spPr>
          <a:xfrm>
            <a:off x="58864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01</a:t>
            </a:r>
          </a:p>
        </p:txBody>
      </p:sp>
      <p:sp>
        <p:nvSpPr>
          <p:cNvPr id="7" name="IconCircle"/>
          <p:cNvSpPr/>
          <p:nvPr/>
        </p:nvSpPr>
        <p:spPr>
          <a:xfrm>
            <a:off x="154423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con" descr="icon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69230" y="3561757"/>
            <a:ext cx="270000" cy="270000"/>
          </a:xfrm>
          <a:prstGeom prst="rect">
            <a:avLst/>
          </a:prstGeom>
        </p:spPr>
      </p:pic>
      <p:sp>
        <p:nvSpPr>
          <p:cNvPr id="9" name="Text"/>
          <p:cNvSpPr/>
          <p:nvPr/>
        </p:nvSpPr>
        <p:spPr>
          <a:xfrm>
            <a:off x="58864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Discovery</a:t>
            </a:r>
          </a:p>
        </p:txBody>
      </p:sp>
      <p:sp>
        <p:nvSpPr>
          <p:cNvPr id="10" name="Text"/>
          <p:cNvSpPr/>
          <p:nvPr/>
        </p:nvSpPr>
        <p:spPr>
          <a:xfrm>
            <a:off x="65864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Trilogy practitioners embed within the Medscheme environment to observe and document how each Hub discipline operates today.</a:t>
            </a:r>
          </a:p>
        </p:txBody>
      </p:sp>
      <p:sp>
        <p:nvSpPr>
          <p:cNvPr id="11" name="Arrow"/>
          <p:cNvSpPr/>
          <p:nvPr/>
        </p:nvSpPr>
        <p:spPr>
          <a:xfrm rot="5400000">
            <a:off x="315482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Card"/>
          <p:cNvSpPr/>
          <p:nvPr/>
        </p:nvSpPr>
        <p:spPr>
          <a:xfrm>
            <a:off x="340982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"/>
          <p:cNvSpPr/>
          <p:nvPr/>
        </p:nvSpPr>
        <p:spPr>
          <a:xfrm>
            <a:off x="344982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02</a:t>
            </a:r>
          </a:p>
        </p:txBody>
      </p:sp>
      <p:sp>
        <p:nvSpPr>
          <p:cNvPr id="14" name="IconCircle"/>
          <p:cNvSpPr/>
          <p:nvPr/>
        </p:nvSpPr>
        <p:spPr>
          <a:xfrm>
            <a:off x="440541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30410" y="3561757"/>
            <a:ext cx="270000" cy="270000"/>
          </a:xfrm>
          <a:prstGeom prst="rect">
            <a:avLst/>
          </a:prstGeom>
        </p:spPr>
      </p:pic>
      <p:sp>
        <p:nvSpPr>
          <p:cNvPr id="16" name="Text"/>
          <p:cNvSpPr/>
          <p:nvPr/>
        </p:nvSpPr>
        <p:spPr>
          <a:xfrm>
            <a:off x="344982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Evaluation</a:t>
            </a:r>
          </a:p>
        </p:txBody>
      </p:sp>
      <p:sp>
        <p:nvSpPr>
          <p:cNvPr id="17" name="Text"/>
          <p:cNvSpPr/>
          <p:nvPr/>
        </p:nvSpPr>
        <p:spPr>
          <a:xfrm>
            <a:off x="3519820" y="4396757"/>
            <a:ext cx="2291180" cy="105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Each discipline in the Hub is assessed individually against international best practices, process maturity and outcomes.</a:t>
            </a:r>
          </a:p>
        </p:txBody>
      </p:sp>
      <p:sp>
        <p:nvSpPr>
          <p:cNvPr id="18" name="Arrow"/>
          <p:cNvSpPr/>
          <p:nvPr/>
        </p:nvSpPr>
        <p:spPr>
          <a:xfrm rot="5400000">
            <a:off x="601600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"/>
          <p:cNvSpPr/>
          <p:nvPr/>
        </p:nvSpPr>
        <p:spPr>
          <a:xfrm>
            <a:off x="627100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"/>
          <p:cNvSpPr/>
          <p:nvPr/>
        </p:nvSpPr>
        <p:spPr>
          <a:xfrm>
            <a:off x="631100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03</a:t>
            </a:r>
          </a:p>
        </p:txBody>
      </p:sp>
      <p:sp>
        <p:nvSpPr>
          <p:cNvPr id="21" name="IconCircle"/>
          <p:cNvSpPr/>
          <p:nvPr/>
        </p:nvSpPr>
        <p:spPr>
          <a:xfrm>
            <a:off x="726659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91590" y="3561757"/>
            <a:ext cx="270000" cy="270000"/>
          </a:xfrm>
          <a:prstGeom prst="rect">
            <a:avLst/>
          </a:prstGeom>
        </p:spPr>
      </p:pic>
      <p:sp>
        <p:nvSpPr>
          <p:cNvPr id="23" name="Text"/>
          <p:cNvSpPr/>
          <p:nvPr/>
        </p:nvSpPr>
        <p:spPr>
          <a:xfrm>
            <a:off x="631100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Measurement</a:t>
            </a:r>
          </a:p>
        </p:txBody>
      </p:sp>
      <p:sp>
        <p:nvSpPr>
          <p:cNvPr id="24" name="Text"/>
          <p:cNvSpPr/>
          <p:nvPr/>
        </p:nvSpPr>
        <p:spPr>
          <a:xfrm>
            <a:off x="638100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Findings are benchmarked against Trilogy's best-practice standards, surfacing the specific gaps and opportunities.</a:t>
            </a:r>
          </a:p>
        </p:txBody>
      </p:sp>
      <p:sp>
        <p:nvSpPr>
          <p:cNvPr id="25" name="Arrow"/>
          <p:cNvSpPr/>
          <p:nvPr/>
        </p:nvSpPr>
        <p:spPr>
          <a:xfrm rot="5400000">
            <a:off x="887718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Card"/>
          <p:cNvSpPr/>
          <p:nvPr/>
        </p:nvSpPr>
        <p:spPr>
          <a:xfrm>
            <a:off x="913218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"/>
          <p:cNvSpPr/>
          <p:nvPr/>
        </p:nvSpPr>
        <p:spPr>
          <a:xfrm>
            <a:off x="917218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04</a:t>
            </a:r>
          </a:p>
        </p:txBody>
      </p:sp>
      <p:sp>
        <p:nvSpPr>
          <p:cNvPr id="28" name="IconCircle"/>
          <p:cNvSpPr/>
          <p:nvPr/>
        </p:nvSpPr>
        <p:spPr>
          <a:xfrm>
            <a:off x="1012777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con" descr="ico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252770" y="3561757"/>
            <a:ext cx="270000" cy="270000"/>
          </a:xfrm>
          <a:prstGeom prst="rect">
            <a:avLst/>
          </a:prstGeom>
        </p:spPr>
      </p:pic>
      <p:sp>
        <p:nvSpPr>
          <p:cNvPr id="30" name="Text"/>
          <p:cNvSpPr/>
          <p:nvPr/>
        </p:nvSpPr>
        <p:spPr>
          <a:xfrm>
            <a:off x="917218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Improvement</a:t>
            </a:r>
          </a:p>
        </p:txBody>
      </p:sp>
      <p:sp>
        <p:nvSpPr>
          <p:cNvPr id="31" name="Text"/>
          <p:cNvSpPr/>
          <p:nvPr/>
        </p:nvSpPr>
        <p:spPr>
          <a:xfrm>
            <a:off x="924218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A tailored recommendation sets out the shared services model best suited to Medscheme's environment and goals.</a:t>
            </a:r>
          </a:p>
        </p:txBody>
      </p:sp>
      <p:sp>
        <p:nvSpPr>
          <p:cNvPr id="32" name="PageNum"/>
          <p:cNvSpPr/>
          <p:nvPr/>
        </p:nvSpPr>
        <p:spPr>
          <a:xfrm>
            <a:off x="11475000" y="655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497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06FF92D7-1C5A-D161-5701-B21E36298246}"/>
              </a:ext>
            </a:extLst>
          </p:cNvPr>
          <p:cNvSpPr/>
          <p:nvPr/>
        </p:nvSpPr>
        <p:spPr>
          <a:xfrm>
            <a:off x="603180" y="2156272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Six months advisory and practical augmentation of the Medscheme Shared Services Hub to orchestrate Resources, Technology and Process/Practices.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5E4562-39D7-962E-0323-3B099DFF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">
            <a:extLst>
              <a:ext uri="{FF2B5EF4-FFF2-40B4-BE49-F238E27FC236}">
                <a16:creationId xmlns:a16="http://schemas.microsoft.com/office/drawing/2014/main" id="{680680EA-CF8C-5871-F7B2-8C41C989D5C1}"/>
              </a:ext>
            </a:extLst>
          </p:cNvPr>
          <p:cNvSpPr/>
          <p:nvPr/>
        </p:nvSpPr>
        <p:spPr>
          <a:xfrm>
            <a:off x="201881" y="832146"/>
            <a:ext cx="8890299" cy="4622503"/>
          </a:xfrm>
          <a:prstGeom prst="roundRect">
            <a:avLst>
              <a:gd name="adj" fmla="val 6667"/>
            </a:avLst>
          </a:prstGeom>
          <a:solidFill>
            <a:srgbClr val="CAEA6F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6366E2F-9078-0600-CDCD-E9F3E8A1D08B}"/>
              </a:ext>
            </a:extLst>
          </p:cNvPr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</a:rPr>
              <a:t>08 — SHARED SERVICES MODEL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A587E910-AD0A-57AC-4DAF-36A51196FBA5}"/>
              </a:ext>
            </a:extLst>
          </p:cNvPr>
          <p:cNvSpPr/>
          <p:nvPr/>
        </p:nvSpPr>
        <p:spPr>
          <a:xfrm>
            <a:off x="54864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53881E6D-0D71-AACE-8372-8B6B0FA29C3F}"/>
              </a:ext>
            </a:extLst>
          </p:cNvPr>
          <p:cNvSpPr/>
          <p:nvPr/>
        </p:nvSpPr>
        <p:spPr>
          <a:xfrm>
            <a:off x="58864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01</a:t>
            </a:r>
          </a:p>
        </p:txBody>
      </p:sp>
      <p:sp>
        <p:nvSpPr>
          <p:cNvPr id="7" name="IconCircle">
            <a:extLst>
              <a:ext uri="{FF2B5EF4-FFF2-40B4-BE49-F238E27FC236}">
                <a16:creationId xmlns:a16="http://schemas.microsoft.com/office/drawing/2014/main" id="{CB3B0092-36AD-9F62-2547-BA5F32BF5D05}"/>
              </a:ext>
            </a:extLst>
          </p:cNvPr>
          <p:cNvSpPr/>
          <p:nvPr/>
        </p:nvSpPr>
        <p:spPr>
          <a:xfrm>
            <a:off x="154423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con" descr="icon.png">
            <a:extLst>
              <a:ext uri="{FF2B5EF4-FFF2-40B4-BE49-F238E27FC236}">
                <a16:creationId xmlns:a16="http://schemas.microsoft.com/office/drawing/2014/main" id="{99F607D1-12AF-CC9B-A422-C5A745015F70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669230" y="3561757"/>
            <a:ext cx="270000" cy="270000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5312AA94-198F-ABD7-0074-58B097E29329}"/>
              </a:ext>
            </a:extLst>
          </p:cNvPr>
          <p:cNvSpPr/>
          <p:nvPr/>
        </p:nvSpPr>
        <p:spPr>
          <a:xfrm>
            <a:off x="58864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Discovery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D749ACE9-9E52-E1CF-8C45-B636A9DD6CF4}"/>
              </a:ext>
            </a:extLst>
          </p:cNvPr>
          <p:cNvSpPr/>
          <p:nvPr/>
        </p:nvSpPr>
        <p:spPr>
          <a:xfrm>
            <a:off x="65864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Trilogy practitioners embed within the Medscheme environment to observe and document how each Hub discipline operates today.</a:t>
            </a:r>
          </a:p>
        </p:txBody>
      </p:sp>
      <p:sp>
        <p:nvSpPr>
          <p:cNvPr id="11" name="Arrow">
            <a:extLst>
              <a:ext uri="{FF2B5EF4-FFF2-40B4-BE49-F238E27FC236}">
                <a16:creationId xmlns:a16="http://schemas.microsoft.com/office/drawing/2014/main" id="{EC08D5F8-F980-0259-D941-A2BB6E0A24CC}"/>
              </a:ext>
            </a:extLst>
          </p:cNvPr>
          <p:cNvSpPr/>
          <p:nvPr/>
        </p:nvSpPr>
        <p:spPr>
          <a:xfrm rot="5400000">
            <a:off x="315482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CA1AE0DE-66C4-6995-5871-385E3783D208}"/>
              </a:ext>
            </a:extLst>
          </p:cNvPr>
          <p:cNvSpPr/>
          <p:nvPr/>
        </p:nvSpPr>
        <p:spPr>
          <a:xfrm>
            <a:off x="340982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534BAB9D-3241-3C37-516E-96F7D0C2CDFF}"/>
              </a:ext>
            </a:extLst>
          </p:cNvPr>
          <p:cNvSpPr/>
          <p:nvPr/>
        </p:nvSpPr>
        <p:spPr>
          <a:xfrm>
            <a:off x="344982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02</a:t>
            </a:r>
          </a:p>
        </p:txBody>
      </p:sp>
      <p:sp>
        <p:nvSpPr>
          <p:cNvPr id="14" name="IconCircle">
            <a:extLst>
              <a:ext uri="{FF2B5EF4-FFF2-40B4-BE49-F238E27FC236}">
                <a16:creationId xmlns:a16="http://schemas.microsoft.com/office/drawing/2014/main" id="{CDFB3D0E-605E-0BD9-E2EE-9BDBD6AA2DB2}"/>
              </a:ext>
            </a:extLst>
          </p:cNvPr>
          <p:cNvSpPr/>
          <p:nvPr/>
        </p:nvSpPr>
        <p:spPr>
          <a:xfrm>
            <a:off x="440541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con" descr="icon.png">
            <a:extLst>
              <a:ext uri="{FF2B5EF4-FFF2-40B4-BE49-F238E27FC236}">
                <a16:creationId xmlns:a16="http://schemas.microsoft.com/office/drawing/2014/main" id="{68844A75-9A45-4173-4C73-955F62642B4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30410" y="3561757"/>
            <a:ext cx="270000" cy="270000"/>
          </a:xfrm>
          <a:prstGeom prst="rect">
            <a:avLst/>
          </a:prstGeom>
        </p:spPr>
      </p:pic>
      <p:sp>
        <p:nvSpPr>
          <p:cNvPr id="16" name="Text">
            <a:extLst>
              <a:ext uri="{FF2B5EF4-FFF2-40B4-BE49-F238E27FC236}">
                <a16:creationId xmlns:a16="http://schemas.microsoft.com/office/drawing/2014/main" id="{0BD6034A-B09F-A7CC-C175-BBBB6E4475B6}"/>
              </a:ext>
            </a:extLst>
          </p:cNvPr>
          <p:cNvSpPr/>
          <p:nvPr/>
        </p:nvSpPr>
        <p:spPr>
          <a:xfrm>
            <a:off x="344982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Evaluation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D2EDE5C3-3FC5-E0B8-DD99-DD4394B34CAC}"/>
              </a:ext>
            </a:extLst>
          </p:cNvPr>
          <p:cNvSpPr/>
          <p:nvPr/>
        </p:nvSpPr>
        <p:spPr>
          <a:xfrm>
            <a:off x="3519820" y="4396757"/>
            <a:ext cx="2291180" cy="105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Each discipline in the Hub is assessed individually against international best practices, process maturity and outcomes.</a:t>
            </a:r>
          </a:p>
        </p:txBody>
      </p:sp>
      <p:sp>
        <p:nvSpPr>
          <p:cNvPr id="18" name="Arrow">
            <a:extLst>
              <a:ext uri="{FF2B5EF4-FFF2-40B4-BE49-F238E27FC236}">
                <a16:creationId xmlns:a16="http://schemas.microsoft.com/office/drawing/2014/main" id="{F2B5AE50-69F7-361A-E332-15BA53F795D2}"/>
              </a:ext>
            </a:extLst>
          </p:cNvPr>
          <p:cNvSpPr/>
          <p:nvPr/>
        </p:nvSpPr>
        <p:spPr>
          <a:xfrm rot="5400000">
            <a:off x="601600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">
            <a:extLst>
              <a:ext uri="{FF2B5EF4-FFF2-40B4-BE49-F238E27FC236}">
                <a16:creationId xmlns:a16="http://schemas.microsoft.com/office/drawing/2014/main" id="{C9ED762F-95B4-7971-07A5-A31765D123A5}"/>
              </a:ext>
            </a:extLst>
          </p:cNvPr>
          <p:cNvSpPr/>
          <p:nvPr/>
        </p:nvSpPr>
        <p:spPr>
          <a:xfrm>
            <a:off x="627100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09063A5-4E93-6853-839C-3CDD8D03577A}"/>
              </a:ext>
            </a:extLst>
          </p:cNvPr>
          <p:cNvSpPr/>
          <p:nvPr/>
        </p:nvSpPr>
        <p:spPr>
          <a:xfrm>
            <a:off x="631100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03</a:t>
            </a:r>
          </a:p>
        </p:txBody>
      </p:sp>
      <p:sp>
        <p:nvSpPr>
          <p:cNvPr id="21" name="IconCircle">
            <a:extLst>
              <a:ext uri="{FF2B5EF4-FFF2-40B4-BE49-F238E27FC236}">
                <a16:creationId xmlns:a16="http://schemas.microsoft.com/office/drawing/2014/main" id="{02229E72-A6C0-A248-2301-A9A8D5208E4C}"/>
              </a:ext>
            </a:extLst>
          </p:cNvPr>
          <p:cNvSpPr/>
          <p:nvPr/>
        </p:nvSpPr>
        <p:spPr>
          <a:xfrm>
            <a:off x="726659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>
            <a:extLst>
              <a:ext uri="{FF2B5EF4-FFF2-40B4-BE49-F238E27FC236}">
                <a16:creationId xmlns:a16="http://schemas.microsoft.com/office/drawing/2014/main" id="{E671F688-A3DF-1611-4BE2-A262A841D39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7391590" y="3561757"/>
            <a:ext cx="270000" cy="270000"/>
          </a:xfrm>
          <a:prstGeom prst="rect">
            <a:avLst/>
          </a:prstGeom>
        </p:spPr>
      </p:pic>
      <p:sp>
        <p:nvSpPr>
          <p:cNvPr id="23" name="Text">
            <a:extLst>
              <a:ext uri="{FF2B5EF4-FFF2-40B4-BE49-F238E27FC236}">
                <a16:creationId xmlns:a16="http://schemas.microsoft.com/office/drawing/2014/main" id="{B3A7880F-2CCD-6CC8-3F24-EA39BCADDF2E}"/>
              </a:ext>
            </a:extLst>
          </p:cNvPr>
          <p:cNvSpPr/>
          <p:nvPr/>
        </p:nvSpPr>
        <p:spPr>
          <a:xfrm>
            <a:off x="631100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Measurement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D6808A60-312B-5613-14A8-06CF426AD765}"/>
              </a:ext>
            </a:extLst>
          </p:cNvPr>
          <p:cNvSpPr/>
          <p:nvPr/>
        </p:nvSpPr>
        <p:spPr>
          <a:xfrm>
            <a:off x="638100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Findings are benchmarked against Trilogy's best-practice standards, surfacing the specific gaps and opportunities.</a:t>
            </a:r>
          </a:p>
        </p:txBody>
      </p:sp>
      <p:sp>
        <p:nvSpPr>
          <p:cNvPr id="25" name="Arrow">
            <a:extLst>
              <a:ext uri="{FF2B5EF4-FFF2-40B4-BE49-F238E27FC236}">
                <a16:creationId xmlns:a16="http://schemas.microsoft.com/office/drawing/2014/main" id="{D9F4B809-3113-1983-1A58-41D06AAF02E4}"/>
              </a:ext>
            </a:extLst>
          </p:cNvPr>
          <p:cNvSpPr/>
          <p:nvPr/>
        </p:nvSpPr>
        <p:spPr>
          <a:xfrm rot="5400000">
            <a:off x="8877180" y="3616757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6" name="Card">
            <a:extLst>
              <a:ext uri="{FF2B5EF4-FFF2-40B4-BE49-F238E27FC236}">
                <a16:creationId xmlns:a16="http://schemas.microsoft.com/office/drawing/2014/main" id="{7F60B60E-8642-2FB2-DDBF-155C1DF570F7}"/>
              </a:ext>
            </a:extLst>
          </p:cNvPr>
          <p:cNvSpPr/>
          <p:nvPr/>
        </p:nvSpPr>
        <p:spPr>
          <a:xfrm>
            <a:off x="9132180" y="2799300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">
            <a:extLst>
              <a:ext uri="{FF2B5EF4-FFF2-40B4-BE49-F238E27FC236}">
                <a16:creationId xmlns:a16="http://schemas.microsoft.com/office/drawing/2014/main" id="{95FAC4D0-EB85-F36F-809D-165BC1DD74F1}"/>
              </a:ext>
            </a:extLst>
          </p:cNvPr>
          <p:cNvSpPr/>
          <p:nvPr/>
        </p:nvSpPr>
        <p:spPr>
          <a:xfrm>
            <a:off x="9172180" y="2959300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04</a:t>
            </a:r>
          </a:p>
        </p:txBody>
      </p:sp>
      <p:sp>
        <p:nvSpPr>
          <p:cNvPr id="28" name="IconCircle">
            <a:extLst>
              <a:ext uri="{FF2B5EF4-FFF2-40B4-BE49-F238E27FC236}">
                <a16:creationId xmlns:a16="http://schemas.microsoft.com/office/drawing/2014/main" id="{43EF93CD-BCE4-69FA-923D-E93EB962D0CE}"/>
              </a:ext>
            </a:extLst>
          </p:cNvPr>
          <p:cNvSpPr/>
          <p:nvPr/>
        </p:nvSpPr>
        <p:spPr>
          <a:xfrm>
            <a:off x="10127770" y="3436757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con" descr="icon.png">
            <a:extLst>
              <a:ext uri="{FF2B5EF4-FFF2-40B4-BE49-F238E27FC236}">
                <a16:creationId xmlns:a16="http://schemas.microsoft.com/office/drawing/2014/main" id="{4FD087D4-E60D-061D-57B5-F2C02741E8A9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10252770" y="3561757"/>
            <a:ext cx="270000" cy="270000"/>
          </a:xfrm>
          <a:prstGeom prst="rect">
            <a:avLst/>
          </a:prstGeom>
        </p:spPr>
      </p:pic>
      <p:sp>
        <p:nvSpPr>
          <p:cNvPr id="30" name="Text">
            <a:extLst>
              <a:ext uri="{FF2B5EF4-FFF2-40B4-BE49-F238E27FC236}">
                <a16:creationId xmlns:a16="http://schemas.microsoft.com/office/drawing/2014/main" id="{824FB514-AD38-4C47-2F80-D45B4322D752}"/>
              </a:ext>
            </a:extLst>
          </p:cNvPr>
          <p:cNvSpPr/>
          <p:nvPr/>
        </p:nvSpPr>
        <p:spPr>
          <a:xfrm>
            <a:off x="9172180" y="4016757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Improvement</a:t>
            </a:r>
          </a:p>
        </p:txBody>
      </p:sp>
      <p:sp>
        <p:nvSpPr>
          <p:cNvPr id="31" name="Text">
            <a:extLst>
              <a:ext uri="{FF2B5EF4-FFF2-40B4-BE49-F238E27FC236}">
                <a16:creationId xmlns:a16="http://schemas.microsoft.com/office/drawing/2014/main" id="{48CB9D69-9380-57C6-9286-CB914A1A2C3A}"/>
              </a:ext>
            </a:extLst>
          </p:cNvPr>
          <p:cNvSpPr/>
          <p:nvPr/>
        </p:nvSpPr>
        <p:spPr>
          <a:xfrm>
            <a:off x="9242180" y="4396757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A tailored recommendation sets out the shared services model best suited to Medscheme's environment and goals.</a:t>
            </a:r>
          </a:p>
        </p:txBody>
      </p:sp>
      <p:sp>
        <p:nvSpPr>
          <p:cNvPr id="32" name="PageNum">
            <a:extLst>
              <a:ext uri="{FF2B5EF4-FFF2-40B4-BE49-F238E27FC236}">
                <a16:creationId xmlns:a16="http://schemas.microsoft.com/office/drawing/2014/main" id="{E458726C-7B07-A1CC-F373-8C3398B04A7A}"/>
              </a:ext>
            </a:extLst>
          </p:cNvPr>
          <p:cNvSpPr/>
          <p:nvPr/>
        </p:nvSpPr>
        <p:spPr>
          <a:xfrm>
            <a:off x="11475000" y="655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497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380AE5-E66E-8524-AEF1-80F7E131720C}"/>
              </a:ext>
            </a:extLst>
          </p:cNvPr>
          <p:cNvSpPr txBox="1"/>
          <p:nvPr/>
        </p:nvSpPr>
        <p:spPr>
          <a:xfrm>
            <a:off x="201881" y="4643252"/>
            <a:ext cx="88902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/>
              <a:t>GATE 1</a:t>
            </a:r>
          </a:p>
        </p:txBody>
      </p:sp>
    </p:spTree>
    <p:extLst>
      <p:ext uri="{BB962C8B-B14F-4D97-AF65-F5344CB8AC3E}">
        <p14:creationId xmlns:p14="http://schemas.microsoft.com/office/powerpoint/2010/main" val="83144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1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1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1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1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20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2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2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2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2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3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32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34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3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4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4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4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4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5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5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5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56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-0.22685 " pathEditMode="relative" ptsTypes="AA">
                                      <p:cBhvr>
                                        <p:cTn id="58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2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30" grpId="0" animBg="1"/>
      <p:bldP spid="30" grpId="1" animBg="1"/>
      <p:bldP spid="31" grpId="0" animBg="1"/>
      <p:bldP spid="31" grpId="1" animBg="1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633F39-4D99-AF64-19F9-ADBCA0892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ard">
            <a:extLst>
              <a:ext uri="{FF2B5EF4-FFF2-40B4-BE49-F238E27FC236}">
                <a16:creationId xmlns:a16="http://schemas.microsoft.com/office/drawing/2014/main" id="{98DE0AF5-1915-F7F1-D555-8AC7150A5E79}"/>
              </a:ext>
            </a:extLst>
          </p:cNvPr>
          <p:cNvSpPr/>
          <p:nvPr/>
        </p:nvSpPr>
        <p:spPr>
          <a:xfrm>
            <a:off x="215889" y="844167"/>
            <a:ext cx="8890299" cy="5113665"/>
          </a:xfrm>
          <a:prstGeom prst="roundRect">
            <a:avLst>
              <a:gd name="adj" fmla="val 6667"/>
            </a:avLst>
          </a:prstGeom>
          <a:solidFill>
            <a:srgbClr val="CAEA6F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360F810-2645-E755-3C68-3853AE1F915A}"/>
              </a:ext>
            </a:extLst>
          </p:cNvPr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EA70"/>
                </a:solidFill>
                <a:latin typeface="Calibri" pitchFamily="34" charset="0"/>
              </a:rPr>
              <a:t>08 — SHARED SERVICES MODEL</a:t>
            </a:r>
          </a:p>
        </p:txBody>
      </p:sp>
      <p:sp>
        <p:nvSpPr>
          <p:cNvPr id="5" name="Card">
            <a:extLst>
              <a:ext uri="{FF2B5EF4-FFF2-40B4-BE49-F238E27FC236}">
                <a16:creationId xmlns:a16="http://schemas.microsoft.com/office/drawing/2014/main" id="{A64A9B77-461C-21D5-23E2-D149A80F7F79}"/>
              </a:ext>
            </a:extLst>
          </p:cNvPr>
          <p:cNvSpPr/>
          <p:nvPr/>
        </p:nvSpPr>
        <p:spPr>
          <a:xfrm>
            <a:off x="548640" y="1231757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543F82C-A8CA-861A-EABB-F52FB8C83B97}"/>
              </a:ext>
            </a:extLst>
          </p:cNvPr>
          <p:cNvSpPr/>
          <p:nvPr/>
        </p:nvSpPr>
        <p:spPr>
          <a:xfrm>
            <a:off x="588640" y="1391757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01</a:t>
            </a:r>
          </a:p>
        </p:txBody>
      </p:sp>
      <p:sp>
        <p:nvSpPr>
          <p:cNvPr id="7" name="IconCircle">
            <a:extLst>
              <a:ext uri="{FF2B5EF4-FFF2-40B4-BE49-F238E27FC236}">
                <a16:creationId xmlns:a16="http://schemas.microsoft.com/office/drawing/2014/main" id="{BE1C5CC8-2DC4-3AD6-5745-BDB29B8B495F}"/>
              </a:ext>
            </a:extLst>
          </p:cNvPr>
          <p:cNvSpPr/>
          <p:nvPr/>
        </p:nvSpPr>
        <p:spPr>
          <a:xfrm>
            <a:off x="1544230" y="1869214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" name="Icon" descr="icon.png">
            <a:extLst>
              <a:ext uri="{FF2B5EF4-FFF2-40B4-BE49-F238E27FC236}">
                <a16:creationId xmlns:a16="http://schemas.microsoft.com/office/drawing/2014/main" id="{76075124-E8E0-063D-C268-43541CDBBD5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669230" y="1994214"/>
            <a:ext cx="270000" cy="270000"/>
          </a:xfrm>
          <a:prstGeom prst="rect">
            <a:avLst/>
          </a:prstGeom>
        </p:spPr>
      </p:pic>
      <p:sp>
        <p:nvSpPr>
          <p:cNvPr id="9" name="Text">
            <a:extLst>
              <a:ext uri="{FF2B5EF4-FFF2-40B4-BE49-F238E27FC236}">
                <a16:creationId xmlns:a16="http://schemas.microsoft.com/office/drawing/2014/main" id="{6439C73E-3B6B-2FEE-5D9C-A36C85930036}"/>
              </a:ext>
            </a:extLst>
          </p:cNvPr>
          <p:cNvSpPr/>
          <p:nvPr/>
        </p:nvSpPr>
        <p:spPr>
          <a:xfrm>
            <a:off x="588640" y="24492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Discovery</a:t>
            </a:r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0EE575C6-5838-88B4-08E9-2CD36F9E62C1}"/>
              </a:ext>
            </a:extLst>
          </p:cNvPr>
          <p:cNvSpPr/>
          <p:nvPr/>
        </p:nvSpPr>
        <p:spPr>
          <a:xfrm>
            <a:off x="658640" y="2829214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Trilogy practitioners embed within the Medscheme environment to observe and document how each Hub discipline operates today.</a:t>
            </a:r>
          </a:p>
        </p:txBody>
      </p:sp>
      <p:sp>
        <p:nvSpPr>
          <p:cNvPr id="11" name="Arrow">
            <a:extLst>
              <a:ext uri="{FF2B5EF4-FFF2-40B4-BE49-F238E27FC236}">
                <a16:creationId xmlns:a16="http://schemas.microsoft.com/office/drawing/2014/main" id="{8759E367-EF37-0C00-CA72-1D32D5725CDA}"/>
              </a:ext>
            </a:extLst>
          </p:cNvPr>
          <p:cNvSpPr/>
          <p:nvPr/>
        </p:nvSpPr>
        <p:spPr>
          <a:xfrm rot="5400000">
            <a:off x="3154820" y="2049214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Card">
            <a:extLst>
              <a:ext uri="{FF2B5EF4-FFF2-40B4-BE49-F238E27FC236}">
                <a16:creationId xmlns:a16="http://schemas.microsoft.com/office/drawing/2014/main" id="{F95E4516-EA3C-2AB8-6103-8E1B5473039A}"/>
              </a:ext>
            </a:extLst>
          </p:cNvPr>
          <p:cNvSpPr/>
          <p:nvPr/>
        </p:nvSpPr>
        <p:spPr>
          <a:xfrm>
            <a:off x="3409820" y="1231757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">
            <a:extLst>
              <a:ext uri="{FF2B5EF4-FFF2-40B4-BE49-F238E27FC236}">
                <a16:creationId xmlns:a16="http://schemas.microsoft.com/office/drawing/2014/main" id="{9A6EE58A-537C-CC5E-1ED6-C4B4F88B7D1D}"/>
              </a:ext>
            </a:extLst>
          </p:cNvPr>
          <p:cNvSpPr/>
          <p:nvPr/>
        </p:nvSpPr>
        <p:spPr>
          <a:xfrm>
            <a:off x="3449820" y="1391757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02</a:t>
            </a:r>
          </a:p>
        </p:txBody>
      </p:sp>
      <p:sp>
        <p:nvSpPr>
          <p:cNvPr id="14" name="IconCircle">
            <a:extLst>
              <a:ext uri="{FF2B5EF4-FFF2-40B4-BE49-F238E27FC236}">
                <a16:creationId xmlns:a16="http://schemas.microsoft.com/office/drawing/2014/main" id="{E823D924-65CD-B71B-8C91-F03AD377E409}"/>
              </a:ext>
            </a:extLst>
          </p:cNvPr>
          <p:cNvSpPr/>
          <p:nvPr/>
        </p:nvSpPr>
        <p:spPr>
          <a:xfrm>
            <a:off x="4405410" y="1869214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con" descr="icon.png">
            <a:extLst>
              <a:ext uri="{FF2B5EF4-FFF2-40B4-BE49-F238E27FC236}">
                <a16:creationId xmlns:a16="http://schemas.microsoft.com/office/drawing/2014/main" id="{A1686C35-C38B-9415-AF0E-F79BCFD922D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530410" y="1994214"/>
            <a:ext cx="270000" cy="270000"/>
          </a:xfrm>
          <a:prstGeom prst="rect">
            <a:avLst/>
          </a:prstGeom>
        </p:spPr>
      </p:pic>
      <p:sp>
        <p:nvSpPr>
          <p:cNvPr id="16" name="Text">
            <a:extLst>
              <a:ext uri="{FF2B5EF4-FFF2-40B4-BE49-F238E27FC236}">
                <a16:creationId xmlns:a16="http://schemas.microsoft.com/office/drawing/2014/main" id="{1CB52DA6-9B42-BC1B-24E1-1E8D33D5D3E4}"/>
              </a:ext>
            </a:extLst>
          </p:cNvPr>
          <p:cNvSpPr/>
          <p:nvPr/>
        </p:nvSpPr>
        <p:spPr>
          <a:xfrm>
            <a:off x="3449820" y="24492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Evaluation</a:t>
            </a:r>
          </a:p>
        </p:txBody>
      </p:sp>
      <p:sp>
        <p:nvSpPr>
          <p:cNvPr id="17" name="Text">
            <a:extLst>
              <a:ext uri="{FF2B5EF4-FFF2-40B4-BE49-F238E27FC236}">
                <a16:creationId xmlns:a16="http://schemas.microsoft.com/office/drawing/2014/main" id="{862B0B4A-5948-E4D0-3AA9-8C108A800E45}"/>
              </a:ext>
            </a:extLst>
          </p:cNvPr>
          <p:cNvSpPr/>
          <p:nvPr/>
        </p:nvSpPr>
        <p:spPr>
          <a:xfrm>
            <a:off x="3519820" y="2829214"/>
            <a:ext cx="2291180" cy="1057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Each discipline in the Hub is assessed individually against international best practices, process maturity and outcomes.</a:t>
            </a:r>
          </a:p>
        </p:txBody>
      </p:sp>
      <p:sp>
        <p:nvSpPr>
          <p:cNvPr id="18" name="Arrow">
            <a:extLst>
              <a:ext uri="{FF2B5EF4-FFF2-40B4-BE49-F238E27FC236}">
                <a16:creationId xmlns:a16="http://schemas.microsoft.com/office/drawing/2014/main" id="{5B985210-6A94-9C7E-CE1D-EE969730DB30}"/>
              </a:ext>
            </a:extLst>
          </p:cNvPr>
          <p:cNvSpPr/>
          <p:nvPr/>
        </p:nvSpPr>
        <p:spPr>
          <a:xfrm rot="5400000">
            <a:off x="6016000" y="2049214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9" name="Card">
            <a:extLst>
              <a:ext uri="{FF2B5EF4-FFF2-40B4-BE49-F238E27FC236}">
                <a16:creationId xmlns:a16="http://schemas.microsoft.com/office/drawing/2014/main" id="{66E996DF-4369-09CC-0447-D378802DC319}"/>
              </a:ext>
            </a:extLst>
          </p:cNvPr>
          <p:cNvSpPr/>
          <p:nvPr/>
        </p:nvSpPr>
        <p:spPr>
          <a:xfrm>
            <a:off x="6271000" y="1231757"/>
            <a:ext cx="2511180" cy="30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">
            <a:extLst>
              <a:ext uri="{FF2B5EF4-FFF2-40B4-BE49-F238E27FC236}">
                <a16:creationId xmlns:a16="http://schemas.microsoft.com/office/drawing/2014/main" id="{461FB9D2-B03C-8FE9-9ABB-F13AE7F51BD5}"/>
              </a:ext>
            </a:extLst>
          </p:cNvPr>
          <p:cNvSpPr/>
          <p:nvPr/>
        </p:nvSpPr>
        <p:spPr>
          <a:xfrm>
            <a:off x="6311000" y="1391757"/>
            <a:ext cx="24311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EA70"/>
                </a:solidFill>
                <a:latin typeface="Calibri" pitchFamily="34" charset="0"/>
              </a:rPr>
              <a:t>STEP 03</a:t>
            </a:r>
          </a:p>
        </p:txBody>
      </p:sp>
      <p:sp>
        <p:nvSpPr>
          <p:cNvPr id="21" name="IconCircle">
            <a:extLst>
              <a:ext uri="{FF2B5EF4-FFF2-40B4-BE49-F238E27FC236}">
                <a16:creationId xmlns:a16="http://schemas.microsoft.com/office/drawing/2014/main" id="{C40F6A74-BE41-D2F8-30F8-0C81B14270BD}"/>
              </a:ext>
            </a:extLst>
          </p:cNvPr>
          <p:cNvSpPr/>
          <p:nvPr/>
        </p:nvSpPr>
        <p:spPr>
          <a:xfrm>
            <a:off x="7266590" y="1869214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>
            <a:extLst>
              <a:ext uri="{FF2B5EF4-FFF2-40B4-BE49-F238E27FC236}">
                <a16:creationId xmlns:a16="http://schemas.microsoft.com/office/drawing/2014/main" id="{93D08F37-70A1-C285-0067-53CC7A3A4911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391590" y="1994214"/>
            <a:ext cx="270000" cy="270000"/>
          </a:xfrm>
          <a:prstGeom prst="rect">
            <a:avLst/>
          </a:prstGeom>
        </p:spPr>
      </p:pic>
      <p:sp>
        <p:nvSpPr>
          <p:cNvPr id="23" name="Text">
            <a:extLst>
              <a:ext uri="{FF2B5EF4-FFF2-40B4-BE49-F238E27FC236}">
                <a16:creationId xmlns:a16="http://schemas.microsoft.com/office/drawing/2014/main" id="{2BA35A9F-F1D3-2DA0-898D-8EAFCE8E3DCA}"/>
              </a:ext>
            </a:extLst>
          </p:cNvPr>
          <p:cNvSpPr/>
          <p:nvPr/>
        </p:nvSpPr>
        <p:spPr>
          <a:xfrm>
            <a:off x="6311000" y="24492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Measurement</a:t>
            </a:r>
          </a:p>
        </p:txBody>
      </p:sp>
      <p:sp>
        <p:nvSpPr>
          <p:cNvPr id="24" name="Text">
            <a:extLst>
              <a:ext uri="{FF2B5EF4-FFF2-40B4-BE49-F238E27FC236}">
                <a16:creationId xmlns:a16="http://schemas.microsoft.com/office/drawing/2014/main" id="{FC5B1D43-BF64-D104-FB21-FE57A1442883}"/>
              </a:ext>
            </a:extLst>
          </p:cNvPr>
          <p:cNvSpPr/>
          <p:nvPr/>
        </p:nvSpPr>
        <p:spPr>
          <a:xfrm>
            <a:off x="6381000" y="2829214"/>
            <a:ext cx="2291180" cy="16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F7F9"/>
                </a:solidFill>
                <a:latin typeface="Calibri" pitchFamily="34" charset="0"/>
              </a:rPr>
              <a:t>Findings are benchmarked against Trilogy's best-practice standards, surfacing the specific gaps and opportunities.</a:t>
            </a:r>
          </a:p>
        </p:txBody>
      </p:sp>
      <p:sp>
        <p:nvSpPr>
          <p:cNvPr id="32" name="PageNum">
            <a:extLst>
              <a:ext uri="{FF2B5EF4-FFF2-40B4-BE49-F238E27FC236}">
                <a16:creationId xmlns:a16="http://schemas.microsoft.com/office/drawing/2014/main" id="{935AD690-91D3-3A90-1CE9-9F5C04E968CB}"/>
              </a:ext>
            </a:extLst>
          </p:cNvPr>
          <p:cNvSpPr/>
          <p:nvPr/>
        </p:nvSpPr>
        <p:spPr>
          <a:xfrm>
            <a:off x="11475000" y="65532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E8497"/>
                </a:solidFill>
                <a:latin typeface="Calibri" pitchFamily="34" charset="0"/>
              </a:rPr>
              <a:t>13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54A3A2-0555-51D1-7CBF-A37B86F24845}"/>
              </a:ext>
            </a:extLst>
          </p:cNvPr>
          <p:cNvSpPr txBox="1"/>
          <p:nvPr/>
        </p:nvSpPr>
        <p:spPr>
          <a:xfrm>
            <a:off x="548640" y="4436424"/>
            <a:ext cx="85435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43E3E"/>
                </a:solidFill>
              </a:rPr>
              <a:t>GATE 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F399ECA4-14BA-9B75-EF43-975169B43C71}"/>
              </a:ext>
            </a:extLst>
          </p:cNvPr>
          <p:cNvSpPr/>
          <p:nvPr/>
        </p:nvSpPr>
        <p:spPr>
          <a:xfrm>
            <a:off x="9347200" y="762000"/>
            <a:ext cx="2603500" cy="568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The goal of this gate is to critically evaluate the Shared Services function at Medscheme to identify the following:</a:t>
            </a:r>
          </a:p>
          <a:p>
            <a:pPr marL="171450" indent="-171450">
              <a:spcBef>
                <a:spcPts val="800"/>
              </a:spcBef>
              <a:spcAft>
                <a:spcPts val="400"/>
              </a:spcAft>
              <a:buClr>
                <a:srgbClr val="CAEA7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Opportunities to reduce overheads through streamlining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rgbClr val="CAEA7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Gearing Shared Services to align with global BPO best practices for international business</a:t>
            </a:r>
          </a:p>
          <a:p>
            <a:pPr marL="171450" indent="-171450">
              <a:spcBef>
                <a:spcPts val="400"/>
              </a:spcBef>
              <a:spcAft>
                <a:spcPts val="400"/>
              </a:spcAft>
              <a:buClr>
                <a:srgbClr val="CAEA70"/>
              </a:buClr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Building a shared services to enabled international commercial BPO models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200" b="1" spc="150" dirty="0">
                <a:solidFill>
                  <a:srgbClr val="CAEA70"/>
                </a:solidFill>
                <a:latin typeface="Calibri" pitchFamily="34" charset="0"/>
              </a:rPr>
              <a:t>ENGAGEMENT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3-Month Engagement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CAEA70"/>
                </a:solidFill>
                <a:latin typeface="Calibri" pitchFamily="34" charset="0"/>
              </a:rPr>
              <a:t>R 195 000 per month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1200" b="1" spc="150" dirty="0">
                <a:solidFill>
                  <a:srgbClr val="CAEA70"/>
                </a:solidFill>
                <a:latin typeface="Calibri" pitchFamily="34" charset="0"/>
              </a:rPr>
              <a:t>OUTCOME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Roadmap with measurable outcomes and associated costs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C48C44E-45EC-C168-7A04-128CE845CA6A}"/>
              </a:ext>
            </a:extLst>
          </p:cNvPr>
          <p:cNvGrpSpPr/>
          <p:nvPr/>
        </p:nvGrpSpPr>
        <p:grpSpPr>
          <a:xfrm>
            <a:off x="1206006" y="5118372"/>
            <a:ext cx="2150000" cy="620000"/>
            <a:chOff x="469230" y="5661477"/>
            <a:chExt cx="2150000" cy="620000"/>
          </a:xfrm>
        </p:grpSpPr>
        <p:sp>
          <p:nvSpPr>
            <p:cNvPr id="4" name="IconCircle">
              <a:extLst>
                <a:ext uri="{FF2B5EF4-FFF2-40B4-BE49-F238E27FC236}">
                  <a16:creationId xmlns:a16="http://schemas.microsoft.com/office/drawing/2014/main" id="{A8387B7C-10B9-65D1-51C6-CF1B9550E033}"/>
                </a:ext>
              </a:extLst>
            </p:cNvPr>
            <p:cNvSpPr/>
            <p:nvPr/>
          </p:nvSpPr>
          <p:spPr>
            <a:xfrm>
              <a:off x="1354230" y="5661477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34" name="Icon" descr="icon.png">
              <a:extLst>
                <a:ext uri="{FF2B5EF4-FFF2-40B4-BE49-F238E27FC236}">
                  <a16:creationId xmlns:a16="http://schemas.microsoft.com/office/drawing/2014/main" id="{4DF603ED-6F34-312D-0D17-0589F44DB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lum bright="70000" contrast="-70000"/>
            </a:blip>
            <a:stretch>
              <a:fillRect/>
            </a:stretch>
          </p:blipFill>
          <p:spPr>
            <a:xfrm>
              <a:off x="1439230" y="5746477"/>
              <a:ext cx="210000" cy="210000"/>
            </a:xfrm>
            <a:prstGeom prst="rect">
              <a:avLst/>
            </a:prstGeom>
          </p:spPr>
        </p:pic>
        <p:sp>
          <p:nvSpPr>
            <p:cNvPr id="36" name="Text">
              <a:extLst>
                <a:ext uri="{FF2B5EF4-FFF2-40B4-BE49-F238E27FC236}">
                  <a16:creationId xmlns:a16="http://schemas.microsoft.com/office/drawing/2014/main" id="{80134924-95E5-8F02-A58E-6405B9F16E80}"/>
                </a:ext>
              </a:extLst>
            </p:cNvPr>
            <p:cNvSpPr/>
            <p:nvPr/>
          </p:nvSpPr>
          <p:spPr>
            <a:xfrm>
              <a:off x="469230" y="6071477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Training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B735EB-BBEA-4EE5-C9AC-6A58488E1733}"/>
              </a:ext>
            </a:extLst>
          </p:cNvPr>
          <p:cNvGrpSpPr/>
          <p:nvPr/>
        </p:nvGrpSpPr>
        <p:grpSpPr>
          <a:xfrm>
            <a:off x="0" y="5120415"/>
            <a:ext cx="2150000" cy="620000"/>
            <a:chOff x="1655690" y="5662081"/>
            <a:chExt cx="2150000" cy="620000"/>
          </a:xfrm>
        </p:grpSpPr>
        <p:sp>
          <p:nvSpPr>
            <p:cNvPr id="37" name="IconCircle">
              <a:extLst>
                <a:ext uri="{FF2B5EF4-FFF2-40B4-BE49-F238E27FC236}">
                  <a16:creationId xmlns:a16="http://schemas.microsoft.com/office/drawing/2014/main" id="{1893B2E7-42EC-28F4-54F4-C1E975A24764}"/>
                </a:ext>
              </a:extLst>
            </p:cNvPr>
            <p:cNvSpPr/>
            <p:nvPr/>
          </p:nvSpPr>
          <p:spPr>
            <a:xfrm>
              <a:off x="2540690" y="5662081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38" name="Icon" descr="icon.png">
              <a:extLst>
                <a:ext uri="{FF2B5EF4-FFF2-40B4-BE49-F238E27FC236}">
                  <a16:creationId xmlns:a16="http://schemas.microsoft.com/office/drawing/2014/main" id="{7F14B491-E5E1-C9E7-7784-8A1AFC879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lum bright="70000" contrast="-70000"/>
            </a:blip>
            <a:stretch>
              <a:fillRect/>
            </a:stretch>
          </p:blipFill>
          <p:spPr>
            <a:xfrm>
              <a:off x="2625690" y="5747081"/>
              <a:ext cx="210000" cy="210000"/>
            </a:xfrm>
            <a:prstGeom prst="rect">
              <a:avLst/>
            </a:prstGeom>
          </p:spPr>
        </p:pic>
        <p:sp>
          <p:nvSpPr>
            <p:cNvPr id="39" name="Text">
              <a:extLst>
                <a:ext uri="{FF2B5EF4-FFF2-40B4-BE49-F238E27FC236}">
                  <a16:creationId xmlns:a16="http://schemas.microsoft.com/office/drawing/2014/main" id="{12A3B001-F35A-FAB3-BFA7-18CD6C66E58A}"/>
                </a:ext>
              </a:extLst>
            </p:cNvPr>
            <p:cNvSpPr/>
            <p:nvPr/>
          </p:nvSpPr>
          <p:spPr>
            <a:xfrm>
              <a:off x="1655690" y="6072081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Recruitment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C1A084B-1AF5-5918-177E-9652CD45EEDE}"/>
              </a:ext>
            </a:extLst>
          </p:cNvPr>
          <p:cNvGrpSpPr/>
          <p:nvPr/>
        </p:nvGrpSpPr>
        <p:grpSpPr>
          <a:xfrm>
            <a:off x="2482311" y="5121433"/>
            <a:ext cx="2150000" cy="620000"/>
            <a:chOff x="4339315" y="5031403"/>
            <a:chExt cx="2150000" cy="620000"/>
          </a:xfrm>
        </p:grpSpPr>
        <p:sp>
          <p:nvSpPr>
            <p:cNvPr id="42" name="IconCircle">
              <a:extLst>
                <a:ext uri="{FF2B5EF4-FFF2-40B4-BE49-F238E27FC236}">
                  <a16:creationId xmlns:a16="http://schemas.microsoft.com/office/drawing/2014/main" id="{D34A8127-5BDC-D5E9-6E5B-32EC747EF497}"/>
                </a:ext>
              </a:extLst>
            </p:cNvPr>
            <p:cNvSpPr/>
            <p:nvPr/>
          </p:nvSpPr>
          <p:spPr>
            <a:xfrm>
              <a:off x="5224315" y="5031403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43" name="Icon" descr="icon.png">
              <a:extLst>
                <a:ext uri="{FF2B5EF4-FFF2-40B4-BE49-F238E27FC236}">
                  <a16:creationId xmlns:a16="http://schemas.microsoft.com/office/drawing/2014/main" id="{F6E01500-3E6E-2CB9-BCC2-79641F745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</a:blip>
            <a:stretch>
              <a:fillRect/>
            </a:stretch>
          </p:blipFill>
          <p:spPr>
            <a:xfrm>
              <a:off x="5309315" y="5116403"/>
              <a:ext cx="210000" cy="210000"/>
            </a:xfrm>
            <a:prstGeom prst="rect">
              <a:avLst/>
            </a:prstGeom>
          </p:spPr>
        </p:pic>
        <p:sp>
          <p:nvSpPr>
            <p:cNvPr id="44" name="Text">
              <a:extLst>
                <a:ext uri="{FF2B5EF4-FFF2-40B4-BE49-F238E27FC236}">
                  <a16:creationId xmlns:a16="http://schemas.microsoft.com/office/drawing/2014/main" id="{A193BC99-43FD-16A6-A718-8C8CE0307421}"/>
                </a:ext>
              </a:extLst>
            </p:cNvPr>
            <p:cNvSpPr/>
            <p:nvPr/>
          </p:nvSpPr>
          <p:spPr>
            <a:xfrm>
              <a:off x="4339315" y="5441403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Onboarding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97F1E6F-BBB1-178D-C80B-2757CB125487}"/>
              </a:ext>
            </a:extLst>
          </p:cNvPr>
          <p:cNvGrpSpPr/>
          <p:nvPr/>
        </p:nvGrpSpPr>
        <p:grpSpPr>
          <a:xfrm>
            <a:off x="3820130" y="5103372"/>
            <a:ext cx="2150000" cy="620000"/>
            <a:chOff x="3500514" y="5511430"/>
            <a:chExt cx="2150000" cy="620000"/>
          </a:xfrm>
        </p:grpSpPr>
        <p:sp>
          <p:nvSpPr>
            <p:cNvPr id="46" name="IconCircle">
              <a:extLst>
                <a:ext uri="{FF2B5EF4-FFF2-40B4-BE49-F238E27FC236}">
                  <a16:creationId xmlns:a16="http://schemas.microsoft.com/office/drawing/2014/main" id="{B347FC25-6279-2E28-B686-5D078FE330A6}"/>
                </a:ext>
              </a:extLst>
            </p:cNvPr>
            <p:cNvSpPr/>
            <p:nvPr/>
          </p:nvSpPr>
          <p:spPr>
            <a:xfrm>
              <a:off x="4385514" y="5511430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47" name="Icon" descr="icon.png">
              <a:extLst>
                <a:ext uri="{FF2B5EF4-FFF2-40B4-BE49-F238E27FC236}">
                  <a16:creationId xmlns:a16="http://schemas.microsoft.com/office/drawing/2014/main" id="{F14402F0-BDB2-79D5-8F73-47919BA63EF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lum bright="70000" contrast="-70000"/>
            </a:blip>
            <a:stretch>
              <a:fillRect/>
            </a:stretch>
          </p:blipFill>
          <p:spPr>
            <a:xfrm>
              <a:off x="4470514" y="5596430"/>
              <a:ext cx="210000" cy="210000"/>
            </a:xfrm>
            <a:prstGeom prst="rect">
              <a:avLst/>
            </a:prstGeom>
          </p:spPr>
        </p:pic>
        <p:sp>
          <p:nvSpPr>
            <p:cNvPr id="48" name="Text">
              <a:extLst>
                <a:ext uri="{FF2B5EF4-FFF2-40B4-BE49-F238E27FC236}">
                  <a16:creationId xmlns:a16="http://schemas.microsoft.com/office/drawing/2014/main" id="{4FD92386-1E57-B1CB-B236-A136C3035655}"/>
                </a:ext>
              </a:extLst>
            </p:cNvPr>
            <p:cNvSpPr/>
            <p:nvPr/>
          </p:nvSpPr>
          <p:spPr>
            <a:xfrm>
              <a:off x="3500514" y="5921430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QA</a:t>
              </a: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4DFA86A-553F-F6DD-1C80-1C52CCCF3863}"/>
              </a:ext>
            </a:extLst>
          </p:cNvPr>
          <p:cNvGrpSpPr/>
          <p:nvPr/>
        </p:nvGrpSpPr>
        <p:grpSpPr>
          <a:xfrm>
            <a:off x="5170130" y="5105184"/>
            <a:ext cx="2150000" cy="608137"/>
            <a:chOff x="5170130" y="5497071"/>
            <a:chExt cx="2150000" cy="608137"/>
          </a:xfrm>
        </p:grpSpPr>
        <p:sp>
          <p:nvSpPr>
            <p:cNvPr id="52" name="IconCircle">
              <a:extLst>
                <a:ext uri="{FF2B5EF4-FFF2-40B4-BE49-F238E27FC236}">
                  <a16:creationId xmlns:a16="http://schemas.microsoft.com/office/drawing/2014/main" id="{8557FE4C-D547-6442-4591-9602914861B0}"/>
                </a:ext>
              </a:extLst>
            </p:cNvPr>
            <p:cNvSpPr/>
            <p:nvPr/>
          </p:nvSpPr>
          <p:spPr>
            <a:xfrm>
              <a:off x="6055130" y="5497071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53" name="Icon" descr="icon.png">
              <a:extLst>
                <a:ext uri="{FF2B5EF4-FFF2-40B4-BE49-F238E27FC236}">
                  <a16:creationId xmlns:a16="http://schemas.microsoft.com/office/drawing/2014/main" id="{9E8FD55C-96F1-A4C6-D783-7089DD987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</a:blip>
            <a:stretch>
              <a:fillRect/>
            </a:stretch>
          </p:blipFill>
          <p:spPr>
            <a:xfrm>
              <a:off x="6140130" y="5582071"/>
              <a:ext cx="210000" cy="210000"/>
            </a:xfrm>
            <a:prstGeom prst="rect">
              <a:avLst/>
            </a:prstGeom>
          </p:spPr>
        </p:pic>
        <p:sp>
          <p:nvSpPr>
            <p:cNvPr id="54" name="Text">
              <a:extLst>
                <a:ext uri="{FF2B5EF4-FFF2-40B4-BE49-F238E27FC236}">
                  <a16:creationId xmlns:a16="http://schemas.microsoft.com/office/drawing/2014/main" id="{D8FC0B20-104B-BD94-3DA7-B9019CB02F1D}"/>
                </a:ext>
              </a:extLst>
            </p:cNvPr>
            <p:cNvSpPr/>
            <p:nvPr/>
          </p:nvSpPr>
          <p:spPr>
            <a:xfrm>
              <a:off x="5170130" y="5895208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Workforce Management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8B0A606-27DE-B02A-73B3-DF72503C3322}"/>
              </a:ext>
            </a:extLst>
          </p:cNvPr>
          <p:cNvGrpSpPr/>
          <p:nvPr/>
        </p:nvGrpSpPr>
        <p:grpSpPr>
          <a:xfrm>
            <a:off x="7017624" y="5083111"/>
            <a:ext cx="2150000" cy="620000"/>
            <a:chOff x="7017624" y="5540310"/>
            <a:chExt cx="2150000" cy="620000"/>
          </a:xfrm>
        </p:grpSpPr>
        <p:sp>
          <p:nvSpPr>
            <p:cNvPr id="56" name="IconCircle">
              <a:extLst>
                <a:ext uri="{FF2B5EF4-FFF2-40B4-BE49-F238E27FC236}">
                  <a16:creationId xmlns:a16="http://schemas.microsoft.com/office/drawing/2014/main" id="{EB237936-5BF1-F882-63B3-738676D7417F}"/>
                </a:ext>
              </a:extLst>
            </p:cNvPr>
            <p:cNvSpPr/>
            <p:nvPr/>
          </p:nvSpPr>
          <p:spPr>
            <a:xfrm>
              <a:off x="7902624" y="5540310"/>
              <a:ext cx="380000" cy="380000"/>
            </a:xfrm>
            <a:prstGeom prst="ellipse">
              <a:avLst/>
            </a:prstGeom>
            <a:solidFill>
              <a:srgbClr val="0F2233"/>
            </a:solidFill>
            <a:ln w="15875">
              <a:solidFill>
                <a:srgbClr val="CAEA70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pic>
          <p:nvPicPr>
            <p:cNvPr id="57" name="Icon" descr="icon.png">
              <a:extLst>
                <a:ext uri="{FF2B5EF4-FFF2-40B4-BE49-F238E27FC236}">
                  <a16:creationId xmlns:a16="http://schemas.microsoft.com/office/drawing/2014/main" id="{C4D0C4EE-3D66-8304-E6E3-01C2191B7A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</a:blip>
            <a:stretch>
              <a:fillRect/>
            </a:stretch>
          </p:blipFill>
          <p:spPr>
            <a:xfrm>
              <a:off x="7987624" y="5625310"/>
              <a:ext cx="210000" cy="210000"/>
            </a:xfrm>
            <a:prstGeom prst="rect">
              <a:avLst/>
            </a:prstGeom>
          </p:spPr>
        </p:pic>
        <p:sp>
          <p:nvSpPr>
            <p:cNvPr id="58" name="Text">
              <a:extLst>
                <a:ext uri="{FF2B5EF4-FFF2-40B4-BE49-F238E27FC236}">
                  <a16:creationId xmlns:a16="http://schemas.microsoft.com/office/drawing/2014/main" id="{B18D4DF9-53EA-DD70-826D-A6EC42C067DA}"/>
                </a:ext>
              </a:extLst>
            </p:cNvPr>
            <p:cNvSpPr/>
            <p:nvPr/>
          </p:nvSpPr>
          <p:spPr>
            <a:xfrm>
              <a:off x="7017624" y="5950310"/>
              <a:ext cx="2150000" cy="210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1300" b="1" dirty="0">
                  <a:solidFill>
                    <a:srgbClr val="043E3E"/>
                  </a:solidFill>
                  <a:latin typeface="Calibri" pitchFamily="34" charset="0"/>
                </a:rPr>
                <a:t>AI Insights &amp; Analytics</a:t>
              </a:r>
            </a:p>
          </p:txBody>
        </p:sp>
      </p:grpSp>
      <p:sp>
        <p:nvSpPr>
          <p:cNvPr id="25" name="Pentagon 24">
            <a:extLst>
              <a:ext uri="{FF2B5EF4-FFF2-40B4-BE49-F238E27FC236}">
                <a16:creationId xmlns:a16="http://schemas.microsoft.com/office/drawing/2014/main" id="{EB793083-90B0-A1E1-508B-E140E6BFF85B}"/>
              </a:ext>
            </a:extLst>
          </p:cNvPr>
          <p:cNvSpPr/>
          <p:nvPr/>
        </p:nvSpPr>
        <p:spPr>
          <a:xfrm>
            <a:off x="885000" y="6207346"/>
            <a:ext cx="2150000" cy="399143"/>
          </a:xfrm>
          <a:prstGeom prst="homePlate">
            <a:avLst/>
          </a:prstGeom>
          <a:solidFill>
            <a:srgbClr val="043E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Innovation</a:t>
            </a:r>
          </a:p>
        </p:txBody>
      </p:sp>
      <p:sp>
        <p:nvSpPr>
          <p:cNvPr id="26" name="Chevron 25">
            <a:extLst>
              <a:ext uri="{FF2B5EF4-FFF2-40B4-BE49-F238E27FC236}">
                <a16:creationId xmlns:a16="http://schemas.microsoft.com/office/drawing/2014/main" id="{0C1EFB78-F939-50D9-B8EC-38EC338AB396}"/>
              </a:ext>
            </a:extLst>
          </p:cNvPr>
          <p:cNvSpPr/>
          <p:nvPr/>
        </p:nvSpPr>
        <p:spPr>
          <a:xfrm>
            <a:off x="2902259" y="6212321"/>
            <a:ext cx="2023416" cy="399143"/>
          </a:xfrm>
          <a:prstGeom prst="chevron">
            <a:avLst/>
          </a:prstGeom>
          <a:solidFill>
            <a:srgbClr val="0C19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Global Best Practice</a:t>
            </a:r>
          </a:p>
        </p:txBody>
      </p:sp>
      <p:sp>
        <p:nvSpPr>
          <p:cNvPr id="27" name="Chevron 26">
            <a:extLst>
              <a:ext uri="{FF2B5EF4-FFF2-40B4-BE49-F238E27FC236}">
                <a16:creationId xmlns:a16="http://schemas.microsoft.com/office/drawing/2014/main" id="{0FE745E3-215F-D770-4FC7-E7569771AFE8}"/>
              </a:ext>
            </a:extLst>
          </p:cNvPr>
          <p:cNvSpPr/>
          <p:nvPr/>
        </p:nvSpPr>
        <p:spPr>
          <a:xfrm>
            <a:off x="4798967" y="6216380"/>
            <a:ext cx="2023416" cy="399143"/>
          </a:xfrm>
          <a:prstGeom prst="chevron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BPO Ready</a:t>
            </a:r>
          </a:p>
        </p:txBody>
      </p:sp>
      <p:sp>
        <p:nvSpPr>
          <p:cNvPr id="28" name="Chevron 27">
            <a:extLst>
              <a:ext uri="{FF2B5EF4-FFF2-40B4-BE49-F238E27FC236}">
                <a16:creationId xmlns:a16="http://schemas.microsoft.com/office/drawing/2014/main" id="{414023A5-6329-1BB0-4260-4ED7378C0E56}"/>
              </a:ext>
            </a:extLst>
          </p:cNvPr>
          <p:cNvSpPr/>
          <p:nvPr/>
        </p:nvSpPr>
        <p:spPr>
          <a:xfrm>
            <a:off x="6695675" y="6205494"/>
            <a:ext cx="2023416" cy="399143"/>
          </a:xfrm>
          <a:prstGeom prst="chevron">
            <a:avLst/>
          </a:prstGeom>
          <a:solidFill>
            <a:srgbClr val="1329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bg1"/>
                </a:solidFill>
              </a:rPr>
              <a:t>Areas for Augmentation</a:t>
            </a:r>
          </a:p>
        </p:txBody>
      </p:sp>
    </p:spTree>
    <p:extLst>
      <p:ext uri="{BB962C8B-B14F-4D97-AF65-F5344CB8AC3E}">
        <p14:creationId xmlns:p14="http://schemas.microsoft.com/office/powerpoint/2010/main" val="2570683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D2DE43-1F08-0D48-8555-56E50CF3639A}">
  <we:reference id="wa200003052" version="1.0.0.0" store="en-US" storeType="OMEX"/>
  <we:alternateReferences>
    <we:reference id="WA200003052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C1DC297-4BC7-CC4C-8650-72D565BA2A3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13a933c-91bc-41ea-b83c-3b61aa4433d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f00ef8-db8f-4715-8532-1d4398c0116e" xsi:nil="true"/>
    <lcf76f155ced4ddcb4097134ff3c332f xmlns="4d3ef53e-8156-4ea7-b096-a070a847f892">
      <Terms xmlns="http://schemas.microsoft.com/office/infopath/2007/PartnerControls"/>
    </lcf76f155ced4ddcb4097134ff3c332f>
    <InformationClassification xmlns="4d3ef53e-8156-4ea7-b096-a070a847f892">Internal – Confidential</InformationClassification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A5EFB6AC14FB4185F753ADE2FBBD8E" ma:contentTypeVersion="16" ma:contentTypeDescription="Create a new document." ma:contentTypeScope="" ma:versionID="3d54870faaa681fd9102955c05c72dd5">
  <xsd:schema xmlns:xsd="http://www.w3.org/2001/XMLSchema" xmlns:xs="http://www.w3.org/2001/XMLSchema" xmlns:p="http://schemas.microsoft.com/office/2006/metadata/properties" xmlns:ns2="4d3ef53e-8156-4ea7-b096-a070a847f892" xmlns:ns3="40f00ef8-db8f-4715-8532-1d4398c0116e" targetNamespace="http://schemas.microsoft.com/office/2006/metadata/properties" ma:root="true" ma:fieldsID="6c2fa08afd0c47f08d1b5ec367a4104f" ns2:_="" ns3:_="">
    <xsd:import namespace="4d3ef53e-8156-4ea7-b096-a070a847f892"/>
    <xsd:import namespace="40f00ef8-db8f-4715-8532-1d4398c011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  <xsd:element ref="ns2:InformationClassifi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ef53e-8156-4ea7-b096-a070a847f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54d1e14-a102-48c8-8e1e-c1b118d55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InformationClassification" ma:index="22" nillable="true" ma:displayName="Information Classification" ma:default="Internal – Confidential" ma:description="To Classify our documents in our site" ma:format="Dropdown" ma:internalName="InformationClassification">
      <xsd:simpleType>
        <xsd:restriction base="dms:Choice">
          <xsd:enumeration value="Internal – Confidential"/>
          <xsd:enumeration value="Internal – General"/>
          <xsd:enumeration value="External – Confidentia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00ef8-db8f-4715-8532-1d4398c0116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1d4fcf-8f08-4598-9b53-906d41f72bd9}" ma:internalName="TaxCatchAll" ma:showField="CatchAllData" ma:web="40f00ef8-db8f-4715-8532-1d4398c011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DF9413-43A3-484B-B8E2-CE811E1EABC0}">
  <ds:schemaRefs>
    <ds:schemaRef ds:uri="http://schemas.microsoft.com/office/2006/metadata/properties"/>
    <ds:schemaRef ds:uri="http://purl.org/dc/elements/1.1/"/>
    <ds:schemaRef ds:uri="40f00ef8-db8f-4715-8532-1d4398c0116e"/>
    <ds:schemaRef ds:uri="http://schemas.microsoft.com/office/infopath/2007/PartnerControls"/>
    <ds:schemaRef ds:uri="http://www.w3.org/XML/1998/namespace"/>
    <ds:schemaRef ds:uri="4d3ef53e-8156-4ea7-b096-a070a847f892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DEA9806-2131-450A-8BAB-0E898B2E3F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3ef53e-8156-4ea7-b096-a070a847f892"/>
    <ds:schemaRef ds:uri="40f00ef8-db8f-4715-8532-1d4398c011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7A3C9A-A2F3-46D6-99C6-591D4EE65D1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8588001-fd90-45e4-9fbd-5067f7ef8966}" enabled="1" method="Standard" siteId="{77c2790b-3f29-4f3a-b518-019ffdcb53d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2034</Words>
  <Application>Microsoft Macintosh PowerPoint</Application>
  <PresentationFormat>Widescreen</PresentationFormat>
  <Paragraphs>282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Avenir Medium</vt:lpstr>
      <vt:lpstr>Calibri</vt:lpstr>
      <vt:lpstr>Poiret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Shalekoff</dc:creator>
  <cp:lastModifiedBy>Craig Shalekoff</cp:lastModifiedBy>
  <cp:revision>6</cp:revision>
  <cp:lastPrinted>2025-10-15T09:27:28Z</cp:lastPrinted>
  <dcterms:created xsi:type="dcterms:W3CDTF">2021-02-24T13:54:42Z</dcterms:created>
  <dcterms:modified xsi:type="dcterms:W3CDTF">2026-08-18T10:39:54Z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0x01010057A5EFB6AC14FB4185F753ADE2FBBD8E</vt:lpwstr>
  </property>
  <property fmtid="{D5CDD505-2E9C-101B-9397-08002B2CF9AE}" pid="3" name="MediaServiceImageTags">
    <vt:lpwstr/>
  </property>
</Properties>
</file>