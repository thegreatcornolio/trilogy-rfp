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02D"/>
                </a:solidFill>
                <a:latin typeface="Calibri"/>
              </a:rPr>
              <a:t>Our Solution — Flipping the Incentive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  <a:latin typeface="Calibri"/>
              </a:rPr>
              <a:t>Own your offshore operation outright. Not traditional outsourcing — a structured pathway to building and controlling your own GCC in South Africa, with aligned incentives from day one. Offshoring without the BPO tax — you capture 100% of the value creation.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You employ the staff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Your people, culture, processes and standards — complete operational control.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2344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3864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100% open-book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Full transparency. No hidden markups. No black-box pricing.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2344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Fixed management fee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Decoupled from headcount — we are incentivised to help you optimise.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6" y="123444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99448" y="1371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Savings accrue to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1920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Every efficiency and automation win flows to your bottom 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834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02D"/>
                </a:solidFill>
                <a:latin typeface="Calibri"/>
              </a:rPr>
              <a:t>The DBIT Methodology — Design, Build, Innovate &amp; 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46120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6072" y="34290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474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1926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23360"/>
            <a:ext cx="2423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Architect operating model, technology stack and org structure around your service requirements and growth trajectory.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19272" y="3246120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83864" y="34290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83864" y="3474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1926"/>
                </a:solidFill>
                <a:latin typeface="Calibr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83864" y="4023360"/>
            <a:ext cx="2423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Stand up the full operation — recruitment, training, facilities, technology, compliance and governance.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7064" y="3246120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1656" y="34290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1E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1656" y="3474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1926"/>
                </a:solidFill>
                <a:latin typeface="Calibri"/>
              </a:rPr>
              <a:t>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INNOVATE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4023360"/>
            <a:ext cx="2423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Reduce headcount through digital deflection, automation and AI — because we are not paid on heads.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34856" y="3246120"/>
            <a:ext cx="2743200" cy="315468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99448" y="34290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9448" y="34747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1926"/>
                </a:solidFill>
                <a:latin typeface="Calibri"/>
              </a:rPr>
              <a:t>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4023360"/>
            <a:ext cx="2423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0D8"/>
                </a:solidFill>
                <a:latin typeface="Calibri"/>
              </a:rPr>
              <a:t>Transition full operational ownership to your team when ready, with ongoing support as needed.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02D"/>
                </a:solidFill>
                <a:latin typeface="Calibri"/>
              </a:rPr>
              <a:t>How DBIT Works — Benefits &amp; Proven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3035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555"/>
                </a:solidFill>
                <a:latin typeface="Calibri"/>
              </a:rPr>
              <a:t>A phased, holistic build — not a facilities fit-out alone. Same customers. Same SLAs. Better economics.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05840"/>
            <a:ext cx="5623560" cy="324612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1E56E"/>
                </a:solidFill>
                <a:latin typeface="Calibri"/>
              </a:rPr>
              <a:t>Every layer of the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Strategic &amp; ops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Business case, migration strategy, project plan, risk matrix from day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People, culture &amp; brand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HR plan (incl. Section 197), recruitment, training, culture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Process + platform +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Optimisation, site/IT build-out, systems, security, DR and MI/BI.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OPEX or CAPEX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Fully kitted to spec on monthly OPEX — or CAPEX if you want to own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005840"/>
            <a:ext cx="5486400" cy="324612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143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5EC67"/>
                </a:solidFill>
                <a:latin typeface="Calibri"/>
              </a:rPr>
              <a:t>The benefits of DBIT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55448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737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50–60%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Cheaper than onshoring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737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1E56E"/>
                </a:solidFill>
                <a:latin typeface="Calibri"/>
              </a:rPr>
              <a:t>20–30%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Cheaper than outsourcing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78892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971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+15–20%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Further via AI deflection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278892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971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1E56E"/>
                </a:solidFill>
                <a:latin typeface="Calibri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More 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434840"/>
            <a:ext cx="11338560" cy="2103120"/>
          </a:xfrm>
          <a:prstGeom prst="roundRect">
            <a:avLst>
              <a:gd name="adj" fmla="val 8000"/>
            </a:avLst>
          </a:prstGeom>
          <a:solidFill>
            <a:srgbClr val="131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1E56E"/>
                </a:solidFill>
                <a:latin typeface="Calibri"/>
              </a:rPr>
              <a:t>DBIT evolution — compounding savings to ~61%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9377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242D3C"/>
          </a:solidFill>
          <a:ln w="12700">
            <a:solidFill>
              <a:srgbClr val="3A4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074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1E56E"/>
                </a:solidFill>
                <a:latin typeface="Calibri"/>
              </a:rPr>
              <a:t>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In-house / onshore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100% of cost — no savings yet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49377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5074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~35%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40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Trilogy BPO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7607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Offshore outsourcing · reduce cost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9377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38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074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~53%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440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Trilogy DBIT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7607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0D8"/>
                </a:solidFill>
                <a:latin typeface="Calibri"/>
              </a:rPr>
              <a:t>Own your centre · further ~18%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49377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D5EC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0" y="50749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1926"/>
                </a:solidFill>
                <a:latin typeface="Calibri"/>
              </a:rPr>
              <a:t>~61%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4406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1926"/>
                </a:solidFill>
                <a:latin typeface="Calibri"/>
              </a:rPr>
              <a:t>Innovation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76072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1926"/>
                </a:solidFill>
                <a:latin typeface="Calibri"/>
              </a:rPr>
              <a:t>Tech deflection · further ~8%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