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65760"/>
            <a:ext cx="2339163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23444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5EC67"/>
                </a:solidFill>
                <a:latin typeface="Calibri"/>
              </a:rPr>
              <a:t>GCC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Global Capability Centre</a:t>
            </a:r>
          </a:p>
          <a:p>
            <a:pPr>
              <a:spcBef>
                <a:spcPts val="800"/>
              </a:spcBef>
            </a:pPr>
            <a:r>
              <a:rPr sz="2800" b="1">
                <a:solidFill>
                  <a:srgbClr val="61D779"/>
                </a:solidFill>
                <a:latin typeface="Calibri"/>
              </a:rPr>
              <a:t>Design, Build, Operate, Transfer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6583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B8C0C8"/>
                </a:solidFill>
                <a:latin typeface="Calibri"/>
              </a:rPr>
              <a:t>Mitigating the risks of building a captive centre offshore — how Trilogy delivers DBOT, with a transparent costing model and a fixed management fee.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5EC67"/>
                </a:solidFill>
                <a:latin typeface="Calibri"/>
              </a:rPr>
              <a:t>Human Led  ·  Ai-enabled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Trilogy GCC  ·  A Trilogy Group Company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23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1D779"/>
                </a:solidFill>
                <a:latin typeface="Calibri"/>
              </a:rPr>
              <a:t>sales@trilogybpo.com  ·  trilogybpo.com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pic>
        <p:nvPicPr>
          <p:cNvPr id="14" name="Picture 13" descr="corp-img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502920"/>
            <a:ext cx="3870960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07592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1D779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344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Company overview — Trilogy GCC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04872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5EC67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44144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Meet the executive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02152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1D779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53872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Why South Africa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4340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99432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5EC67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63600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Three routes offshore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05156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307592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1D779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44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The solution — DBOT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14884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404872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5EC67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44144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Implementation &amp; benefits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24612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502152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1D779"/>
                </a:solidFill>
                <a:latin typeface="Calibri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353872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Commercial model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34340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599432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5EC67"/>
                </a:solidFill>
                <a:latin typeface="Calibri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63600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Case studies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Meet the Executive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804672"/>
            <a:ext cx="2926080" cy="32004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Triangle 8"/>
          <p:cNvSpPr/>
          <p:nvPr/>
        </p:nvSpPr>
        <p:spPr>
          <a:xfrm>
            <a:off x="3611880" y="768096"/>
            <a:ext cx="109728" cy="109728"/>
          </a:xfrm>
          <a:prstGeom prst="rtTriangle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9601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Our leadership team comprises seasoned BPO executives and operational managers with over 20 years of collective expertise establishing and scaling operations across South Africa — more than 30 contact centres and back-office operations, totalling over 10,000 seats.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1764792"/>
            <a:ext cx="868680" cy="868680"/>
          </a:xfrm>
          <a:prstGeom prst="ellipse">
            <a:avLst/>
          </a:prstGeom>
          <a:solidFill>
            <a:srgbClr val="0C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kobus-van-der-westhuiz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69164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4360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1D779"/>
                </a:solidFill>
                <a:latin typeface="Calibri"/>
              </a:rPr>
              <a:t>Kobus van der Westhuizen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26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CEO &amp; Founder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461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8C0C8"/>
                </a:solidFill>
                <a:latin typeface="Calibri"/>
              </a:rPr>
              <a:t>Visionary leader with decades of BPO experience across multiple continents.</a:t>
            </a:r>
          </a:p>
        </p:txBody>
      </p:sp>
      <p:sp>
        <p:nvSpPr>
          <p:cNvPr id="16" name="Oval 15"/>
          <p:cNvSpPr/>
          <p:nvPr/>
        </p:nvSpPr>
        <p:spPr>
          <a:xfrm>
            <a:off x="4251960" y="1764792"/>
            <a:ext cx="868680" cy="868680"/>
          </a:xfrm>
          <a:prstGeom prst="ellipse">
            <a:avLst/>
          </a:prstGeom>
          <a:solidFill>
            <a:srgbClr val="0C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anya-phill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691640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74720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1D779"/>
                </a:solidFill>
                <a:latin typeface="Calibri"/>
              </a:rPr>
              <a:t>Tanya Phillips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926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Chief Operating Officer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2461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8C0C8"/>
                </a:solidFill>
                <a:latin typeface="Calibri"/>
              </a:rPr>
              <a:t>Builder of multiple BPO businesses from ground up to profitable operations.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0" y="1764792"/>
            <a:ext cx="868680" cy="868680"/>
          </a:xfrm>
          <a:prstGeom prst="ellipse">
            <a:avLst/>
          </a:prstGeom>
          <a:solidFill>
            <a:srgbClr val="0C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raig-shalek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691640"/>
            <a:ext cx="868680" cy="868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55080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1D779"/>
                </a:solidFill>
                <a:latin typeface="Calibri"/>
              </a:rPr>
              <a:t>Craig Shalekoff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26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MD &amp; Co-Founder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2461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8C0C8"/>
                </a:solidFill>
                <a:latin typeface="Calibri"/>
              </a:rPr>
              <a:t>Operations expert driving operational excellence and efficiency at scale.</a:t>
            </a:r>
          </a:p>
        </p:txBody>
      </p:sp>
      <p:sp>
        <p:nvSpPr>
          <p:cNvPr id="26" name="Oval 25"/>
          <p:cNvSpPr/>
          <p:nvPr/>
        </p:nvSpPr>
        <p:spPr>
          <a:xfrm>
            <a:off x="10012680" y="1764792"/>
            <a:ext cx="868680" cy="868680"/>
          </a:xfrm>
          <a:prstGeom prst="ellipse">
            <a:avLst/>
          </a:prstGeom>
          <a:solidFill>
            <a:srgbClr val="0C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udi-jans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691640"/>
            <a:ext cx="868680" cy="868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35440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1D779"/>
                </a:solidFill>
                <a:latin typeface="Calibri"/>
              </a:rPr>
              <a:t>Rudi Jansen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926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Director of People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32461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8C0C8"/>
                </a:solidFill>
                <a:latin typeface="Calibri"/>
              </a:rPr>
              <a:t>20 years of leadership experience in high-performing, people-first organisations.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1371600" y="4096512"/>
            <a:ext cx="868680" cy="868680"/>
          </a:xfrm>
          <a:prstGeom prst="ellipse">
            <a:avLst/>
          </a:prstGeom>
          <a:solidFill>
            <a:srgbClr val="0C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vancyon-van-zy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23360"/>
            <a:ext cx="868680" cy="8686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94360" y="4983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1D779"/>
                </a:solidFill>
                <a:latin typeface="Calibri"/>
              </a:rPr>
              <a:t>Vancyon van Zyl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2578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Director of Transitions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5778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8C0C8"/>
                </a:solidFill>
                <a:latin typeface="Calibri"/>
              </a:rPr>
              <a:t>Specialist in seamless operation migrations and process optimization.</a:t>
            </a:r>
          </a:p>
        </p:txBody>
      </p:sp>
      <p:sp>
        <p:nvSpPr>
          <p:cNvPr id="36" name="Oval 35"/>
          <p:cNvSpPr/>
          <p:nvPr/>
        </p:nvSpPr>
        <p:spPr>
          <a:xfrm>
            <a:off x="4251960" y="4096512"/>
            <a:ext cx="868680" cy="868680"/>
          </a:xfrm>
          <a:prstGeom prst="ellipse">
            <a:avLst/>
          </a:prstGeom>
          <a:solidFill>
            <a:srgbClr val="0C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keanu-vieir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6240" y="4023360"/>
            <a:ext cx="868680" cy="8686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474720" y="4983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1D779"/>
                </a:solidFill>
                <a:latin typeface="Calibri"/>
              </a:rPr>
              <a:t>Keanu Vieira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52578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Head of CX Solutions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55778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8C0C8"/>
                </a:solidFill>
                <a:latin typeface="Calibri"/>
              </a:rPr>
              <a:t>Customer experience innovation leader transforming service delivery models.</a:t>
            </a:r>
          </a:p>
        </p:txBody>
      </p:sp>
      <p:sp>
        <p:nvSpPr>
          <p:cNvPr id="41" name="Oval 40"/>
          <p:cNvSpPr/>
          <p:nvPr/>
        </p:nvSpPr>
        <p:spPr>
          <a:xfrm>
            <a:off x="7132320" y="4096512"/>
            <a:ext cx="868680" cy="868680"/>
          </a:xfrm>
          <a:prstGeom prst="ellipse">
            <a:avLst/>
          </a:prstGeom>
          <a:solidFill>
            <a:srgbClr val="0C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raig-mcleo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600" y="4023360"/>
            <a:ext cx="868680" cy="8686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55080" y="4983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1D779"/>
                </a:solidFill>
                <a:latin typeface="Calibri"/>
              </a:rPr>
              <a:t>Craig Mcleod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52578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Head of Innovation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55778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8C0C8"/>
                </a:solidFill>
                <a:latin typeface="Calibri"/>
              </a:rPr>
              <a:t>Technology and AI strategy pioneer driving competitive differentiation.</a:t>
            </a:r>
          </a:p>
        </p:txBody>
      </p:sp>
      <p:sp>
        <p:nvSpPr>
          <p:cNvPr id="46" name="Oval 45"/>
          <p:cNvSpPr/>
          <p:nvPr/>
        </p:nvSpPr>
        <p:spPr>
          <a:xfrm>
            <a:off x="10012680" y="4096512"/>
            <a:ext cx="868680" cy="868680"/>
          </a:xfrm>
          <a:prstGeom prst="ellipse">
            <a:avLst/>
          </a:prstGeom>
          <a:solidFill>
            <a:srgbClr val="0C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brandon-gra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023360"/>
            <a:ext cx="868680" cy="8686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235440" y="4983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1D779"/>
                </a:solidFill>
                <a:latin typeface="Calibri"/>
              </a:rPr>
              <a:t>Brandon Grant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5440" y="52578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Head of Digital Contact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55778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8C0C8"/>
                </a:solidFill>
                <a:latin typeface="Calibri"/>
              </a:rPr>
              <a:t>Digital transformation leader specializing in omnichannel solutions.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01  —  Company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8C0C8"/>
                </a:solidFill>
                <a:latin typeface="Calibri"/>
              </a:rPr>
              <a:t>Move beyond outsourcing. Establish a Global Capability Centre in South Africa that functions as a seamless extension of your headquarters.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40680" cy="1874519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91440" cy="1874519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745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1D779"/>
                </a:solidFill>
                <a:latin typeface="Calibri"/>
              </a:rPr>
              <a:t>Build your own centre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Design, Build, Operate, Transfer — a risk-mitigated path to a Center of Excellence in South Africa.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440680" cy="1874519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554480"/>
            <a:ext cx="91440" cy="1874519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745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5EC67"/>
                </a:solidFill>
                <a:latin typeface="Calibri"/>
              </a:rPr>
              <a:t>20–30% vs BPO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Global capability centres / captives deliver 20–30% cost savings versus offshore outsourcing.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11880"/>
            <a:ext cx="5440680" cy="1874519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611880"/>
            <a:ext cx="91440" cy="1874519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5EC67"/>
                </a:solidFill>
                <a:latin typeface="Calibri"/>
              </a:rPr>
              <a:t>Digital &amp; autonomous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4348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Unique digital and autonomous platforms to reduce headcount while improving CX.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611880"/>
            <a:ext cx="5440680" cy="1874519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611880"/>
            <a:ext cx="91440" cy="1874519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1D779"/>
                </a:solidFill>
                <a:latin typeface="Calibri"/>
              </a:rPr>
              <a:t>1,000+ FTEs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4348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Owned and operated footprint across Cape Town and Johannesburg — never franchise.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Our achievements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Trilogy's 20-year track record speaks to our ability to deliver results at scale — creating jobs, building infrastructure, and pioneering technology across the BPO industry.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61D779"/>
                </a:solidFill>
                <a:latin typeface="Calibri"/>
              </a:rPr>
              <a:t>45K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Jobs created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Significant positive impact on South Africa's economy and communities over 20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6916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D5EC67"/>
                </a:solidFill>
                <a:latin typeface="Calibri"/>
              </a:rPr>
              <a:t>20+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Years of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060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Two decades of proven value delivery across multiple industries and geographies.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D5EC67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Years in AI / 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1772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Developing AI, ML platforms, analytics solutions, and digital automation tools.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61D779"/>
                </a:solidFill>
                <a:latin typeface="Calibri"/>
              </a:rPr>
              <a:t>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Blue-chip centres built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61772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Contact centres successfully built and launched for blue-chip companies across SA.</a:t>
            </a:r>
          </a:p>
        </p:txBody>
      </p:sp>
      <p:pic>
        <p:nvPicPr>
          <p:cNvPr id="21" name="Picture 20" descr="corp-img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005840"/>
            <a:ext cx="3352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Why South Africa?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South Africa has consistently been ranked as the second most attractive BPO location globally. Source: McKinsey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5486400" cy="1417320"/>
          </a:xfrm>
          <a:prstGeom prst="roundRect">
            <a:avLst>
              <a:gd name="adj" fmla="val 8000"/>
            </a:avLst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45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1926"/>
                </a:solidFill>
                <a:latin typeface="Calibri"/>
              </a:rPr>
              <a:t>Cost efficiency meets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C1926"/>
                </a:solidFill>
                <a:latin typeface="Calibri"/>
              </a:rPr>
              <a:t>Up to 60% lower operational costs than UK/USA markets — wage arbitrage without compromising quality.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5486400" cy="1417320"/>
          </a:xfrm>
          <a:prstGeom prst="roundRect">
            <a:avLst>
              <a:gd name="adj" fmla="val 8000"/>
            </a:avLst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45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1926"/>
                </a:solidFill>
                <a:latin typeface="Calibri"/>
              </a:rPr>
              <a:t>Cape Town: the premium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1168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C1926"/>
                </a:solidFill>
                <a:latin typeface="Calibri"/>
              </a:rPr>
              <a:t>Leading BPO destination with rapid growth, exceptional infrastructure, and the largest skilled talent pool in the region.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00400"/>
            <a:ext cx="3611880" cy="12801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290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1D779"/>
                </a:solidFill>
                <a:latin typeface="Calibri"/>
              </a:rPr>
              <a:t>#2 globally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Most attractive BPO location (McKinsey)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200400"/>
            <a:ext cx="3611880" cy="12801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4290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GMT+2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8404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1–2 hrs from UK · extended US coverage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200400"/>
            <a:ext cx="3611880" cy="12801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4290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1D779"/>
                </a:solidFill>
                <a:latin typeface="Calibri"/>
              </a:rPr>
              <a:t>95%+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8404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English proficiency with neutral accents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17720"/>
            <a:ext cx="3611880" cy="12801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8463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Top-3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Global BPO destination for three consecutive years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4617720"/>
            <a:ext cx="3611880" cy="12801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48463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1D779"/>
                </a:solidFill>
                <a:latin typeface="Calibri"/>
              </a:rPr>
              <a:t>Young talent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525780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Educated, professional workforce ready to deliver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4617720"/>
            <a:ext cx="3611880" cy="12801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8463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Full CX stack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525780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Voice, tech support, digital and advanced CX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Three routes offshore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Companies can establish an offshore capability centre in South Africa — for any type of operation — in one of three ways.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3611880" cy="40233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61D779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Outsourcing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Outsource to a competent and credible partner in South Africa under an outsourcing contract.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600200"/>
            <a:ext cx="3611880" cy="40233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74519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D5EC6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Captive, own 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3832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Establish a captive centre in South Africa with your own resources — full ownership, full localisation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00200"/>
            <a:ext cx="3611880" cy="4023360"/>
          </a:xfrm>
          <a:prstGeom prst="roundRect">
            <a:avLst>
              <a:gd name="adj" fmla="val 8000"/>
            </a:avLst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874519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C1926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4231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1926"/>
                </a:solidFill>
                <a:latin typeface="Calibri"/>
              </a:rPr>
              <a:t>Captive with local partner — DBOT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3832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C1926"/>
                </a:solidFill>
                <a:latin typeface="Calibri"/>
              </a:rPr>
              <a:t>Establish a captive with a local partner as a phased Design, Build, Operate and Transfer approach.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5074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C1926"/>
                </a:solidFill>
                <a:latin typeface="Calibri"/>
              </a:rPr>
              <a:t>FOCUS OF THIS BRIEF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business case — five risk areas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Establishing a captive offshore has clear financial benefits — and inherent risks that can destroy the value proposition. DBOT is designed to mitigate all five.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2148840" cy="40233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2148840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1D779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3774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Localisation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08960"/>
            <a:ext cx="1828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Labour law, equity, location, culture, protocol and contractual pitfalls.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632" y="1600200"/>
            <a:ext cx="2148840" cy="40233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632" y="1600200"/>
            <a:ext cx="2148840" cy="109728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5EC67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3774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Financial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108960"/>
            <a:ext cx="1828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CAPEX for infrastructure, IT, telephony, connectivity and facilities — and shortened ROI pressure.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38344" y="1600200"/>
            <a:ext cx="2148840" cy="40233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38344" y="1600200"/>
            <a:ext cx="2148840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02936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1D779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2936" y="23774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2936" y="3108960"/>
            <a:ext cx="1828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Defocusing management; standing up HR, finance, facilities, legal and ops IT offshore.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06056" y="1600200"/>
            <a:ext cx="2148840" cy="40233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06056" y="1600200"/>
            <a:ext cx="2148840" cy="109728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70648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5EC67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3774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Implementation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70648" y="3108960"/>
            <a:ext cx="1828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Speed to go-live, scope creep, travel, recruitment and training costs.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73768" y="1600200"/>
            <a:ext cx="2148840" cy="40233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73768" y="1600200"/>
            <a:ext cx="2148840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1D779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3774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Ongoing 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108960"/>
            <a:ext cx="1828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Performance management, fix-it travel, transferring onshore practices to local management.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solution — DBOT hybrid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2651760" cy="5943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1556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Outsourcing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09728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1D779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005840"/>
            <a:ext cx="3931920" cy="5943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11155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Captive on internal resources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109728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D5EC67"/>
                </a:solidFill>
                <a:latin typeface="Calibri"/>
              </a:rPr>
              <a:t>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999" y="1005840"/>
            <a:ext cx="3657600" cy="594360"/>
          </a:xfrm>
          <a:prstGeom prst="roundRect">
            <a:avLst>
              <a:gd name="adj" fmla="val 8000"/>
            </a:avLst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115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C1926"/>
                </a:solidFill>
                <a:latin typeface="Calibri"/>
              </a:rPr>
              <a:t>DBOT hybrid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82880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DBOT — Design, Build, Operate and Transfer — is a phased turnkey approach with a highly qualified team of internal and local experts, mitigating captive risk while keeping a path to ownership.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0604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606040"/>
            <a:ext cx="2743200" cy="77724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1926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34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1926"/>
                </a:solidFill>
                <a:latin typeface="Calibri"/>
              </a:rPr>
              <a:t>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1188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Due diligence, gap analysis, solution design, implementation, change and project plans.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260604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83280" y="2606040"/>
            <a:ext cx="2743200" cy="77724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1926"/>
                </a:solidFill>
                <a:latin typeface="Calibri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2834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1926"/>
                </a:solidFill>
                <a:latin typeface="Calibri"/>
              </a:rPr>
              <a:t>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61188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Total solution implemented at the location of choice, governed by a project team.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260604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2606040"/>
            <a:ext cx="2743200" cy="777240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1926"/>
                </a:solidFill>
                <a:latin typeface="Calibri"/>
              </a:rPr>
              <a:t>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834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1926"/>
                </a:solidFill>
                <a:latin typeface="Calibri"/>
              </a:rPr>
              <a:t>OPERATE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61188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Full operational strategy run for a defined period to stabilise operations.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260604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0" y="2606040"/>
            <a:ext cx="2743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202E"/>
                </a:solidFill>
                <a:latin typeface="Calibri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2834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02E"/>
                </a:solidFill>
                <a:latin typeface="Calibri"/>
              </a:rPr>
              <a:t>TRANSFER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361188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Operations, technology, facilities, people, knowledge and IP transferred to you.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Implementation — phase by phase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005840"/>
            <a:ext cx="2743200" cy="9144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34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1D779"/>
                </a:solidFill>
                <a:latin typeface="Calibri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Comprehensive due diligence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Local practices gap analysis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Optimal solution design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Implementation &amp; change plans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Project management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00584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05840"/>
            <a:ext cx="2743200" cy="91440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234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173736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Site &amp; IT build-out (turnkey)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Agent lifecycle framework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Recruitment, training, incubation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Workforce optimisation &amp; QA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Go-live readiness gates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00584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005840"/>
            <a:ext cx="2743200" cy="9144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234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1D779"/>
                </a:solidFill>
                <a:latin typeface="Calibri"/>
              </a:rPr>
              <a:t>OPERATE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73736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Full operational strategy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Integrated management system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KPI / SLA measurement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Governed through an MSA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Stabilise quality &amp; service levels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100584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005840"/>
            <a:ext cx="2743200" cy="91440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234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TRANSFER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73736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People &amp; knowledge transfer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Technology, facilities &amp; IP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Flexible timing (e.g. 24/36 mo)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Optional ongoing support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Overflow · BC/DR · benchmarking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Business benefits — how DBOT mitigates risk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280160"/>
            <a:ext cx="365760" cy="365760"/>
          </a:xfrm>
          <a:prstGeom prst="ellipse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3258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1926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298448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Risk-averse localisation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005840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0" y="1280160"/>
            <a:ext cx="365760" cy="365760"/>
          </a:xfrm>
          <a:prstGeom prst="ellipse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3258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1926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298448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Limited CAPEX — or an option for no CAPEX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03120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2377440"/>
            <a:ext cx="365760" cy="365760"/>
          </a:xfrm>
          <a:prstGeom prst="ellipse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4231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1926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395728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Speed to offshore markets and implementation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03120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0" y="2377440"/>
            <a:ext cx="365760" cy="365760"/>
          </a:xfrm>
          <a:prstGeom prst="ellipse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4231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1926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395728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Speed to the cost savings anticipated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200400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3474720"/>
            <a:ext cx="365760" cy="365760"/>
          </a:xfrm>
          <a:prstGeom prst="ellipse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52044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1926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493008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Instant access to local admin, legal and financial resources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200400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00800" y="3474720"/>
            <a:ext cx="365760" cy="365760"/>
          </a:xfrm>
          <a:prstGeom prst="ellipse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52044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1926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493008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Instant access to local business practices and infrastructure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297680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572000"/>
            <a:ext cx="365760" cy="365760"/>
          </a:xfrm>
          <a:prstGeom prst="ellipse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61772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1926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4590288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Mitigates labour legislation, unions and performance-management risk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297680"/>
            <a:ext cx="5440680" cy="9601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400800" y="4572000"/>
            <a:ext cx="365760" cy="365760"/>
          </a:xfrm>
          <a:prstGeom prst="ellipse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461772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1926"/>
                </a:solidFill>
                <a:latin typeface="Calibr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4590288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Aligned incentives — fixed management fee, not headcount tax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Commercial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Transparent costing by DBOT phase, plus a fixed management fee — always with a path to ownership.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1D779"/>
                </a:solidFill>
                <a:latin typeface="Calibri"/>
              </a:rPr>
              <a:t>Transparent costing + fixed fee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14884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Costed openly by Design / Build / Operate / Transfer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Transfer typically at 24 or 36 months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Trilogy management fee is fixed — decoupled from headcount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You keep the savings from efficiency and automation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Assumptive model sized on seats, bodies, ratios and location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CAPEX — green-field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5740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Customer meets the CAPEX for site, equipment and facilities. Full ownership of assets from day 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7947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C1926"/>
                </a:solidFill>
                <a:latin typeface="Calibri"/>
              </a:rPr>
              <a:t>OPEX — Trilogy rent-to-own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25196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C1926"/>
                </a:solidFill>
                <a:latin typeface="Calibri"/>
              </a:rPr>
              <a:t>Full bill of materials on a 36-month payment plan. Site, equipment and facilities are owned by the client at month 36. Chosen by a number of our GCC customers.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Where GCC sits in Trilogy's offerings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Three pathways to elevate CX — outsourcing, owning a GCC, or AI/digital platforms. GCC delivers the additional 20–30% beyond BPO labour arbitrage.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3611880" cy="41605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Offshoring BPO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1D779"/>
                </a:solidFill>
                <a:latin typeface="Calibri"/>
              </a:rPr>
              <a:t>Voice to Digital to Autonomous CX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Outsource to Trilogy in South Africa with modern platforms ready — just add humans.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892040"/>
            <a:ext cx="3611880" cy="82296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02920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C1926"/>
                </a:solidFill>
                <a:latin typeface="Calibri"/>
              </a:rPr>
              <a:t>40–60% saving vs captive UK / outsourced UK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554480"/>
            <a:ext cx="3611880" cy="41605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783080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Global Capability Centres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46888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5EC67"/>
                </a:solidFill>
                <a:latin typeface="Calibri"/>
              </a:rPr>
              <a:t>Design, Build, Operate &amp; Transfer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97180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Build your own capability centre with Trilogy's DBOT methodology and local expertise.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4892040"/>
            <a:ext cx="3611880" cy="822960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502920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C1926"/>
                </a:solidFill>
                <a:latin typeface="Calibri"/>
              </a:rPr>
              <a:t>Additional 20–30% vs outsourced SA BPO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554480"/>
            <a:ext cx="3611880" cy="416052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783080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AI &amp; Digital Platforms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46888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1D779"/>
                </a:solidFill>
                <a:latin typeface="Calibri"/>
              </a:rPr>
              <a:t>Human in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97180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0C8"/>
                </a:solidFill>
                <a:latin typeface="Calibri"/>
              </a:rPr>
              <a:t>Award-winning AI-enabled digital and autonomous platforms for service, sales and collections.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4892040"/>
            <a:ext cx="3611880" cy="82296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502920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C1926"/>
                </a:solidFill>
                <a:latin typeface="Calibri"/>
              </a:rPr>
              <a:t>Further savings through digital &amp; AI deflection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Case study — Aegis South Africa (now Startek)</a:t>
            </a:r>
          </a:p>
        </p:txBody>
      </p:sp>
      <p:pic>
        <p:nvPicPr>
          <p:cNvPr id="8" name="Picture 7" descr="dbit-case-aeg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85216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Designed, built and operated in two SA locations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Grew by 2,500 seats within 5 years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EBITDA of over 15%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Brand still operating successfully as Startek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Proof that DBOT can scale a lasting in-country operation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Case study — Ascensos</a:t>
            </a:r>
          </a:p>
        </p:txBody>
      </p:sp>
      <p:pic>
        <p:nvPicPr>
          <p:cNvPr id="8" name="Picture 7" descr="dbit-case-ascen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85216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First 100 FTEs live in Cape Town within six weeks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1,500 seats over 3 years across 4 locations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$6M+ in government incentives secured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Designed and built a centre of excellence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Operated 2–4 years, then handed over a world-class operation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"/>
            <a:ext cx="73152" cy="34747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South African footprint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Every site is Trilogy owned or leased and operated directly — never via franchise or affiliate. Your operation fits seamlessly into our current Cape Town 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2743200" cy="329184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45920"/>
            <a:ext cx="2743200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Century 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Cape Town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1D779"/>
                </a:solidFill>
                <a:latin typeface="Calibri"/>
              </a:rPr>
              <a:t>300 seats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645920"/>
            <a:ext cx="2743200" cy="329184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645920"/>
            <a:ext cx="2743200" cy="109728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21031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Head Office — Pinelands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Cape Town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840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5EC67"/>
                </a:solidFill>
                <a:latin typeface="Calibri"/>
              </a:rPr>
              <a:t>1,500 seats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45920"/>
            <a:ext cx="2743200" cy="329184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645920"/>
            <a:ext cx="2743200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1031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Newtown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Johannesburg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840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1D779"/>
                </a:solidFill>
                <a:latin typeface="Calibri"/>
              </a:rPr>
              <a:t>400 seats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1645920"/>
            <a:ext cx="2743200" cy="3291840"/>
          </a:xfrm>
          <a:prstGeom prst="roundRect">
            <a:avLst>
              <a:gd name="adj" fmla="val 8000"/>
            </a:avLst>
          </a:prstGeom>
          <a:solidFill>
            <a:srgbClr val="1B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1645920"/>
            <a:ext cx="2743200" cy="109728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1031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Rosebank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8"/>
                </a:solidFill>
                <a:latin typeface="Calibri"/>
              </a:rPr>
              <a:t>Johannesburg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840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5EC67"/>
                </a:solidFill>
                <a:latin typeface="Calibri"/>
              </a:rPr>
              <a:t>250 seats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7558850" cy="73152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58850" y="6784848"/>
            <a:ext cx="4632844" cy="73152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2339163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Let's build your GCC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1D779"/>
                </a:solidFill>
                <a:latin typeface="Calibri"/>
              </a:rPr>
              <a:t>Design, Build, Operate, Transfer</a:t>
            </a:r>
          </a:p>
          <a:p>
            <a:pPr>
              <a:spcBef>
                <a:spcPts val="400"/>
              </a:spcBef>
            </a:pPr>
            <a:r>
              <a:rPr sz="1800" b="0">
                <a:solidFill>
                  <a:srgbClr val="D5EC67"/>
                </a:solidFill>
                <a:latin typeface="Calibri"/>
              </a:rPr>
              <a:t>from South Africa for UK, US and global brands.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sales@trilogybpo.com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34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8C0C8"/>
                </a:solidFill>
                <a:latin typeface="Calibri"/>
              </a:rPr>
              <a:t>trilogybpo.com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