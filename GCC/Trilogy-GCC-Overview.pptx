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28016" cy="685800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i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2339163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GCC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Global Capability Centre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1D779"/>
                </a:solidFill>
                <a:latin typeface="Calibri"/>
              </a:rPr>
              <a:t>Human Led · Ai-enabled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7B5"/>
                </a:solidFill>
                <a:latin typeface="Calibri"/>
              </a:rPr>
              <a:t>Design, Build, Innovate, Transfer — your risk-mitigated roadmap</a:t>
            </a:r>
            <a:br/>
            <a:r>
              <a:t>to a fully-owned Center of Excellence in South Africa.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7B5"/>
                </a:solidFill>
                <a:latin typeface="Calibri"/>
              </a:rPr>
              <a:t>Trilogy GCC · A Trilogy Group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1D779"/>
                </a:solidFill>
                <a:latin typeface="Calibri"/>
              </a:rPr>
              <a:t>sales@trilogybpo.com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01  Company overview — Trilogy GCC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02  Why South Africa / Why Cape Town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03  The challenge with traditional BPO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04  Our solution — own your offshore operation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05  DBIT methodology — Design · Build · Innovate · Transfer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06  Proven case studies — Aegis &amp; Ascensos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07  Commercial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01 — Company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Move beyond outsourcing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7B5"/>
                </a:solidFill>
                <a:latin typeface="Calibri"/>
              </a:rPr>
              <a:t>Trilogy GCC lets you establish a Global Capability Centre in South Africa that functions as a seamless extension of your headquarters — transitioning from third-party dependency to a fully-owned global asset.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51760"/>
            <a:ext cx="5394960" cy="14173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651760"/>
            <a:ext cx="109728" cy="141732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880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Build your own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918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Design, Build, Innovate, Transfer — a risk-mitigated path to a Center of Excellence in South Africa.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651760"/>
            <a:ext cx="5394960" cy="14173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2651760"/>
            <a:ext cx="109728" cy="141732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880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20–30% vs BPO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2918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Global capability centres / captives deliver 20–30% cost savings versus offshore outsourcing.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5394960" cy="14173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97680"/>
            <a:ext cx="109728" cy="141732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Digital &amp; autonomous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Unique digital and autonomous platforms to reduce headcount while improving CX.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97680"/>
            <a:ext cx="5394960" cy="14173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4297680"/>
            <a:ext cx="109728" cy="141732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1,000+ FTEs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937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Cape Town &amp; Johannesburg footprint, owned/leased and operated directly — never franchise.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02 — Why South Africa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top-tier global BPO destination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697480" cy="219456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2331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61D779"/>
                </a:solidFill>
                <a:latin typeface="Calibri"/>
              </a:rPr>
              <a:t>#2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Most attractive BPO location globally (McKinsey)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645920"/>
            <a:ext cx="2697480" cy="219456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920240"/>
            <a:ext cx="2331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61D779"/>
                </a:solidFill>
                <a:latin typeface="Calibri"/>
              </a:rPr>
              <a:t>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74320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Lower operational costs vs UK / USA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45920"/>
            <a:ext cx="2697480" cy="219456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2331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61D779"/>
                </a:solidFill>
                <a:latin typeface="Calibri"/>
              </a:rPr>
              <a:t>GMT+2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1–2 hrs from UK · extended US 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645920"/>
            <a:ext cx="2697480" cy="219456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920240"/>
            <a:ext cx="2331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61D779"/>
                </a:solidFill>
                <a:latin typeface="Calibri"/>
              </a:rPr>
              <a:t>95%+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74320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English proficiency with neutral accents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7B5"/>
                </a:solidFill>
                <a:latin typeface="Calibri"/>
              </a:rPr>
              <a:t>Young, educated workforce · mature legal framework aligned with Western standards · rapid growth, exceptional infrastructure and the largest skilled talent pool in the region.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02 — Why Cape Town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Premier destination for UK-facing CX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BPO ecosystem leadership — Cape Town led SA BPO export performance for nine consecutive years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67,000-strong regional BPO workforce with English-language and UK-cultural alignment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Operational readiness — sites live today; no landlord or infrastructure lead time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ESG — flagship site holds a 5-Star Green Energy rating (GBCSA)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Premium infrastructure — multi-redundant fibre, N+1 generator/UPS, biometric access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Multi-site resilience across Cape Town and Johannesburg with live volume routing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03 — 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Traditional BPO savings stop at labour arbitrage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7B5"/>
                </a:solidFill>
                <a:latin typeface="Calibri"/>
              </a:rPr>
              <a:t>Providers earn margin on headcount. When automation reduces staff, it reduces their revenue — a powerful disincentive to innovate. BPOs are economically motivated to maintain, not reduce, your agent count.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10789920" cy="201168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200400"/>
            <a:ext cx="128016" cy="201168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If a supplier makes less money when you automate, they will never automate fast enough.</a:t>
            </a:r>
            <a:br/>
            <a:r>
              <a:t>Migrating to an offshore captive unlocks further cost reduction and removes innovation barriers.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04 —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Own your offshore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7B5"/>
                </a:solidFill>
                <a:latin typeface="Calibri"/>
              </a:rPr>
              <a:t>Not traditional outsourcing — a structured pathway to building and controlling your own GCC in South Africa, with aligned incentives from day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5394960" cy="16459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You employ the staff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Your people, culture, processes and standards — full operational control.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86000"/>
            <a:ext cx="5394960" cy="16459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60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100% open-book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0632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Full transparency. No hidden markups. No black-box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114800"/>
            <a:ext cx="5394960" cy="16459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Fixed management fee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920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Our fee is decoupled from headcount — we are incentivised to help you optimise.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114800"/>
            <a:ext cx="5394960" cy="16459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89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1D779"/>
                </a:solidFill>
                <a:latin typeface="Calibri"/>
              </a:rPr>
              <a:t>Savings accrue to 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8920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Every efficiency and automation win flows to your bottom line, not a vendor margin.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05 — DBIT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Design · Build · Innovate ·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7B5"/>
                </a:solidFill>
                <a:latin typeface="Calibri"/>
              </a:rPr>
              <a:t>A phased, holistic build — not a facilities fit-out alone. Every layer of the operation is covered.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94560"/>
            <a:ext cx="2743200" cy="329184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94560"/>
            <a:ext cx="2743200" cy="64008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3202E"/>
                </a:solidFill>
                <a:latin typeface="Calibri"/>
              </a:rPr>
              <a:t>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Business case, migration strategy, project plan, risk matrix and mitigation from day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194560"/>
            <a:ext cx="2743200" cy="329184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194560"/>
            <a:ext cx="2743200" cy="64008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3202E"/>
                </a:solidFill>
                <a:latin typeface="Calibri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0896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Stand up the centre, recruit and train, go live fast with operational excellence.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194560"/>
            <a:ext cx="2743200" cy="329184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194560"/>
            <a:ext cx="2743200" cy="64008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3202E"/>
                </a:solidFill>
                <a:latin typeface="Calibri"/>
              </a:rPr>
              <a:t>INNOVATE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Digital, AI and automation layered in — deflection without the BPO tax.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2194560"/>
            <a:ext cx="2743200" cy="329184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2194560"/>
            <a:ext cx="2743200" cy="64008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3202E"/>
                </a:solidFill>
                <a:latin typeface="Calibri"/>
              </a:rPr>
              <a:t>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10896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Hand over a world-class captive to your ownership with leadership that stays.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05 — Benefits of DBIT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Same customers. Same SLAs. Better economics.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Strategic control of your offshore operation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Open-book economics with a fixed management fee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Path to ownership — not a locked-in BPO tax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Freedom to automate without vendor conflict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DTIC job-creation grants — circa $7,500 per job created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CAPEX or OPEX commercial models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06 —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Aegis South Africa (now Startek)</a:t>
            </a:r>
          </a:p>
        </p:txBody>
      </p:sp>
      <p:pic>
        <p:nvPicPr>
          <p:cNvPr id="6" name="Picture 5" descr="dbit-case-aeg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Designed, built and operated in two SA locations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Grew by 2,500 seats within 5 years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EBITDA of over 15%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Brands: British Gas, Virgin Mobile, AIG, National Lottery, Home Affairs, Telkom Mobile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Continues today as Startek with key Trilogy staff retained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06 —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Ascensos</a:t>
            </a:r>
          </a:p>
        </p:txBody>
      </p:sp>
      <p:pic>
        <p:nvPicPr>
          <p:cNvPr id="6" name="Picture 5" descr="dbit-case-ascen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First 100 FTEs live in Cape Town within six weeks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1,500 seats over 3 years across 4 locations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$6M+ in government incentive refunds structured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Leadership team still runs Ascensos South Africa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Multiple awards and top place-to-work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5EC67"/>
                </a:solidFill>
                <a:latin typeface="Calibri"/>
              </a:rPr>
              <a:t>07 — Commercial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Always with a path to ownership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789920" cy="11887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28016" cy="118872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83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Open-book + management fee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Detailed open-book cost and budget with full transparency, plus a management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10789920" cy="11887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128016" cy="118872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154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Cost per productive hour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All costs rolled into a per-productive-hour rate. Add your own margin if taking to market.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97680"/>
            <a:ext cx="10789920" cy="1188720"/>
          </a:xfrm>
          <a:prstGeom prst="rect">
            <a:avLst/>
          </a:prstGeom>
          <a:solidFill>
            <a:srgbClr val="1A2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28016" cy="118872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526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5EC67"/>
                </a:solidFill>
                <a:latin typeface="Calibri"/>
              </a:rPr>
              <a:t>Facility managed services (OPEX)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Full facility managed services as OPEX. Trilogy can provide CAPEX for the build.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7B5"/>
                </a:solidFill>
                <a:latin typeface="Calibri"/>
              </a:rPr>
              <a:t>Trilogy GCC · Commercial-in-confidence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7B5"/>
                </a:solidFill>
                <a:latin typeface="Calibri"/>
              </a:rPr>
              <a:t>proposal.trilogybpo.com/GCC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1D7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28016" cy="6858000"/>
          </a:xfrm>
          <a:prstGeom prst="rect">
            <a:avLst/>
          </a:prstGeom>
          <a:solidFill>
            <a:srgbClr val="D5E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i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339163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011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Let’s build your GCC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7B5"/>
                </a:solidFill>
                <a:latin typeface="Calibri"/>
              </a:rPr>
              <a:t>Design, Build, Innovate, Transfer — from South Africa for UK, US and global brands.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1D779"/>
                </a:solidFill>
                <a:latin typeface="Calibri"/>
              </a:rPr>
              <a:t>sales@trilogybpo.com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7B5"/>
                </a:solidFill>
                <a:latin typeface="Calibri"/>
              </a:rPr>
              <a:t>trilogybpo.com  ·  proposal.trilogybpo.com/GCC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7B5"/>
                </a:solidFill>
                <a:latin typeface="Calibri"/>
              </a:rPr>
              <a:t>Trilogy CX (Pty) Ltd · Commercial-in-confidence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