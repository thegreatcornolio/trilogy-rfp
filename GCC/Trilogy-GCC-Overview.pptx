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2339163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34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5EC67"/>
                </a:solidFill>
                <a:latin typeface="Calibri"/>
              </a:rPr>
              <a:t>GCC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Global Capability Centre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D5EC67"/>
                </a:solidFill>
                <a:latin typeface="Calibri"/>
              </a:rPr>
              <a:t>Design, Build, Operate,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8B8B4"/>
                </a:solidFill>
                <a:latin typeface="Calibri"/>
              </a:rPr>
              <a:t>Mitigating the risks of building a captive centre offshore — how Trilogy delivers DBOT, with a transparent costing model and a fixed management fee.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Human Led  ·  Ai-enabled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Trilogy GCC  ·  A Trilogy Group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EC67"/>
                </a:solidFill>
                <a:latin typeface="Calibri"/>
              </a:rPr>
              <a:t>sales@trilogybpo.com  ·  trilogybpo.com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13" name="Picture 12" descr="corp-img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87096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44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Company overview — Trilogy GCC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South Africa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4612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387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Three routes offshore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4340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99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360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Business risks of a captive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051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07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344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solution — DBOT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14884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048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414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Implementation phases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24612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02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5387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Benefits &amp; commercial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34340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599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6360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Case studies &amp;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01  —  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8B4"/>
                </a:solidFill>
                <a:latin typeface="Calibri"/>
              </a:rPr>
              <a:t>Move beyond outsourcing. Establish a Global Capability Centre in South Africa that functions as a seamless extension of your headquarters.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91440" cy="1874519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EC67"/>
                </a:solidFill>
                <a:latin typeface="Calibri"/>
              </a:rPr>
              <a:t>Build your own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Design, Build, Operate, Transfer — a risk-mitigated path to a Center of Excellence in South Africa.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91440" cy="1874519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EC67"/>
                </a:solidFill>
                <a:latin typeface="Calibri"/>
              </a:rPr>
              <a:t>20–30% vs BPO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Global capability centres / captives deliver 20–30% cost savings versus offshore outsourcing.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1188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11880"/>
            <a:ext cx="91440" cy="1874519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EC67"/>
                </a:solidFill>
                <a:latin typeface="Calibri"/>
              </a:rPr>
              <a:t>Digital &amp; autonomous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Unique digital and autonomous platforms to reduce headcount while improving CX.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611880"/>
            <a:ext cx="91440" cy="1874519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EC67"/>
                </a:solidFill>
                <a:latin typeface="Calibri"/>
              </a:rPr>
              <a:t>1,000+ FTEs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Owned and operated footprint across Cape Town and Johannesburg — never franchise.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Our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Trilogy's 20-year track record speaks to our ability to deliver results at scale — creating jobs, building infrastructure, and pioneering technology across the BPO industry.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5EC67"/>
                </a:solidFill>
                <a:latin typeface="Calibri"/>
              </a:rPr>
              <a:t>45K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Jobs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Significant positive impact on South Africa's economy and communities over 20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5EC67"/>
                </a:solidFill>
                <a:latin typeface="Calibri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Years of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060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Two decades of proven value delivery across multiple industries and geographies.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5EC67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Years in 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Developing AI, ML platforms, analytics solutions, and digital automation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5EC67"/>
                </a:solidFill>
                <a:latin typeface="Calibri"/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Blue-chip centres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617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Contact centres successfully built and launched for blue-chip companies across SA.</a:t>
            </a:r>
          </a:p>
        </p:txBody>
      </p:sp>
      <p:pic>
        <p:nvPicPr>
          <p:cNvPr id="20" name="Picture 19" descr="corp-img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005840"/>
            <a:ext cx="3352800" cy="5029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South Africa?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South Africa has consistently been ranked as the second most attractive BPO location globally. Source: McKinsey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Calibri"/>
              </a:rPr>
              <a:t>Cost efficiency meets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Calibri"/>
              </a:rPr>
              <a:t>Up to 60% lower operational costs than UK/USA markets — wage arbitrage without compromising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Calibri"/>
              </a:rPr>
              <a:t>Cape Town: the premium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Calibri"/>
              </a:rPr>
              <a:t>Leading BPO destination with rapid growth, exceptional infrastructure, and the largest skilled talent pool in the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#2 globally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Most attractive BPO location (McKinsey)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4290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GMT+2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1–2 hrs from UK · extended US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0040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4290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95%+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English proficiency with neutral accents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Top-3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Global BPO destination for three consecutive years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6177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846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Young talent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257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Educated, professional workforce ready to deliver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6177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Full CX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57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Voice, tech support, digital and advanced 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routes offshore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Companies can establish an offshore capability centre in South Africa — for any type of operation — in one of three 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5EC6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Outsourcing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Outsource to a competent and credible partner in South Africa under an outsourcing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5EC6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Captive, own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Establish a captive centre in South Africa with your own resources — full ownership, full localisation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Captive with local partner — DBOT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83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Calibri"/>
              </a:rPr>
              <a:t>Establish a captive with a local partner as a phased Design, Build, Operate and Transfer approach.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alibri"/>
              </a:rPr>
              <a:t>FOCUS OF THIS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business case — five risk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Establishing a captive offshore has clear financial benefits — and inherent risks that can destroy the value proposition. DBOT is designed to mitigate all five.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14884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14884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5EC6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Localisation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089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Labour law, equity, location, culture, protocol and contractual pitfalls.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600200"/>
            <a:ext cx="214884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600200"/>
            <a:ext cx="214884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5EC67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Financial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31089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CAPEX for infrastructure, IT, telephony, connectivity and facilities — and shortened ROI pressure.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1600200"/>
            <a:ext cx="214884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600200"/>
            <a:ext cx="214884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5EC67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1089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Defocusing management; standing up HR, finance, facilities, legal and ops IT offshore.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6" y="1600200"/>
            <a:ext cx="214884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6" y="1600200"/>
            <a:ext cx="214884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5EC67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31089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Speed to go-live, scope creep, travel, recruitment and training costs.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3768" y="1600200"/>
            <a:ext cx="2148840" cy="4023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3768" y="1600200"/>
            <a:ext cx="214884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5EC67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Ongoing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1089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Performance management, fix-it travel, transferring onshore practices to local management.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solution — DBOT hybrid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5EC67"/>
                </a:solidFill>
                <a:latin typeface="Calibri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005840"/>
            <a:ext cx="3931920" cy="5943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1155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Captive on internal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097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5EC67"/>
                </a:solidFill>
                <a:latin typeface="Calibri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0999" y="1005840"/>
            <a:ext cx="3657600" cy="594360"/>
          </a:xfrm>
          <a:prstGeom prst="roundRect">
            <a:avLst>
              <a:gd name="adj" fmla="val 8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A0A"/>
                </a:solidFill>
                <a:latin typeface="Calibri"/>
              </a:rPr>
              <a:t>DBOT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DBOT — Design, Build, Operate and Transfer — is a phased turnkey approach with a highly qualified team of internal and local experts, mitigating captive risk while keeping a path to ownership.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0604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2743200" cy="7772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Due diligence, gap analysis, solution design, implementation, change and project plans.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60604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2606040"/>
            <a:ext cx="2743200" cy="7772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Calibr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11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Total solution implemented at the location of choice, governed by a project team.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60604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606040"/>
            <a:ext cx="2743200" cy="7772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Calibri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611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Full operational strategy run for a defined period to stabilise operations.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260604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2606040"/>
            <a:ext cx="2743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697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Calibri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Calibri"/>
              </a:rPr>
              <a:t>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611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Operations, technology, facilities, people, knowledge and IP transferred to you.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Implementation — phase by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2743200" cy="914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Comprehensive due diligence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Local practices gap analysis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Optimal solution design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Implementation &amp; change plans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Project management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0584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005840"/>
            <a:ext cx="2743200" cy="914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Site &amp; IT build-out (turnkey)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Agent lifecycle framework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Recruitment, training, incubation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Workforce optimisation &amp; QA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Go-live readiness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00584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05840"/>
            <a:ext cx="2743200" cy="914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OPERATE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Full operational strategy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Integrated management system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KPI / SLA measurement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Governed through an MSA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Stabilise quality &amp; service 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00584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005840"/>
            <a:ext cx="2743200" cy="9144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5EC67"/>
                </a:solidFill>
                <a:latin typeface="Calibri"/>
              </a:rPr>
              <a:t>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373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People &amp; knowledge transfer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Technology, facilities &amp; IP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Flexible timing (e.g. 24/36 mo)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Optional ongoing support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•  Overflow · BC/DR · benchmarking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Business benefits — how DBOT mitigates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9844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Risk-averse localisation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0584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28016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29844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Limited CAPEX — or an option for no CAPEX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39572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Speed to offshore markets and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10312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37744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9572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Speed to the cost savings anticipated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0040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0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9300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Instant access to local admin, legal and financial resources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20040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20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49300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Instant access to local business practices and infrastructure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2976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17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59028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Mitigates labour legislation, unions and performance-management risk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2976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4572000"/>
            <a:ext cx="365760" cy="365760"/>
          </a:xfrm>
          <a:prstGeom prst="ellipse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617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A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9028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Aligned incentives — fixed management fee, not headcount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Commercial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Transparent costing by DBOT phase, plus a fixed management fee — always with a path to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EC67"/>
                </a:solidFill>
                <a:latin typeface="Calibri"/>
              </a:rPr>
              <a:t>Transparent costing + fixed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Costed openly by Design / Build / Operate / Transfer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Transfer typically at 24 or 36 months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Trilogy management fee is fixed — decoupled from headcount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You keep the savings from efficiency and automation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Assumptive model sized on seats, bodies, ratios and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CAPEX — green-field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Customer meets the CAPEX for site, equipment and facilities. Full ownership of assets from day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Calibri"/>
              </a:rPr>
              <a:t>OPEX — Trilogy rent-to-own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519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Calibri"/>
              </a:rPr>
              <a:t>Full bill of materials on a 36-month payment plan. Site, equipment and facilities are owned by the client at month 36. Chosen by a number of our GCC customers.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GCC sits in Trilogy's offerings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Three pathways to elevate CX — outsourcing, owning a GCC, or AI/digital platforms. GCC delivers the additional 20–30% beyond BPO labour arbitrage.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Offshoring BPO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5EC67"/>
                </a:solidFill>
                <a:latin typeface="Calibri"/>
              </a:rPr>
              <a:t>Voice to Digital to Autonomous 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Outsource to Trilogy in South Africa with modern platforms ready — just add humans.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3611880" cy="82296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alibri"/>
              </a:rPr>
              <a:t>40–60% saving vs captive UK / outsourced UK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Global Capability Centres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5EC67"/>
                </a:solidFill>
                <a:latin typeface="Calibri"/>
              </a:rPr>
              <a:t>Design, Build, Operate &amp;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7180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Build your own capability centre with Trilogy's DBOT methodology and local expertise.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892040"/>
            <a:ext cx="3611880" cy="82296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alibri"/>
              </a:rPr>
              <a:t>Additional 20–30% vs outsourced SA BPO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5448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83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AI &amp; Digital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5EC67"/>
                </a:solidFill>
                <a:latin typeface="Calibri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7180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Award-winning AI-enabled digital and autonomous platforms for service, sales and collections.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4892040"/>
            <a:ext cx="3611880" cy="82296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502920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0A0A"/>
                </a:solidFill>
                <a:latin typeface="Calibri"/>
              </a:rPr>
              <a:t>Further savings through digital &amp; AI deflection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Case study — Aegis South Africa (now Startek)</a:t>
            </a:r>
          </a:p>
        </p:txBody>
      </p:sp>
      <p:pic>
        <p:nvPicPr>
          <p:cNvPr id="7" name="Picture 6" descr="dbit-case-aeg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Designed, built and operated in two SA locations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Grew by 2,500 seats within 5 years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EBITDA of over 15%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Brand still operating successfully as Startek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Proof that DBOT can scale a lasting in-country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Case study — Ascensos</a:t>
            </a:r>
          </a:p>
        </p:txBody>
      </p:sp>
      <p:pic>
        <p:nvPicPr>
          <p:cNvPr id="7" name="Picture 6" descr="dbit-case-ascen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First 100 FTEs live in Cape Town within six weeks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1,500 seats over 3 years across 4 locations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$6M+ in government incentives secured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Designed and built a centre of excellence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Operated 2–4 years, then handed over a world-class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7472"/>
            <a:ext cx="73152" cy="34747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South African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Every site is Trilogy owned or leased and operated directly — never via franchise or affiliate. Your operation fits seamlessly into our current Cape Town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74320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Century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Cape Town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300 seats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645920"/>
            <a:ext cx="274320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Head Office — Pinelands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Cape Town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1,500 seats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45920"/>
            <a:ext cx="274320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Newtown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Johannesburg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400 seats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4592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22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645920"/>
            <a:ext cx="2743200" cy="109728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Rosebank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8B4"/>
                </a:solidFill>
                <a:latin typeface="Calibri"/>
              </a:rPr>
              <a:t>Johannesburg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5EC67"/>
                </a:solidFill>
                <a:latin typeface="Calibri"/>
              </a:rPr>
              <a:t>250 seats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B8B4"/>
                </a:solidFill>
                <a:latin typeface="Calibri"/>
              </a:rPr>
              <a:t>Trilogy GCC  ·  Commercial-in-confidence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215" y="6419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4"/>
                </a:solidFill>
                <a:latin typeface="Calibri"/>
              </a:rPr>
              <a:t>proposal.trilogybpo.com/GCC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2339163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Let's build your GCC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C67"/>
                </a:solidFill>
                <a:latin typeface="Calibri"/>
              </a:rPr>
              <a:t>Design, Build, Operate, Transfer — from South Africa for UK, US and global brands.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sales@trilogybpo.com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8B4"/>
                </a:solidFill>
                <a:latin typeface="Calibri"/>
              </a:rPr>
              <a:t>trilogybpo.com   ·   proposal.trilogybpo.com/GCC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B8B4"/>
                </a:solidFill>
                <a:latin typeface="Calibri"/>
              </a:rPr>
              <a:t>Trilogy CX (Pty) Ltd  ·  Commercial-in-confidence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