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202D"/>
                </a:solidFill>
                <a:latin typeface="Calibri"/>
              </a:rPr>
              <a:t>Why South Africa?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  <a:latin typeface="Calibri"/>
              </a:rPr>
              <a:t>South Africa has consistently been ranked the second most attractive Business Process Outsourcing location globally, after consecutive years of high performance. Source: McKinsey.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83112" cy="484632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856232"/>
            <a:ext cx="5234940" cy="1965960"/>
          </a:xfrm>
          <a:prstGeom prst="roundRect">
            <a:avLst>
              <a:gd name="adj" fmla="val 8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039112"/>
            <a:ext cx="47777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724912"/>
            <a:ext cx="47777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Cost efficiency meets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090672"/>
            <a:ext cx="47777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Up to 60% lower operational costs than UK and USA markets, substantial wage arbitrage without compromising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856232"/>
            <a:ext cx="5234940" cy="196596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9380" y="2039112"/>
            <a:ext cx="47777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71E56E"/>
                </a:solidFill>
                <a:latin typeface="Calibri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9380" y="2724912"/>
            <a:ext cx="47777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Cape Town: the premium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3090672"/>
            <a:ext cx="47777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The leading BPO destination, with rapid growth, exceptional infrastructure and the largest skilled talent pool in the region.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4023360"/>
            <a:ext cx="2516886" cy="214884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251960"/>
            <a:ext cx="21968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Industry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937760"/>
            <a:ext cx="219684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Ranked a top-three global BPO destination for three consecutive years by leading industry analysts.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7006" y="4023360"/>
            <a:ext cx="2516886" cy="214884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9886" y="4251960"/>
            <a:ext cx="21968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Time-zone synergy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9886" y="4937760"/>
            <a:ext cx="219684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GMT+2 alignment, a 1 to 2 hour difference with the UK and extended USA coverage.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4023360"/>
            <a:ext cx="2516886" cy="214884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251960"/>
            <a:ext cx="21968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Quality talent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4937760"/>
            <a:ext cx="219684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A young, educated and highly professional workforce ready to deliver exceptional customer experiences.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3114" y="4023360"/>
            <a:ext cx="2516886" cy="214884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4251960"/>
            <a:ext cx="21968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Language &amp; cultural excellence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4937760"/>
            <a:ext cx="219684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Over 95% workforce proficiency in English with neutral accents that resonate with Western consumers.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