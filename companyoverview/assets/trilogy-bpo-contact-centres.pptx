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entation.xml" ContentType="application/vnd.openxmlformats-officedocument.presentationml.presentation.main+xml"/>
  <Override PartName="/ppt/notesSlides/notesSlide6.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7.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145706628" r:id="rId2"/>
    <p:sldId id="259" r:id="rId3"/>
    <p:sldId id="261" r:id="rId4"/>
    <p:sldId id="2145706630" r:id="rId5"/>
    <p:sldId id="262" r:id="rId6"/>
    <p:sldId id="263" r:id="rId7"/>
    <p:sldId id="2145706639" r:id="rId8"/>
    <p:sldId id="214570664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92"/>
  </p:normalViewPr>
  <p:slideViewPr>
    <p:cSldViewPr snapToGrid="0">
      <p:cViewPr varScale="1">
        <p:scale>
          <a:sx n="110" d="100"/>
          <a:sy n="110" d="100"/>
        </p:scale>
        <p:origin x="72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FADFC-B366-8B45-9CCE-23B7E35DCD82}" type="datetimeFigureOut">
              <a:rPr lang="en-GB" smtClean="0"/>
              <a:t>04/09/2026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EF32AB-420C-7A4B-B91A-EC022B90ADF7}" type="slidenum">
              <a:rPr lang="en-GB" smtClean="0"/>
              <a:t>‹#›</a:t>
            </a:fld>
            <a:endParaRPr lang="en-GB"/>
          </a:p>
        </p:txBody>
      </p:sp>
    </p:spTree>
    <p:extLst>
      <p:ext uri="{BB962C8B-B14F-4D97-AF65-F5344CB8AC3E}">
        <p14:creationId xmlns:p14="http://schemas.microsoft.com/office/powerpoint/2010/main" val="3695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E9DAE-15A6-B4A2-8606-F50DE7AB883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491138F2-7638-556C-2E78-7B90D3E802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C146B5B6-6E1B-1431-17D7-40D0052CFF38}"/>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5" name="Footer Placeholder 4">
            <a:extLst>
              <a:ext uri="{FF2B5EF4-FFF2-40B4-BE49-F238E27FC236}">
                <a16:creationId xmlns:a16="http://schemas.microsoft.com/office/drawing/2014/main" id="{5B7A3B69-90FB-057D-765D-4A9A96C695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FA3B87-4106-A6A3-AADA-5B492521DD86}"/>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2831393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2D510-D730-9DB2-6AAA-A6F619D6FE3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FBACF6F-05C7-311C-545C-457B9B8FCAD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2E9F966-B1ED-FAD9-E1B9-6BB3669B407A}"/>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5" name="Footer Placeholder 4">
            <a:extLst>
              <a:ext uri="{FF2B5EF4-FFF2-40B4-BE49-F238E27FC236}">
                <a16:creationId xmlns:a16="http://schemas.microsoft.com/office/drawing/2014/main" id="{5C6D28E3-0C09-F92D-76FD-8362786FDD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707F97-386F-4C95-69A7-7ED42F170515}"/>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805968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B54E1-8F80-47EE-CB64-B4E06D3C95E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CD041E8-B2E0-28A8-FECA-F335001E78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94280CD-2856-568E-B85C-434E7A56956B}"/>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5" name="Footer Placeholder 4">
            <a:extLst>
              <a:ext uri="{FF2B5EF4-FFF2-40B4-BE49-F238E27FC236}">
                <a16:creationId xmlns:a16="http://schemas.microsoft.com/office/drawing/2014/main" id="{D78C6158-8706-41AC-471C-FF4D8CC785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641D06-B3EF-0B0E-7C17-9B47029386BE}"/>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2207317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2C36-365E-D2A4-0EC1-8C28DFA47EC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41BD2E1-9D91-9904-2C0E-8F7B55A8841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7496FBD-6233-862E-C9F9-B5A9BA64538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2EF95CFD-956D-48BB-C116-894DDC47F2D8}"/>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6" name="Footer Placeholder 5">
            <a:extLst>
              <a:ext uri="{FF2B5EF4-FFF2-40B4-BE49-F238E27FC236}">
                <a16:creationId xmlns:a16="http://schemas.microsoft.com/office/drawing/2014/main" id="{9AC000A4-CD88-D070-8594-FBE94202260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F501208-A061-768D-641C-0AF2B8F2B45F}"/>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314643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53005-9F3E-C0C2-2AA5-AC6A1885AEC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27A3BA65-9FFA-9516-253C-00D58F3DA4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2E7C62-D375-DF4E-BE46-5F082EDFDF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3A7D7991-4A6F-5111-E975-1D1AADBD28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BF7B81C-10D1-73E8-74DD-077EC3592EE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BDF7AA76-C6F7-3D04-914D-E923D9BE8BA1}"/>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8" name="Footer Placeholder 7">
            <a:extLst>
              <a:ext uri="{FF2B5EF4-FFF2-40B4-BE49-F238E27FC236}">
                <a16:creationId xmlns:a16="http://schemas.microsoft.com/office/drawing/2014/main" id="{161C06BC-DA5F-6DE1-F0BF-96E7C55BE5C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05A0235-9265-9B6A-4D28-008F8DB93B7C}"/>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993543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FB5C-17DD-43AC-7AD2-46BD4420BAB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E2872EB-11F6-FEF8-320A-61064C1B7FEE}"/>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4" name="Footer Placeholder 3">
            <a:extLst>
              <a:ext uri="{FF2B5EF4-FFF2-40B4-BE49-F238E27FC236}">
                <a16:creationId xmlns:a16="http://schemas.microsoft.com/office/drawing/2014/main" id="{4AFD43DB-1F63-E1AD-2708-21E0DE5818F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0F98BB4-863B-4A2C-4BAA-CB166C84F236}"/>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1079490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728E0D-BFE5-DEBA-FAB7-6EAE18D76C95}"/>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3" name="Footer Placeholder 2">
            <a:extLst>
              <a:ext uri="{FF2B5EF4-FFF2-40B4-BE49-F238E27FC236}">
                <a16:creationId xmlns:a16="http://schemas.microsoft.com/office/drawing/2014/main" id="{A1DAF1AD-E8A3-158F-E31E-06D8E1ECFDF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D84582E-8B76-A4A4-4C49-2F02646AF245}"/>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1246246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C2C6-5533-49F2-1F25-0489A51015A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9F5C9C73-0451-2FB9-6BF7-6D1BB20FDD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D5B12D6D-A826-E93C-150B-0CA5B71240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D8B70E-6932-5A45-5B72-FC1A4DD5287F}"/>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6" name="Footer Placeholder 5">
            <a:extLst>
              <a:ext uri="{FF2B5EF4-FFF2-40B4-BE49-F238E27FC236}">
                <a16:creationId xmlns:a16="http://schemas.microsoft.com/office/drawing/2014/main" id="{BB6CCFE8-6748-CC96-945B-1382038CD5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EC295F4-7224-DED4-8E31-82D20B5C551E}"/>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3498211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91417-E5C1-4072-4ADD-5D80074D1E0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213B4AC7-333F-88FE-AA9F-2E6B34A665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3AC62BA-E37B-522C-E355-9FE7CCFADF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233DC8E-D81C-A080-6A82-05CEF8F97A97}"/>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6" name="Footer Placeholder 5">
            <a:extLst>
              <a:ext uri="{FF2B5EF4-FFF2-40B4-BE49-F238E27FC236}">
                <a16:creationId xmlns:a16="http://schemas.microsoft.com/office/drawing/2014/main" id="{C5572A7E-4166-8D21-5316-126AA67A144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CDF22F-7F11-9141-797F-B63848A6A51E}"/>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2302647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B690-CFD1-2919-126C-5E9AC8DA77A0}"/>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AB7B156-4E9A-DA08-3002-F4B37D067DD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4A0B9F7-94C8-D5F5-F13C-44FBC207C51B}"/>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5" name="Footer Placeholder 4">
            <a:extLst>
              <a:ext uri="{FF2B5EF4-FFF2-40B4-BE49-F238E27FC236}">
                <a16:creationId xmlns:a16="http://schemas.microsoft.com/office/drawing/2014/main" id="{04A9BCC9-FE20-78C3-9599-3D4C0E6B3D9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B1C146D-DDD8-E952-6B8C-8B87219B954D}"/>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1409056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E7ED7E-5753-778F-1FA9-7B8E4CC622E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FF211B9C-5F60-69EE-728E-B801E2B991F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BF26D0F-260E-C90B-7B36-5C99518FDB6A}"/>
              </a:ext>
            </a:extLst>
          </p:cNvPr>
          <p:cNvSpPr>
            <a:spLocks noGrp="1"/>
          </p:cNvSpPr>
          <p:nvPr>
            <p:ph type="dt" sz="half" idx="10"/>
          </p:nvPr>
        </p:nvSpPr>
        <p:spPr/>
        <p:txBody>
          <a:bodyPr/>
          <a:lstStyle/>
          <a:p>
            <a:fld id="{A90CF12A-9070-4A49-9E18-B4C613D04203}" type="datetimeFigureOut">
              <a:rPr lang="en-GB" smtClean="0"/>
              <a:t>04/09/2026</a:t>
            </a:fld>
            <a:endParaRPr lang="en-GB"/>
          </a:p>
        </p:txBody>
      </p:sp>
      <p:sp>
        <p:nvSpPr>
          <p:cNvPr id="5" name="Footer Placeholder 4">
            <a:extLst>
              <a:ext uri="{FF2B5EF4-FFF2-40B4-BE49-F238E27FC236}">
                <a16:creationId xmlns:a16="http://schemas.microsoft.com/office/drawing/2014/main" id="{259F526E-B74D-B98F-4CC2-B9709B3674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0197433-DF2D-0E9A-1940-40F1B1E780A0}"/>
              </a:ext>
            </a:extLst>
          </p:cNvPr>
          <p:cNvSpPr>
            <a:spLocks noGrp="1"/>
          </p:cNvSpPr>
          <p:nvPr>
            <p:ph type="sldNum" sz="quarter" idx="12"/>
          </p:nvPr>
        </p:nvSpPr>
        <p:spPr/>
        <p:txBody>
          <a:bodyPr/>
          <a:lstStyle/>
          <a:p>
            <a:fld id="{DF3ED214-44BF-AC4E-9E16-B0DBB471C3A0}" type="slidenum">
              <a:rPr lang="en-GB" smtClean="0"/>
              <a:t>‹#›</a:t>
            </a:fld>
            <a:endParaRPr lang="en-GB"/>
          </a:p>
        </p:txBody>
      </p:sp>
    </p:spTree>
    <p:extLst>
      <p:ext uri="{BB962C8B-B14F-4D97-AF65-F5344CB8AC3E}">
        <p14:creationId xmlns:p14="http://schemas.microsoft.com/office/powerpoint/2010/main" val="1644785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10303"/>
          </a:solidFill>
          <a:ln/>
        </p:spPr>
        <p:txBody>
          <a:bodyPr/>
          <a:lstStyle/>
          <a:p>
            <a:endParaRPr lang="en-GB" sz="1500"/>
          </a:p>
        </p:txBody>
      </p:sp>
      <p:sp>
        <p:nvSpPr>
          <p:cNvPr id="3" name="Shape 1"/>
          <p:cNvSpPr/>
          <p:nvPr/>
        </p:nvSpPr>
        <p:spPr>
          <a:xfrm>
            <a:off x="0" y="0"/>
            <a:ext cx="12192000" cy="6858000"/>
          </a:xfrm>
          <a:prstGeom prst="rect">
            <a:avLst/>
          </a:prstGeom>
          <a:solidFill>
            <a:srgbClr val="212121"/>
          </a:solidFill>
          <a:ln/>
        </p:spPr>
        <p:txBody>
          <a:bodyPr/>
          <a:lstStyle/>
          <a:p>
            <a:endParaRPr lang="en-GB" sz="1500"/>
          </a:p>
        </p:txBody>
      </p:sp>
      <p:sp>
        <p:nvSpPr>
          <p:cNvPr id="8" name="Isosceles Triangle 7">
            <a:hlinkClick r:id="rId2" action="ppaction://hlinksldjump"/>
            <a:extLst>
              <a:ext uri="{FF2B5EF4-FFF2-40B4-BE49-F238E27FC236}">
                <a16:creationId xmlns:a16="http://schemas.microsoft.com/office/drawing/2014/main" id="{5C786833-4DD7-AF5F-5778-E5926456E3B5}"/>
              </a:ext>
            </a:extLst>
          </p:cNvPr>
          <p:cNvSpPr/>
          <p:nvPr userDrawn="1"/>
        </p:nvSpPr>
        <p:spPr>
          <a:xfrm>
            <a:off x="11725932" y="6274558"/>
            <a:ext cx="436183" cy="583443"/>
          </a:xfrm>
          <a:prstGeom prst="triangle">
            <a:avLst>
              <a:gd name="adj" fmla="val 10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26">
              <a:latin typeface="Montserrat" pitchFamily="2" charset="77"/>
            </a:endParaRPr>
          </a:p>
        </p:txBody>
      </p:sp>
      <p:sp>
        <p:nvSpPr>
          <p:cNvPr id="9" name="TextBox 8">
            <a:extLst>
              <a:ext uri="{FF2B5EF4-FFF2-40B4-BE49-F238E27FC236}">
                <a16:creationId xmlns:a16="http://schemas.microsoft.com/office/drawing/2014/main" id="{906D20B3-E9BC-16EF-8A7C-01FB1B654662}"/>
              </a:ext>
            </a:extLst>
          </p:cNvPr>
          <p:cNvSpPr txBox="1"/>
          <p:nvPr userDrawn="1"/>
        </p:nvSpPr>
        <p:spPr>
          <a:xfrm>
            <a:off x="11833413" y="6558851"/>
            <a:ext cx="358588" cy="211917"/>
          </a:xfrm>
          <a:prstGeom prst="rect">
            <a:avLst/>
          </a:prstGeom>
          <a:noFill/>
        </p:spPr>
        <p:txBody>
          <a:bodyPr wrap="square" rtlCol="0">
            <a:spAutoFit/>
          </a:bodyPr>
          <a:lstStyle/>
          <a:p>
            <a:pPr algn="ctr"/>
            <a:fld id="{258A1A56-B998-1047-BDA9-30E495893678}" type="slidenum">
              <a:rPr lang="en-US" sz="777" b="0" i="0" smtClean="0">
                <a:solidFill>
                  <a:schemeClr val="bg1"/>
                </a:solidFill>
                <a:latin typeface="Montserrat" pitchFamily="2" charset="77"/>
              </a:rPr>
              <a:pPr algn="ctr"/>
              <a:t>‹#›</a:t>
            </a:fld>
            <a:endParaRPr lang="en-US" sz="777" b="0" i="0">
              <a:solidFill>
                <a:schemeClr val="bg1"/>
              </a:solidFill>
              <a:latin typeface="Montserrat" pitchFamily="2" charset="77"/>
            </a:endParaRPr>
          </a:p>
        </p:txBody>
      </p:sp>
    </p:spTree>
    <p:extLst>
      <p:ext uri="{BB962C8B-B14F-4D97-AF65-F5344CB8AC3E}">
        <p14:creationId xmlns:p14="http://schemas.microsoft.com/office/powerpoint/2010/main" val="3063916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10303"/>
          </a:solidFill>
          <a:ln/>
        </p:spPr>
        <p:txBody>
          <a:bodyPr/>
          <a:lstStyle/>
          <a:p>
            <a:endParaRPr lang="en-GB" sz="1500"/>
          </a:p>
        </p:txBody>
      </p:sp>
      <p:sp>
        <p:nvSpPr>
          <p:cNvPr id="3" name="Shape 1"/>
          <p:cNvSpPr/>
          <p:nvPr/>
        </p:nvSpPr>
        <p:spPr>
          <a:xfrm>
            <a:off x="0" y="0"/>
            <a:ext cx="12192000" cy="6858000"/>
          </a:xfrm>
          <a:prstGeom prst="rect">
            <a:avLst/>
          </a:prstGeom>
          <a:solidFill>
            <a:srgbClr val="212121"/>
          </a:solidFill>
          <a:ln/>
        </p:spPr>
        <p:txBody>
          <a:bodyPr/>
          <a:lstStyle/>
          <a:p>
            <a:endParaRPr lang="en-GB" sz="1500"/>
          </a:p>
        </p:txBody>
      </p:sp>
      <p:sp>
        <p:nvSpPr>
          <p:cNvPr id="4" name="Isosceles Triangle 7">
            <a:hlinkClick r:id="rId2" action="ppaction://hlinksldjump"/>
            <a:extLst>
              <a:ext uri="{FF2B5EF4-FFF2-40B4-BE49-F238E27FC236}">
                <a16:creationId xmlns:a16="http://schemas.microsoft.com/office/drawing/2014/main" id="{F08FB682-020E-36E7-784B-D50242D170A9}"/>
              </a:ext>
            </a:extLst>
          </p:cNvPr>
          <p:cNvSpPr/>
          <p:nvPr userDrawn="1"/>
        </p:nvSpPr>
        <p:spPr>
          <a:xfrm>
            <a:off x="11725932" y="6274558"/>
            <a:ext cx="436183" cy="583443"/>
          </a:xfrm>
          <a:prstGeom prst="triangle">
            <a:avLst>
              <a:gd name="adj" fmla="val 10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26">
              <a:latin typeface="Montserrat" pitchFamily="2" charset="77"/>
            </a:endParaRPr>
          </a:p>
        </p:txBody>
      </p:sp>
      <p:sp>
        <p:nvSpPr>
          <p:cNvPr id="5" name="TextBox 4">
            <a:extLst>
              <a:ext uri="{FF2B5EF4-FFF2-40B4-BE49-F238E27FC236}">
                <a16:creationId xmlns:a16="http://schemas.microsoft.com/office/drawing/2014/main" id="{B97783FA-CF1B-9F27-C5CC-527825AC47ED}"/>
              </a:ext>
            </a:extLst>
          </p:cNvPr>
          <p:cNvSpPr txBox="1"/>
          <p:nvPr userDrawn="1"/>
        </p:nvSpPr>
        <p:spPr>
          <a:xfrm>
            <a:off x="11833413" y="6558851"/>
            <a:ext cx="358588" cy="211917"/>
          </a:xfrm>
          <a:prstGeom prst="rect">
            <a:avLst/>
          </a:prstGeom>
          <a:noFill/>
        </p:spPr>
        <p:txBody>
          <a:bodyPr wrap="square" rtlCol="0">
            <a:spAutoFit/>
          </a:bodyPr>
          <a:lstStyle/>
          <a:p>
            <a:pPr algn="ctr"/>
            <a:fld id="{258A1A56-B998-1047-BDA9-30E495893678}" type="slidenum">
              <a:rPr lang="en-US" sz="777" b="0" i="0" smtClean="0">
                <a:solidFill>
                  <a:schemeClr val="bg1"/>
                </a:solidFill>
                <a:latin typeface="Montserrat" pitchFamily="2" charset="77"/>
              </a:rPr>
              <a:pPr algn="ctr"/>
              <a:t>‹#›</a:t>
            </a:fld>
            <a:endParaRPr lang="en-US" sz="777" b="0" i="0">
              <a:solidFill>
                <a:schemeClr val="bg1"/>
              </a:solidFill>
              <a:latin typeface="Montserrat" pitchFamily="2" charset="77"/>
            </a:endParaRPr>
          </a:p>
        </p:txBody>
      </p:sp>
    </p:spTree>
    <p:extLst>
      <p:ext uri="{BB962C8B-B14F-4D97-AF65-F5344CB8AC3E}">
        <p14:creationId xmlns:p14="http://schemas.microsoft.com/office/powerpoint/2010/main" val="19401074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10303"/>
          </a:solidFill>
          <a:ln/>
        </p:spPr>
        <p:txBody>
          <a:bodyPr/>
          <a:lstStyle/>
          <a:p>
            <a:endParaRPr lang="en-GB" sz="1500"/>
          </a:p>
        </p:txBody>
      </p:sp>
      <p:sp>
        <p:nvSpPr>
          <p:cNvPr id="3" name="Shape 1"/>
          <p:cNvSpPr/>
          <p:nvPr/>
        </p:nvSpPr>
        <p:spPr>
          <a:xfrm>
            <a:off x="0" y="0"/>
            <a:ext cx="12192000" cy="6858000"/>
          </a:xfrm>
          <a:prstGeom prst="rect">
            <a:avLst/>
          </a:prstGeom>
          <a:solidFill>
            <a:srgbClr val="212121"/>
          </a:solidFill>
          <a:ln/>
        </p:spPr>
        <p:txBody>
          <a:bodyPr/>
          <a:lstStyle/>
          <a:p>
            <a:endParaRPr lang="en-GB" sz="1500"/>
          </a:p>
        </p:txBody>
      </p:sp>
      <p:sp>
        <p:nvSpPr>
          <p:cNvPr id="4" name="Isosceles Triangle 7">
            <a:hlinkClick r:id="rId2" action="ppaction://hlinksldjump"/>
            <a:extLst>
              <a:ext uri="{FF2B5EF4-FFF2-40B4-BE49-F238E27FC236}">
                <a16:creationId xmlns:a16="http://schemas.microsoft.com/office/drawing/2014/main" id="{3E626ECF-143A-5D36-3EE8-F2D5AAEBCC7F}"/>
              </a:ext>
            </a:extLst>
          </p:cNvPr>
          <p:cNvSpPr/>
          <p:nvPr userDrawn="1"/>
        </p:nvSpPr>
        <p:spPr>
          <a:xfrm>
            <a:off x="11725932" y="6274558"/>
            <a:ext cx="436183" cy="583443"/>
          </a:xfrm>
          <a:prstGeom prst="triangle">
            <a:avLst>
              <a:gd name="adj" fmla="val 10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26">
              <a:latin typeface="Montserrat" pitchFamily="2" charset="77"/>
            </a:endParaRPr>
          </a:p>
        </p:txBody>
      </p:sp>
      <p:sp>
        <p:nvSpPr>
          <p:cNvPr id="5" name="TextBox 4">
            <a:extLst>
              <a:ext uri="{FF2B5EF4-FFF2-40B4-BE49-F238E27FC236}">
                <a16:creationId xmlns:a16="http://schemas.microsoft.com/office/drawing/2014/main" id="{B3620789-3CCC-5792-B945-E4E6615876C7}"/>
              </a:ext>
            </a:extLst>
          </p:cNvPr>
          <p:cNvSpPr txBox="1"/>
          <p:nvPr userDrawn="1"/>
        </p:nvSpPr>
        <p:spPr>
          <a:xfrm>
            <a:off x="11833413" y="6558851"/>
            <a:ext cx="358588" cy="211917"/>
          </a:xfrm>
          <a:prstGeom prst="rect">
            <a:avLst/>
          </a:prstGeom>
          <a:noFill/>
        </p:spPr>
        <p:txBody>
          <a:bodyPr wrap="square" rtlCol="0">
            <a:spAutoFit/>
          </a:bodyPr>
          <a:lstStyle/>
          <a:p>
            <a:pPr algn="ctr"/>
            <a:fld id="{258A1A56-B998-1047-BDA9-30E495893678}" type="slidenum">
              <a:rPr lang="en-US" sz="777" b="0" i="0" smtClean="0">
                <a:solidFill>
                  <a:schemeClr val="bg1"/>
                </a:solidFill>
                <a:latin typeface="Montserrat" pitchFamily="2" charset="77"/>
              </a:rPr>
              <a:pPr algn="ctr"/>
              <a:t>‹#›</a:t>
            </a:fld>
            <a:endParaRPr lang="en-US" sz="777" b="0" i="0">
              <a:solidFill>
                <a:schemeClr val="bg1"/>
              </a:solidFill>
              <a:latin typeface="Montserrat" pitchFamily="2" charset="77"/>
            </a:endParaRPr>
          </a:p>
        </p:txBody>
      </p:sp>
    </p:spTree>
    <p:extLst>
      <p:ext uri="{BB962C8B-B14F-4D97-AF65-F5344CB8AC3E}">
        <p14:creationId xmlns:p14="http://schemas.microsoft.com/office/powerpoint/2010/main" val="326645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10303"/>
          </a:solidFill>
          <a:ln/>
        </p:spPr>
        <p:txBody>
          <a:bodyPr/>
          <a:lstStyle/>
          <a:p>
            <a:endParaRPr lang="en-GB" sz="1500"/>
          </a:p>
        </p:txBody>
      </p:sp>
      <p:sp>
        <p:nvSpPr>
          <p:cNvPr id="3" name="Shape 1"/>
          <p:cNvSpPr/>
          <p:nvPr/>
        </p:nvSpPr>
        <p:spPr>
          <a:xfrm>
            <a:off x="0" y="0"/>
            <a:ext cx="12192000" cy="6858000"/>
          </a:xfrm>
          <a:prstGeom prst="rect">
            <a:avLst/>
          </a:prstGeom>
          <a:solidFill>
            <a:srgbClr val="212121"/>
          </a:solidFill>
          <a:ln/>
        </p:spPr>
        <p:txBody>
          <a:bodyPr/>
          <a:lstStyle/>
          <a:p>
            <a:endParaRPr lang="en-GB" sz="1500"/>
          </a:p>
        </p:txBody>
      </p:sp>
      <p:sp>
        <p:nvSpPr>
          <p:cNvPr id="4" name="Isosceles Triangle 7">
            <a:hlinkClick r:id="rId2" action="ppaction://hlinksldjump"/>
            <a:extLst>
              <a:ext uri="{FF2B5EF4-FFF2-40B4-BE49-F238E27FC236}">
                <a16:creationId xmlns:a16="http://schemas.microsoft.com/office/drawing/2014/main" id="{81D0C8CC-AA26-7F32-4993-EC827BB0CA33}"/>
              </a:ext>
            </a:extLst>
          </p:cNvPr>
          <p:cNvSpPr/>
          <p:nvPr userDrawn="1"/>
        </p:nvSpPr>
        <p:spPr>
          <a:xfrm>
            <a:off x="11725932" y="6274558"/>
            <a:ext cx="436183" cy="583443"/>
          </a:xfrm>
          <a:prstGeom prst="triangle">
            <a:avLst>
              <a:gd name="adj" fmla="val 10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26">
              <a:latin typeface="Montserrat" pitchFamily="2" charset="77"/>
            </a:endParaRPr>
          </a:p>
        </p:txBody>
      </p:sp>
      <p:sp>
        <p:nvSpPr>
          <p:cNvPr id="5" name="TextBox 4">
            <a:extLst>
              <a:ext uri="{FF2B5EF4-FFF2-40B4-BE49-F238E27FC236}">
                <a16:creationId xmlns:a16="http://schemas.microsoft.com/office/drawing/2014/main" id="{EB0E50FA-E3DB-8CC0-4E4F-CB965F4977F4}"/>
              </a:ext>
            </a:extLst>
          </p:cNvPr>
          <p:cNvSpPr txBox="1"/>
          <p:nvPr userDrawn="1"/>
        </p:nvSpPr>
        <p:spPr>
          <a:xfrm>
            <a:off x="11833413" y="6558851"/>
            <a:ext cx="358588" cy="211917"/>
          </a:xfrm>
          <a:prstGeom prst="rect">
            <a:avLst/>
          </a:prstGeom>
          <a:noFill/>
        </p:spPr>
        <p:txBody>
          <a:bodyPr wrap="square" rtlCol="0">
            <a:spAutoFit/>
          </a:bodyPr>
          <a:lstStyle/>
          <a:p>
            <a:pPr algn="ctr"/>
            <a:fld id="{258A1A56-B998-1047-BDA9-30E495893678}" type="slidenum">
              <a:rPr lang="en-US" sz="777" b="0" i="0" smtClean="0">
                <a:solidFill>
                  <a:schemeClr val="bg1"/>
                </a:solidFill>
                <a:latin typeface="Montserrat" pitchFamily="2" charset="77"/>
              </a:rPr>
              <a:pPr algn="ctr"/>
              <a:t>‹#›</a:t>
            </a:fld>
            <a:endParaRPr lang="en-US" sz="777" b="0" i="0">
              <a:solidFill>
                <a:schemeClr val="bg1"/>
              </a:solidFill>
              <a:latin typeface="Montserrat" pitchFamily="2" charset="77"/>
            </a:endParaRPr>
          </a:p>
        </p:txBody>
      </p:sp>
    </p:spTree>
    <p:extLst>
      <p:ext uri="{BB962C8B-B14F-4D97-AF65-F5344CB8AC3E}">
        <p14:creationId xmlns:p14="http://schemas.microsoft.com/office/powerpoint/2010/main" val="2382727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10303"/>
          </a:solidFill>
          <a:ln/>
        </p:spPr>
        <p:txBody>
          <a:bodyPr/>
          <a:lstStyle/>
          <a:p>
            <a:endParaRPr lang="en-GB" sz="1500"/>
          </a:p>
        </p:txBody>
      </p:sp>
      <p:sp>
        <p:nvSpPr>
          <p:cNvPr id="3" name="Shape 1"/>
          <p:cNvSpPr/>
          <p:nvPr/>
        </p:nvSpPr>
        <p:spPr>
          <a:xfrm>
            <a:off x="0" y="0"/>
            <a:ext cx="12192000" cy="6858000"/>
          </a:xfrm>
          <a:prstGeom prst="rect">
            <a:avLst/>
          </a:prstGeom>
          <a:solidFill>
            <a:srgbClr val="212121"/>
          </a:solidFill>
          <a:ln/>
        </p:spPr>
        <p:txBody>
          <a:bodyPr/>
          <a:lstStyle/>
          <a:p>
            <a:endParaRPr lang="en-GB" sz="1500"/>
          </a:p>
        </p:txBody>
      </p:sp>
      <p:sp>
        <p:nvSpPr>
          <p:cNvPr id="4" name="Isosceles Triangle 7">
            <a:hlinkClick r:id="rId2" action="ppaction://hlinksldjump"/>
            <a:extLst>
              <a:ext uri="{FF2B5EF4-FFF2-40B4-BE49-F238E27FC236}">
                <a16:creationId xmlns:a16="http://schemas.microsoft.com/office/drawing/2014/main" id="{5850EE4C-9D46-D91D-5BA2-9E669BB678FC}"/>
              </a:ext>
            </a:extLst>
          </p:cNvPr>
          <p:cNvSpPr/>
          <p:nvPr userDrawn="1"/>
        </p:nvSpPr>
        <p:spPr>
          <a:xfrm>
            <a:off x="11725932" y="6274558"/>
            <a:ext cx="436183" cy="583443"/>
          </a:xfrm>
          <a:prstGeom prst="triangle">
            <a:avLst>
              <a:gd name="adj" fmla="val 10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26">
              <a:latin typeface="Montserrat" pitchFamily="2" charset="77"/>
            </a:endParaRPr>
          </a:p>
        </p:txBody>
      </p:sp>
      <p:sp>
        <p:nvSpPr>
          <p:cNvPr id="5" name="TextBox 4">
            <a:extLst>
              <a:ext uri="{FF2B5EF4-FFF2-40B4-BE49-F238E27FC236}">
                <a16:creationId xmlns:a16="http://schemas.microsoft.com/office/drawing/2014/main" id="{F98F0FA7-3562-E633-5EA6-D0CA2BF1E076}"/>
              </a:ext>
            </a:extLst>
          </p:cNvPr>
          <p:cNvSpPr txBox="1"/>
          <p:nvPr userDrawn="1"/>
        </p:nvSpPr>
        <p:spPr>
          <a:xfrm>
            <a:off x="11833413" y="6558851"/>
            <a:ext cx="358588" cy="211917"/>
          </a:xfrm>
          <a:prstGeom prst="rect">
            <a:avLst/>
          </a:prstGeom>
          <a:noFill/>
        </p:spPr>
        <p:txBody>
          <a:bodyPr wrap="square" rtlCol="0">
            <a:spAutoFit/>
          </a:bodyPr>
          <a:lstStyle/>
          <a:p>
            <a:pPr algn="ctr"/>
            <a:fld id="{258A1A56-B998-1047-BDA9-30E495893678}" type="slidenum">
              <a:rPr lang="en-US" sz="777" b="0" i="0" smtClean="0">
                <a:solidFill>
                  <a:schemeClr val="bg1"/>
                </a:solidFill>
                <a:latin typeface="Montserrat" pitchFamily="2" charset="77"/>
              </a:rPr>
              <a:pPr algn="ctr"/>
              <a:t>‹#›</a:t>
            </a:fld>
            <a:endParaRPr lang="en-US" sz="777" b="0" i="0">
              <a:solidFill>
                <a:schemeClr val="bg1"/>
              </a:solidFill>
              <a:latin typeface="Montserrat" pitchFamily="2" charset="77"/>
            </a:endParaRPr>
          </a:p>
        </p:txBody>
      </p:sp>
    </p:spTree>
    <p:extLst>
      <p:ext uri="{BB962C8B-B14F-4D97-AF65-F5344CB8AC3E}">
        <p14:creationId xmlns:p14="http://schemas.microsoft.com/office/powerpoint/2010/main" val="2288024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DE0B7B-CAE2-4671-CDB7-4BBDD9D84B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71F53300-EBDE-F382-282F-6CE28FD882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996561B-460E-EB4C-8D23-2BB5D6C731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0CF12A-9070-4A49-9E18-B4C613D04203}" type="datetimeFigureOut">
              <a:rPr lang="en-GB" smtClean="0"/>
              <a:t>04/09/2026</a:t>
            </a:fld>
            <a:endParaRPr lang="en-GB"/>
          </a:p>
        </p:txBody>
      </p:sp>
      <p:sp>
        <p:nvSpPr>
          <p:cNvPr id="5" name="Footer Placeholder 4">
            <a:extLst>
              <a:ext uri="{FF2B5EF4-FFF2-40B4-BE49-F238E27FC236}">
                <a16:creationId xmlns:a16="http://schemas.microsoft.com/office/drawing/2014/main" id="{9E14F1EC-8BD3-6F8B-525E-44A8340DA7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B3402EC-04E7-67FD-53EA-8DFA8D8205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3ED214-44BF-AC4E-9E16-B0DBB471C3A0}" type="slidenum">
              <a:rPr lang="en-GB" smtClean="0"/>
              <a:t>‹#›</a:t>
            </a:fld>
            <a:endParaRPr lang="en-GB"/>
          </a:p>
        </p:txBody>
      </p:sp>
    </p:spTree>
    <p:extLst>
      <p:ext uri="{BB962C8B-B14F-4D97-AF65-F5344CB8AC3E}">
        <p14:creationId xmlns:p14="http://schemas.microsoft.com/office/powerpoint/2010/main" val="3905227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hyperlink" Target="https://www.mckinsey.com/capabilities/growth-marketing-and-sales/our-insights/next-best-experience-how-ai-can-power-every-customer-interaction"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5.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www.mckinsey.com/capabilities/quantumblack/our-insights/the-state-of-ai" TargetMode="External"/><Relationship Id="rId2" Type="http://schemas.openxmlformats.org/officeDocument/2006/relationships/hyperlink" Target="https://www.gartner.com/en/articles/why-most-ai-projects-fail"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000"/>
          </a:xfrm>
          <a:prstGeom prst="rect">
            <a:avLst/>
          </a:prstGeom>
        </p:spPr>
      </p:pic>
      <p:sp>
        <p:nvSpPr>
          <p:cNvPr id="3" name="Text 0"/>
          <p:cNvSpPr/>
          <p:nvPr/>
        </p:nvSpPr>
        <p:spPr>
          <a:xfrm>
            <a:off x="661492" y="1657053"/>
            <a:ext cx="6297018" cy="1771948"/>
          </a:xfrm>
          <a:prstGeom prst="rect">
            <a:avLst/>
          </a:prstGeom>
          <a:noFill/>
          <a:ln/>
        </p:spPr>
        <p:txBody>
          <a:bodyPr wrap="square" lIns="0" tIns="0" rIns="0" bIns="0" rtlCol="0" anchor="t"/>
          <a:lstStyle/>
          <a:p>
            <a:pPr>
              <a:lnSpc>
                <a:spcPts val="4625"/>
              </a:lnSpc>
            </a:pPr>
            <a:r>
              <a:rPr lang="en-US" sz="3708">
                <a:solidFill>
                  <a:srgbClr val="FFFFFF"/>
                </a:solidFill>
                <a:latin typeface="Poiret One" panose="02000000000000000000" pitchFamily="2" charset="0"/>
                <a:ea typeface="Source Sans 3" pitchFamily="34" charset="-122"/>
                <a:cs typeface="Source Sans 3" pitchFamily="34" charset="-120"/>
              </a:rPr>
              <a:t>Trilogy BPO: Accelerated CX. Decades of Expertise, Ready to Scale</a:t>
            </a:r>
            <a:endParaRPr lang="en-US" sz="3708">
              <a:latin typeface="Poiret One" panose="02000000000000000000" pitchFamily="2" charset="0"/>
            </a:endParaRPr>
          </a:p>
        </p:txBody>
      </p:sp>
      <p:sp>
        <p:nvSpPr>
          <p:cNvPr id="4" name="Text 1"/>
          <p:cNvSpPr/>
          <p:nvPr/>
        </p:nvSpPr>
        <p:spPr>
          <a:xfrm>
            <a:off x="661492" y="4057452"/>
            <a:ext cx="6297018" cy="590550"/>
          </a:xfrm>
          <a:prstGeom prst="rect">
            <a:avLst/>
          </a:prstGeom>
          <a:noFill/>
          <a:ln/>
        </p:spPr>
        <p:txBody>
          <a:bodyPr wrap="square" lIns="0" tIns="0" rIns="0" bIns="0" rtlCol="0" anchor="t"/>
          <a:lstStyle/>
          <a:p>
            <a:pPr>
              <a:lnSpc>
                <a:spcPts val="2292"/>
              </a:lnSpc>
            </a:pPr>
            <a:r>
              <a:rPr lang="en-US" sz="1833">
                <a:solidFill>
                  <a:srgbClr val="FFFFFF"/>
                </a:solidFill>
                <a:latin typeface="Montserrat" pitchFamily="2" charset="77"/>
                <a:ea typeface="Source Sans 3" pitchFamily="34" charset="-122"/>
                <a:cs typeface="Source Sans 3" pitchFamily="34" charset="-120"/>
              </a:rPr>
              <a:t>High-performance contact center operations in South Africa—just add humans.</a:t>
            </a:r>
            <a:endParaRPr lang="en-US" sz="1833">
              <a:latin typeface="Montserrat" pitchFamily="2"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61492" y="1329631"/>
            <a:ext cx="10869018" cy="714375"/>
          </a:xfrm>
          <a:prstGeom prst="rect">
            <a:avLst/>
          </a:prstGeom>
          <a:noFill/>
          <a:ln/>
        </p:spPr>
        <p:txBody>
          <a:bodyPr wrap="square" lIns="0" tIns="0" rIns="0" bIns="0" rtlCol="0" anchor="t"/>
          <a:lstStyle/>
          <a:p>
            <a:pPr>
              <a:lnSpc>
                <a:spcPts val="1875"/>
              </a:lnSpc>
            </a:pPr>
            <a:r>
              <a:rPr lang="en-US" sz="1167">
                <a:solidFill>
                  <a:srgbClr val="FFFFFF"/>
                </a:solidFill>
                <a:latin typeface="Montserrat" pitchFamily="2" charset="77"/>
                <a:ea typeface="Montserrat" pitchFamily="34" charset="-122"/>
                <a:cs typeface="Montserrat" pitchFamily="34" charset="-120"/>
              </a:rPr>
              <a:t>With over 25 years of combined experience, our leadership team has deep expertise supporting SA, UK and USA markets while helping prominent global brands successfully establish operations in South Africa. We understand the complexities of offshore expansion and bring proven methodologies to every engagement.</a:t>
            </a:r>
            <a:endParaRPr lang="en-US" sz="1167">
              <a:latin typeface="Montserrat" pitchFamily="2" charset="77"/>
            </a:endParaRPr>
          </a:p>
        </p:txBody>
      </p:sp>
      <p:sp>
        <p:nvSpPr>
          <p:cNvPr id="4" name="Shape 2"/>
          <p:cNvSpPr/>
          <p:nvPr/>
        </p:nvSpPr>
        <p:spPr>
          <a:xfrm>
            <a:off x="661492" y="2211387"/>
            <a:ext cx="3523754" cy="4079677"/>
          </a:xfrm>
          <a:prstGeom prst="roundRect">
            <a:avLst>
              <a:gd name="adj" fmla="val 634"/>
            </a:avLst>
          </a:prstGeom>
          <a:solidFill>
            <a:srgbClr val="404040"/>
          </a:solidFill>
          <a:ln/>
        </p:spPr>
        <p:txBody>
          <a:bodyPr/>
          <a:lstStyle/>
          <a:p>
            <a:endParaRPr lang="en-GB" sz="1500">
              <a:latin typeface="Montserrat" pitchFamily="2" charset="77"/>
            </a:endParaRPr>
          </a:p>
        </p:txBody>
      </p:sp>
      <p:sp>
        <p:nvSpPr>
          <p:cNvPr id="5" name="Shape 3"/>
          <p:cNvSpPr/>
          <p:nvPr/>
        </p:nvSpPr>
        <p:spPr>
          <a:xfrm>
            <a:off x="810320" y="2360216"/>
            <a:ext cx="446484" cy="446484"/>
          </a:xfrm>
          <a:prstGeom prst="roundRect">
            <a:avLst>
              <a:gd name="adj" fmla="val 17064968"/>
            </a:avLst>
          </a:prstGeom>
          <a:solidFill>
            <a:srgbClr val="4AFD0E"/>
          </a:solidFill>
          <a:ln/>
        </p:spPr>
        <p:txBody>
          <a:bodyPr/>
          <a:lstStyle/>
          <a:p>
            <a:endParaRPr lang="en-GB" sz="1500">
              <a:latin typeface="Montserrat" pitchFamily="2" charset="77"/>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3053" y="2482949"/>
            <a:ext cx="200918" cy="200918"/>
          </a:xfrm>
          <a:prstGeom prst="rect">
            <a:avLst/>
          </a:prstGeom>
        </p:spPr>
      </p:pic>
      <p:sp>
        <p:nvSpPr>
          <p:cNvPr id="7" name="Text 4"/>
          <p:cNvSpPr/>
          <p:nvPr/>
        </p:nvSpPr>
        <p:spPr>
          <a:xfrm>
            <a:off x="810320" y="2955529"/>
            <a:ext cx="1860649" cy="232469"/>
          </a:xfrm>
          <a:prstGeom prst="rect">
            <a:avLst/>
          </a:prstGeom>
          <a:noFill/>
          <a:ln/>
        </p:spPr>
        <p:txBody>
          <a:bodyPr wrap="none" lIns="0" tIns="0" rIns="0" bIns="0" rtlCol="0" anchor="t"/>
          <a:lstStyle/>
          <a:p>
            <a:pPr>
              <a:lnSpc>
                <a:spcPts val="1792"/>
              </a:lnSpc>
            </a:pPr>
            <a:r>
              <a:rPr lang="en-US" sz="1458">
                <a:solidFill>
                  <a:srgbClr val="FFFFFF"/>
                </a:solidFill>
                <a:latin typeface="Montserrat" pitchFamily="2" charset="77"/>
                <a:ea typeface="Source Sans 3" pitchFamily="34" charset="-122"/>
                <a:cs typeface="Source Sans 3" pitchFamily="34" charset="-120"/>
              </a:rPr>
              <a:t>Geographies Covered</a:t>
            </a:r>
            <a:endParaRPr lang="en-US" sz="1458">
              <a:latin typeface="Montserrat" pitchFamily="2" charset="77"/>
            </a:endParaRPr>
          </a:p>
        </p:txBody>
      </p:sp>
      <p:sp>
        <p:nvSpPr>
          <p:cNvPr id="8" name="Text 5"/>
          <p:cNvSpPr/>
          <p:nvPr/>
        </p:nvSpPr>
        <p:spPr>
          <a:xfrm>
            <a:off x="810319" y="3277294"/>
            <a:ext cx="3226098" cy="1666875"/>
          </a:xfrm>
          <a:prstGeom prst="rect">
            <a:avLst/>
          </a:prstGeom>
          <a:noFill/>
          <a:ln/>
        </p:spPr>
        <p:txBody>
          <a:bodyPr wrap="square" lIns="0" tIns="0" rIns="0" bIns="0" rtlCol="0" anchor="t"/>
          <a:lstStyle/>
          <a:p>
            <a:pPr>
              <a:lnSpc>
                <a:spcPts val="1875"/>
              </a:lnSpc>
            </a:pPr>
            <a:r>
              <a:rPr lang="en-US" sz="1167">
                <a:solidFill>
                  <a:srgbClr val="FFFFFF"/>
                </a:solidFill>
                <a:latin typeface="Montserrat" pitchFamily="2" charset="77"/>
                <a:ea typeface="Montserrat" pitchFamily="34" charset="-122"/>
                <a:cs typeface="Montserrat" pitchFamily="34" charset="-120"/>
              </a:rPr>
              <a:t>Our leadership team has over 25 years of experience supporting predominantly the UK and USA markets, helping prominent brands successfully land in South Africa. We provide seamless service delivery across time zones with native English-speaking talent.</a:t>
            </a:r>
            <a:endParaRPr lang="en-US" sz="1167">
              <a:latin typeface="Montserrat" pitchFamily="2" charset="77"/>
            </a:endParaRPr>
          </a:p>
        </p:txBody>
      </p:sp>
      <p:sp>
        <p:nvSpPr>
          <p:cNvPr id="9" name="Shape 6"/>
          <p:cNvSpPr/>
          <p:nvPr/>
        </p:nvSpPr>
        <p:spPr>
          <a:xfrm>
            <a:off x="4334074" y="2211387"/>
            <a:ext cx="3523754" cy="4079677"/>
          </a:xfrm>
          <a:prstGeom prst="roundRect">
            <a:avLst>
              <a:gd name="adj" fmla="val 634"/>
            </a:avLst>
          </a:prstGeom>
          <a:solidFill>
            <a:srgbClr val="404040"/>
          </a:solidFill>
          <a:ln/>
        </p:spPr>
        <p:txBody>
          <a:bodyPr/>
          <a:lstStyle/>
          <a:p>
            <a:endParaRPr lang="en-GB" sz="1500">
              <a:latin typeface="Montserrat" pitchFamily="2" charset="77"/>
            </a:endParaRPr>
          </a:p>
        </p:txBody>
      </p:sp>
      <p:sp>
        <p:nvSpPr>
          <p:cNvPr id="10" name="Shape 7"/>
          <p:cNvSpPr/>
          <p:nvPr/>
        </p:nvSpPr>
        <p:spPr>
          <a:xfrm>
            <a:off x="4482902" y="2360216"/>
            <a:ext cx="446484" cy="446484"/>
          </a:xfrm>
          <a:prstGeom prst="roundRect">
            <a:avLst>
              <a:gd name="adj" fmla="val 17064968"/>
            </a:avLst>
          </a:prstGeom>
          <a:solidFill>
            <a:srgbClr val="4AFD0E"/>
          </a:solidFill>
          <a:ln/>
        </p:spPr>
        <p:txBody>
          <a:bodyPr/>
          <a:lstStyle/>
          <a:p>
            <a:endParaRPr lang="en-GB" sz="1500">
              <a:latin typeface="Montserrat" pitchFamily="2" charset="77"/>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05635" y="2482949"/>
            <a:ext cx="200918" cy="200918"/>
          </a:xfrm>
          <a:prstGeom prst="rect">
            <a:avLst/>
          </a:prstGeom>
        </p:spPr>
      </p:pic>
      <p:sp>
        <p:nvSpPr>
          <p:cNvPr id="12" name="Text 8"/>
          <p:cNvSpPr/>
          <p:nvPr/>
        </p:nvSpPr>
        <p:spPr>
          <a:xfrm>
            <a:off x="4482902" y="2955529"/>
            <a:ext cx="1860649" cy="232469"/>
          </a:xfrm>
          <a:prstGeom prst="rect">
            <a:avLst/>
          </a:prstGeom>
          <a:noFill/>
          <a:ln/>
        </p:spPr>
        <p:txBody>
          <a:bodyPr wrap="none" lIns="0" tIns="0" rIns="0" bIns="0" rtlCol="0" anchor="t"/>
          <a:lstStyle/>
          <a:p>
            <a:pPr>
              <a:lnSpc>
                <a:spcPts val="1792"/>
              </a:lnSpc>
            </a:pPr>
            <a:r>
              <a:rPr lang="en-US" sz="1458">
                <a:solidFill>
                  <a:srgbClr val="FFFFFF"/>
                </a:solidFill>
                <a:latin typeface="Montserrat" pitchFamily="2" charset="77"/>
                <a:ea typeface="Source Sans 3" pitchFamily="34" charset="-122"/>
                <a:cs typeface="Source Sans 3" pitchFamily="34" charset="-120"/>
              </a:rPr>
              <a:t>Verticals Covered</a:t>
            </a:r>
            <a:endParaRPr lang="en-US" sz="1458">
              <a:latin typeface="Montserrat" pitchFamily="2" charset="77"/>
            </a:endParaRPr>
          </a:p>
        </p:txBody>
      </p:sp>
      <p:sp>
        <p:nvSpPr>
          <p:cNvPr id="13" name="Text 9"/>
          <p:cNvSpPr/>
          <p:nvPr/>
        </p:nvSpPr>
        <p:spPr>
          <a:xfrm>
            <a:off x="4482902" y="3277294"/>
            <a:ext cx="3226098" cy="1666875"/>
          </a:xfrm>
          <a:prstGeom prst="rect">
            <a:avLst/>
          </a:prstGeom>
          <a:noFill/>
          <a:ln/>
        </p:spPr>
        <p:txBody>
          <a:bodyPr wrap="square" lIns="0" tIns="0" rIns="0" bIns="0" rtlCol="0" anchor="t"/>
          <a:lstStyle/>
          <a:p>
            <a:pPr>
              <a:lnSpc>
                <a:spcPts val="1875"/>
              </a:lnSpc>
            </a:pPr>
            <a:r>
              <a:rPr lang="en-US" sz="1167">
                <a:solidFill>
                  <a:srgbClr val="FFFFFF"/>
                </a:solidFill>
                <a:latin typeface="Montserrat" pitchFamily="2" charset="77"/>
                <a:ea typeface="Montserrat" pitchFamily="34" charset="-122"/>
                <a:cs typeface="Montserrat" pitchFamily="34" charset="-120"/>
              </a:rPr>
              <a:t>Our team has previously worked with Thames Water, British Gas, Vodafone, John Lewis, Aldi, KFC, and Virgin, among others. We possess intimate knowledge of telecommunications, utilities, insurance, retail, healthcare, technology, and e-commerce sectors.</a:t>
            </a:r>
            <a:endParaRPr lang="en-US" sz="1167">
              <a:latin typeface="Montserrat" pitchFamily="2" charset="77"/>
            </a:endParaRPr>
          </a:p>
        </p:txBody>
      </p:sp>
      <p:sp>
        <p:nvSpPr>
          <p:cNvPr id="14" name="Text 10"/>
          <p:cNvSpPr/>
          <p:nvPr/>
        </p:nvSpPr>
        <p:spPr>
          <a:xfrm>
            <a:off x="4482902" y="5033467"/>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Technology &amp; E-Commerce</a:t>
            </a:r>
            <a:endParaRPr lang="en-US" sz="1167">
              <a:latin typeface="Montserrat" pitchFamily="2" charset="77"/>
            </a:endParaRPr>
          </a:p>
        </p:txBody>
      </p:sp>
      <p:sp>
        <p:nvSpPr>
          <p:cNvPr id="15" name="Text 11"/>
          <p:cNvSpPr/>
          <p:nvPr/>
        </p:nvSpPr>
        <p:spPr>
          <a:xfrm>
            <a:off x="4482902" y="5323681"/>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Healthcare &amp; Insurance</a:t>
            </a:r>
            <a:endParaRPr lang="en-US" sz="1167">
              <a:latin typeface="Montserrat" pitchFamily="2" charset="77"/>
            </a:endParaRPr>
          </a:p>
        </p:txBody>
      </p:sp>
      <p:sp>
        <p:nvSpPr>
          <p:cNvPr id="16" name="Text 12"/>
          <p:cNvSpPr/>
          <p:nvPr/>
        </p:nvSpPr>
        <p:spPr>
          <a:xfrm>
            <a:off x="4482902" y="5613896"/>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Retail &amp; Telecommunications</a:t>
            </a:r>
            <a:endParaRPr lang="en-US" sz="1167">
              <a:latin typeface="Montserrat" pitchFamily="2" charset="77"/>
            </a:endParaRPr>
          </a:p>
        </p:txBody>
      </p:sp>
      <p:sp>
        <p:nvSpPr>
          <p:cNvPr id="17" name="Text 13"/>
          <p:cNvSpPr/>
          <p:nvPr/>
        </p:nvSpPr>
        <p:spPr>
          <a:xfrm>
            <a:off x="4482902" y="5904111"/>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Utilities &amp; Financial Services</a:t>
            </a:r>
            <a:endParaRPr lang="en-US" sz="1167">
              <a:latin typeface="Montserrat" pitchFamily="2" charset="77"/>
            </a:endParaRPr>
          </a:p>
        </p:txBody>
      </p:sp>
      <p:sp>
        <p:nvSpPr>
          <p:cNvPr id="18" name="Shape 14"/>
          <p:cNvSpPr/>
          <p:nvPr/>
        </p:nvSpPr>
        <p:spPr>
          <a:xfrm>
            <a:off x="8006656" y="2211387"/>
            <a:ext cx="3523754" cy="4079677"/>
          </a:xfrm>
          <a:prstGeom prst="roundRect">
            <a:avLst>
              <a:gd name="adj" fmla="val 634"/>
            </a:avLst>
          </a:prstGeom>
          <a:solidFill>
            <a:srgbClr val="404040"/>
          </a:solidFill>
          <a:ln/>
        </p:spPr>
        <p:txBody>
          <a:bodyPr/>
          <a:lstStyle/>
          <a:p>
            <a:endParaRPr lang="en-GB" sz="1500">
              <a:latin typeface="Montserrat" pitchFamily="2" charset="77"/>
            </a:endParaRPr>
          </a:p>
        </p:txBody>
      </p:sp>
      <p:sp>
        <p:nvSpPr>
          <p:cNvPr id="19" name="Shape 15"/>
          <p:cNvSpPr/>
          <p:nvPr/>
        </p:nvSpPr>
        <p:spPr>
          <a:xfrm>
            <a:off x="8155484" y="2360216"/>
            <a:ext cx="446484" cy="446484"/>
          </a:xfrm>
          <a:prstGeom prst="roundRect">
            <a:avLst>
              <a:gd name="adj" fmla="val 17064968"/>
            </a:avLst>
          </a:prstGeom>
          <a:solidFill>
            <a:srgbClr val="4AFD0E"/>
          </a:solidFill>
          <a:ln/>
        </p:spPr>
        <p:txBody>
          <a:bodyPr/>
          <a:lstStyle/>
          <a:p>
            <a:endParaRPr lang="en-GB" sz="1500">
              <a:latin typeface="Montserrat" pitchFamily="2" charset="77"/>
            </a:endParaRPr>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78218" y="2482949"/>
            <a:ext cx="200918" cy="200918"/>
          </a:xfrm>
          <a:prstGeom prst="rect">
            <a:avLst/>
          </a:prstGeom>
        </p:spPr>
      </p:pic>
      <p:sp>
        <p:nvSpPr>
          <p:cNvPr id="21" name="Text 16"/>
          <p:cNvSpPr/>
          <p:nvPr/>
        </p:nvSpPr>
        <p:spPr>
          <a:xfrm>
            <a:off x="8155484" y="2955529"/>
            <a:ext cx="1860649" cy="232469"/>
          </a:xfrm>
          <a:prstGeom prst="rect">
            <a:avLst/>
          </a:prstGeom>
          <a:noFill/>
          <a:ln/>
        </p:spPr>
        <p:txBody>
          <a:bodyPr wrap="none" lIns="0" tIns="0" rIns="0" bIns="0" rtlCol="0" anchor="t"/>
          <a:lstStyle/>
          <a:p>
            <a:pPr>
              <a:lnSpc>
                <a:spcPts val="1792"/>
              </a:lnSpc>
            </a:pPr>
            <a:r>
              <a:rPr lang="en-US" sz="1458">
                <a:solidFill>
                  <a:srgbClr val="FFFFFF"/>
                </a:solidFill>
                <a:latin typeface="Montserrat" pitchFamily="2" charset="77"/>
                <a:ea typeface="Source Sans 3" pitchFamily="34" charset="-122"/>
                <a:cs typeface="Source Sans 3" pitchFamily="34" charset="-120"/>
              </a:rPr>
              <a:t>Functions Covered</a:t>
            </a:r>
            <a:endParaRPr lang="en-US" sz="1458">
              <a:latin typeface="Montserrat" pitchFamily="2" charset="77"/>
            </a:endParaRPr>
          </a:p>
        </p:txBody>
      </p:sp>
      <p:sp>
        <p:nvSpPr>
          <p:cNvPr id="22" name="Text 17"/>
          <p:cNvSpPr/>
          <p:nvPr/>
        </p:nvSpPr>
        <p:spPr>
          <a:xfrm>
            <a:off x="8155484" y="3277294"/>
            <a:ext cx="3226098" cy="952500"/>
          </a:xfrm>
          <a:prstGeom prst="rect">
            <a:avLst/>
          </a:prstGeom>
          <a:noFill/>
          <a:ln/>
        </p:spPr>
        <p:txBody>
          <a:bodyPr wrap="square" lIns="0" tIns="0" rIns="0" bIns="0" rtlCol="0" anchor="t"/>
          <a:lstStyle/>
          <a:p>
            <a:pPr>
              <a:lnSpc>
                <a:spcPts val="1875"/>
              </a:lnSpc>
            </a:pPr>
            <a:r>
              <a:rPr lang="en-US" sz="1167">
                <a:solidFill>
                  <a:srgbClr val="FFFFFF"/>
                </a:solidFill>
                <a:latin typeface="Montserrat" pitchFamily="2" charset="77"/>
                <a:ea typeface="Montserrat" pitchFamily="34" charset="-122"/>
                <a:cs typeface="Montserrat" pitchFamily="34" charset="-120"/>
              </a:rPr>
              <a:t>We have over 25 years of customer service experience with a globally awarded team. We maintain a focused, niche offering to ensure excellence in every engagement.</a:t>
            </a:r>
            <a:endParaRPr lang="en-US" sz="1167">
              <a:latin typeface="Montserrat" pitchFamily="2" charset="77"/>
            </a:endParaRPr>
          </a:p>
        </p:txBody>
      </p:sp>
      <p:sp>
        <p:nvSpPr>
          <p:cNvPr id="23" name="Text 18"/>
          <p:cNvSpPr/>
          <p:nvPr/>
        </p:nvSpPr>
        <p:spPr>
          <a:xfrm>
            <a:off x="8155484" y="4319092"/>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Customer Service &amp; IT Support</a:t>
            </a:r>
            <a:endParaRPr lang="en-US" sz="1167">
              <a:latin typeface="Montserrat" pitchFamily="2" charset="77"/>
            </a:endParaRPr>
          </a:p>
        </p:txBody>
      </p:sp>
      <p:sp>
        <p:nvSpPr>
          <p:cNvPr id="24" name="Text 19"/>
          <p:cNvSpPr/>
          <p:nvPr/>
        </p:nvSpPr>
        <p:spPr>
          <a:xfrm>
            <a:off x="8155484" y="4609307"/>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Chat Commerce &amp; Digital Engagement</a:t>
            </a:r>
            <a:endParaRPr lang="en-US" sz="1167">
              <a:latin typeface="Montserrat" pitchFamily="2" charset="77"/>
            </a:endParaRPr>
          </a:p>
        </p:txBody>
      </p:sp>
      <p:sp>
        <p:nvSpPr>
          <p:cNvPr id="25" name="Text 20"/>
          <p:cNvSpPr/>
          <p:nvPr/>
        </p:nvSpPr>
        <p:spPr>
          <a:xfrm>
            <a:off x="8155484" y="4899521"/>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Back-Office Administration</a:t>
            </a:r>
            <a:endParaRPr lang="en-US" sz="1167">
              <a:latin typeface="Montserrat" pitchFamily="2" charset="77"/>
            </a:endParaRPr>
          </a:p>
        </p:txBody>
      </p:sp>
      <p:sp>
        <p:nvSpPr>
          <p:cNvPr id="26" name="Text 21"/>
          <p:cNvSpPr/>
          <p:nvPr/>
        </p:nvSpPr>
        <p:spPr>
          <a:xfrm>
            <a:off x="8155484" y="5189736"/>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Digital &amp; AI Enablement</a:t>
            </a:r>
            <a:endParaRPr lang="en-US" sz="1167">
              <a:latin typeface="Montserrat" pitchFamily="2" charset="77"/>
            </a:endParaRPr>
          </a:p>
        </p:txBody>
      </p:sp>
      <p:sp>
        <p:nvSpPr>
          <p:cNvPr id="27" name="Text 22"/>
          <p:cNvSpPr/>
          <p:nvPr/>
        </p:nvSpPr>
        <p:spPr>
          <a:xfrm>
            <a:off x="8155484" y="5479951"/>
            <a:ext cx="3226098" cy="238125"/>
          </a:xfrm>
          <a:prstGeom prst="rect">
            <a:avLst/>
          </a:prstGeom>
          <a:noFill/>
          <a:ln/>
        </p:spPr>
        <p:txBody>
          <a:bodyPr wrap="none" lIns="0" tIns="0" rIns="0" bIns="0" rtlCol="0" anchor="t"/>
          <a:lstStyle/>
          <a:p>
            <a:pPr marL="285739" indent="-285739">
              <a:lnSpc>
                <a:spcPts val="1875"/>
              </a:lnSpc>
              <a:buSzPct val="100000"/>
              <a:buChar char="•"/>
            </a:pPr>
            <a:r>
              <a:rPr lang="en-US" sz="1167">
                <a:solidFill>
                  <a:srgbClr val="FFFFFF"/>
                </a:solidFill>
                <a:latin typeface="Montserrat" pitchFamily="2" charset="77"/>
                <a:ea typeface="Montserrat" pitchFamily="34" charset="-122"/>
                <a:cs typeface="Montserrat" pitchFamily="34" charset="-120"/>
              </a:rPr>
              <a:t>Automation &amp; RPA Implementation</a:t>
            </a:r>
            <a:endParaRPr lang="en-US" sz="1167">
              <a:latin typeface="Montserrat" pitchFamily="2" charset="77"/>
            </a:endParaRPr>
          </a:p>
        </p:txBody>
      </p:sp>
      <p:pic>
        <p:nvPicPr>
          <p:cNvPr id="28" name="Picture 2" descr="England map PNG transparent image download, size: 920x1360px">
            <a:extLst>
              <a:ext uri="{FF2B5EF4-FFF2-40B4-BE49-F238E27FC236}">
                <a16:creationId xmlns:a16="http://schemas.microsoft.com/office/drawing/2014/main" id="{E0357539-DF07-02A6-3647-8C92A134F6DD}"/>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256804" y="5116124"/>
            <a:ext cx="672789" cy="104623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8DFFAF88-2A0A-CE4A-50BE-136271E2E51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375896" y="5338911"/>
            <a:ext cx="876498" cy="579527"/>
          </a:xfrm>
          <a:prstGeom prst="rect">
            <a:avLst/>
          </a:prstGeom>
        </p:spPr>
      </p:pic>
      <p:sp>
        <p:nvSpPr>
          <p:cNvPr id="30" name="Text 0">
            <a:extLst>
              <a:ext uri="{FF2B5EF4-FFF2-40B4-BE49-F238E27FC236}">
                <a16:creationId xmlns:a16="http://schemas.microsoft.com/office/drawing/2014/main" id="{7B42EAD1-8683-C29D-F1B6-DC8E6CC7060A}"/>
              </a:ext>
            </a:extLst>
          </p:cNvPr>
          <p:cNvSpPr/>
          <p:nvPr/>
        </p:nvSpPr>
        <p:spPr>
          <a:xfrm>
            <a:off x="245855" y="167595"/>
            <a:ext cx="6368157" cy="531614"/>
          </a:xfrm>
          <a:prstGeom prst="rect">
            <a:avLst/>
          </a:prstGeom>
          <a:noFill/>
          <a:ln/>
        </p:spPr>
        <p:txBody>
          <a:bodyPr wrap="none" lIns="0" tIns="0" rIns="0" bIns="0" rtlCol="0" anchor="t"/>
          <a:lstStyle/>
          <a:p>
            <a:pPr>
              <a:lnSpc>
                <a:spcPts val="4167"/>
              </a:lnSpc>
            </a:pPr>
            <a:r>
              <a:rPr lang="en-US" sz="3333" b="1">
                <a:solidFill>
                  <a:srgbClr val="FFFFFF"/>
                </a:solidFill>
                <a:latin typeface="Poiret One" panose="02000000000000000000" pitchFamily="2" charset="0"/>
                <a:ea typeface="Source Sans 3" pitchFamily="34" charset="-122"/>
                <a:cs typeface="Source Sans 3" pitchFamily="34" charset="-120"/>
              </a:rPr>
              <a:t>How and Where We Operate</a:t>
            </a:r>
          </a:p>
          <a:p>
            <a:pPr>
              <a:lnSpc>
                <a:spcPts val="4167"/>
              </a:lnSpc>
            </a:pPr>
            <a:endParaRPr lang="en-US" sz="3333" b="1">
              <a:solidFill>
                <a:srgbClr val="FFFFFF"/>
              </a:solidFill>
              <a:latin typeface="Poiret One" panose="02000000000000000000" pitchFamily="2" charset="0"/>
              <a:ea typeface="Source Sans 3" pitchFamily="34" charset="-122"/>
              <a:cs typeface="Source Sans 3" pitchFamily="34" charset="-120"/>
            </a:endParaRPr>
          </a:p>
        </p:txBody>
      </p:sp>
      <p:cxnSp>
        <p:nvCxnSpPr>
          <p:cNvPr id="31" name="Straight Arrow Connector 30">
            <a:extLst>
              <a:ext uri="{FF2B5EF4-FFF2-40B4-BE49-F238E27FC236}">
                <a16:creationId xmlns:a16="http://schemas.microsoft.com/office/drawing/2014/main" id="{6B48F7FA-FBEF-47AC-AF7B-D5EBF23FC201}"/>
              </a:ext>
            </a:extLst>
          </p:cNvPr>
          <p:cNvCxnSpPr>
            <a:cxnSpLocks/>
          </p:cNvCxnSpPr>
          <p:nvPr/>
        </p:nvCxnSpPr>
        <p:spPr>
          <a:xfrm>
            <a:off x="245855" y="699209"/>
            <a:ext cx="6097696" cy="0"/>
          </a:xfrm>
          <a:prstGeom prst="straightConnector1">
            <a:avLst/>
          </a:prstGeom>
          <a:ln>
            <a:solidFill>
              <a:srgbClr val="49FE0C"/>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45855" y="754672"/>
            <a:ext cx="11054358" cy="295870"/>
          </a:xfrm>
          <a:prstGeom prst="rect">
            <a:avLst/>
          </a:prstGeom>
          <a:noFill/>
          <a:ln/>
        </p:spPr>
        <p:txBody>
          <a:bodyPr wrap="square" lIns="0" tIns="0" rIns="0" bIns="0" rtlCol="0" anchor="t"/>
          <a:lstStyle/>
          <a:p>
            <a:pPr>
              <a:lnSpc>
                <a:spcPct val="150000"/>
              </a:lnSpc>
            </a:pPr>
            <a:r>
              <a:rPr lang="en-US" sz="1083">
                <a:solidFill>
                  <a:srgbClr val="FFFFFF"/>
                </a:solidFill>
                <a:latin typeface="Montserrat" pitchFamily="2" charset="77"/>
                <a:ea typeface="Montserrat" pitchFamily="34" charset="-122"/>
                <a:cs typeface="Montserrat" pitchFamily="34" charset="-120"/>
              </a:rPr>
              <a:t>We provide state-of-the-art digital solutions, deployed and ready, in a world-class contact center environment to assist our customers on their journey to digital customer experience. Outsource to us and service, sell, retain, and collect debt from your customers on a fully automated AI/ML predictive and engagement platform, with a human agent in the loop to fulfill the process.</a:t>
            </a:r>
            <a:endParaRPr lang="en-US" sz="1083">
              <a:latin typeface="Montserrat" pitchFamily="2" charset="77"/>
            </a:endParaRPr>
          </a:p>
        </p:txBody>
      </p:sp>
      <p:pic>
        <p:nvPicPr>
          <p:cNvPr id="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87286" y="1684679"/>
            <a:ext cx="1420728" cy="1420728"/>
          </a:xfrm>
          <a:prstGeom prst="rect">
            <a:avLst/>
          </a:prstGeom>
        </p:spPr>
      </p:pic>
      <p:sp>
        <p:nvSpPr>
          <p:cNvPr id="5" name="Text 2"/>
          <p:cNvSpPr/>
          <p:nvPr/>
        </p:nvSpPr>
        <p:spPr>
          <a:xfrm>
            <a:off x="459964" y="3220897"/>
            <a:ext cx="3607793" cy="184944"/>
          </a:xfrm>
          <a:prstGeom prst="rect">
            <a:avLst/>
          </a:prstGeom>
          <a:noFill/>
          <a:ln/>
        </p:spPr>
        <p:txBody>
          <a:bodyPr wrap="none" lIns="0" tIns="0" rIns="0" bIns="0" rtlCol="0" anchor="t"/>
          <a:lstStyle/>
          <a:p>
            <a:pPr algn="ctr">
              <a:lnSpc>
                <a:spcPts val="1417"/>
              </a:lnSpc>
            </a:pPr>
            <a:r>
              <a:rPr lang="en-US" sz="1167">
                <a:solidFill>
                  <a:srgbClr val="49FE0C"/>
                </a:solidFill>
                <a:latin typeface="Montserrat" pitchFamily="2" charset="77"/>
                <a:ea typeface="Montserrat" pitchFamily="34" charset="-122"/>
                <a:cs typeface="Montserrat" pitchFamily="34" charset="-120"/>
              </a:rPr>
              <a:t>Data &amp; AI Driven Automation</a:t>
            </a:r>
            <a:endParaRPr lang="en-US" sz="1167">
              <a:solidFill>
                <a:srgbClr val="49FE0C"/>
              </a:solidFill>
              <a:latin typeface="Montserrat" pitchFamily="2" charset="77"/>
            </a:endParaRPr>
          </a:p>
        </p:txBody>
      </p:sp>
      <p:sp>
        <p:nvSpPr>
          <p:cNvPr id="6" name="Text 3"/>
          <p:cNvSpPr/>
          <p:nvPr/>
        </p:nvSpPr>
        <p:spPr>
          <a:xfrm>
            <a:off x="459964" y="3461303"/>
            <a:ext cx="3607793" cy="554832"/>
          </a:xfrm>
          <a:prstGeom prst="rect">
            <a:avLst/>
          </a:prstGeom>
          <a:noFill/>
          <a:ln/>
        </p:spPr>
        <p:txBody>
          <a:bodyPr wrap="square" lIns="0" tIns="0" rIns="0" bIns="0" rtlCol="0" anchor="t"/>
          <a:lstStyle/>
          <a:p>
            <a:pPr algn="ctr">
              <a:lnSpc>
                <a:spcPts val="1417"/>
              </a:lnSpc>
            </a:pPr>
            <a:r>
              <a:rPr lang="en-US" sz="1000">
                <a:solidFill>
                  <a:srgbClr val="FFFFFF"/>
                </a:solidFill>
                <a:latin typeface="Montserrat" pitchFamily="2" charset="77"/>
                <a:ea typeface="Montserrat" pitchFamily="34" charset="-122"/>
                <a:cs typeface="Montserrat" pitchFamily="34" charset="-120"/>
              </a:rPr>
              <a:t>Our platforms leverage advanced machine learning and AI to predict customer needs, optimize routing, and automate routine interactions while maintaining service quality.</a:t>
            </a:r>
            <a:endParaRPr lang="en-US" sz="1000">
              <a:latin typeface="Montserrat" pitchFamily="2" charset="77"/>
            </a:endParaRPr>
          </a:p>
        </p:txBody>
      </p:sp>
      <p:pic>
        <p:nvPicPr>
          <p:cNvPr id="7"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10569" y="1684679"/>
            <a:ext cx="1420728" cy="1420728"/>
          </a:xfrm>
          <a:prstGeom prst="rect">
            <a:avLst/>
          </a:prstGeom>
        </p:spPr>
      </p:pic>
      <p:sp>
        <p:nvSpPr>
          <p:cNvPr id="8" name="Text 4"/>
          <p:cNvSpPr/>
          <p:nvPr/>
        </p:nvSpPr>
        <p:spPr>
          <a:xfrm>
            <a:off x="4183247" y="3220897"/>
            <a:ext cx="3607793" cy="184944"/>
          </a:xfrm>
          <a:prstGeom prst="rect">
            <a:avLst/>
          </a:prstGeom>
          <a:noFill/>
          <a:ln/>
        </p:spPr>
        <p:txBody>
          <a:bodyPr wrap="none" lIns="0" tIns="0" rIns="0" bIns="0" rtlCol="0" anchor="t"/>
          <a:lstStyle/>
          <a:p>
            <a:pPr algn="ctr">
              <a:lnSpc>
                <a:spcPts val="1417"/>
              </a:lnSpc>
            </a:pPr>
            <a:r>
              <a:rPr lang="en-US" sz="1167">
                <a:solidFill>
                  <a:srgbClr val="49FE0C"/>
                </a:solidFill>
                <a:latin typeface="Montserrat" pitchFamily="2" charset="77"/>
                <a:ea typeface="Montserrat" pitchFamily="34" charset="-122"/>
                <a:cs typeface="Montserrat" pitchFamily="34" charset="-120"/>
              </a:rPr>
              <a:t>Human, Digital &amp; AI Orchestration</a:t>
            </a:r>
            <a:endParaRPr lang="en-US" sz="1167">
              <a:solidFill>
                <a:srgbClr val="49FE0C"/>
              </a:solidFill>
              <a:latin typeface="Montserrat" pitchFamily="2" charset="77"/>
            </a:endParaRPr>
          </a:p>
        </p:txBody>
      </p:sp>
      <p:sp>
        <p:nvSpPr>
          <p:cNvPr id="9" name="Text 5"/>
          <p:cNvSpPr/>
          <p:nvPr/>
        </p:nvSpPr>
        <p:spPr>
          <a:xfrm>
            <a:off x="4183247" y="3461303"/>
            <a:ext cx="3607793" cy="554832"/>
          </a:xfrm>
          <a:prstGeom prst="rect">
            <a:avLst/>
          </a:prstGeom>
          <a:noFill/>
          <a:ln/>
        </p:spPr>
        <p:txBody>
          <a:bodyPr wrap="square" lIns="0" tIns="0" rIns="0" bIns="0" rtlCol="0" anchor="t"/>
          <a:lstStyle/>
          <a:p>
            <a:pPr algn="ctr">
              <a:lnSpc>
                <a:spcPts val="1417"/>
              </a:lnSpc>
            </a:pPr>
            <a:r>
              <a:rPr lang="en-US" sz="1000">
                <a:solidFill>
                  <a:srgbClr val="FFFFFF"/>
                </a:solidFill>
                <a:latin typeface="Montserrat" pitchFamily="2" charset="77"/>
                <a:ea typeface="Montserrat" pitchFamily="34" charset="-122"/>
                <a:cs typeface="Montserrat" pitchFamily="34" charset="-120"/>
              </a:rPr>
              <a:t>Seamlessly blend human expertise with digital channels and AI capabilities to deliver optimal outcomes for every customer interaction.</a:t>
            </a:r>
            <a:endParaRPr lang="en-US" sz="1000">
              <a:latin typeface="Montserrat" pitchFamily="2" charset="77"/>
            </a:endParaRPr>
          </a:p>
        </p:txBody>
      </p:sp>
      <p:pic>
        <p:nvPicPr>
          <p:cNvPr id="10" name="Image 2"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33852" y="1684679"/>
            <a:ext cx="1420728" cy="1420728"/>
          </a:xfrm>
          <a:prstGeom prst="rect">
            <a:avLst/>
          </a:prstGeom>
        </p:spPr>
      </p:pic>
      <p:sp>
        <p:nvSpPr>
          <p:cNvPr id="11" name="Text 6"/>
          <p:cNvSpPr/>
          <p:nvPr/>
        </p:nvSpPr>
        <p:spPr>
          <a:xfrm>
            <a:off x="7906529" y="3220897"/>
            <a:ext cx="3607793" cy="184944"/>
          </a:xfrm>
          <a:prstGeom prst="rect">
            <a:avLst/>
          </a:prstGeom>
          <a:noFill/>
          <a:ln/>
        </p:spPr>
        <p:txBody>
          <a:bodyPr wrap="none" lIns="0" tIns="0" rIns="0" bIns="0" rtlCol="0" anchor="t"/>
          <a:lstStyle/>
          <a:p>
            <a:pPr algn="ctr">
              <a:lnSpc>
                <a:spcPts val="1417"/>
              </a:lnSpc>
            </a:pPr>
            <a:r>
              <a:rPr lang="en-US" sz="1167">
                <a:solidFill>
                  <a:srgbClr val="49FE0C"/>
                </a:solidFill>
                <a:latin typeface="Montserrat" pitchFamily="2" charset="77"/>
                <a:ea typeface="Montserrat" pitchFamily="34" charset="-122"/>
                <a:cs typeface="Montserrat" pitchFamily="34" charset="-120"/>
              </a:rPr>
              <a:t>Ai Incubator &amp; Test Kitchen</a:t>
            </a:r>
            <a:endParaRPr lang="en-US" sz="1167">
              <a:solidFill>
                <a:srgbClr val="49FE0C"/>
              </a:solidFill>
              <a:latin typeface="Montserrat" pitchFamily="2" charset="77"/>
            </a:endParaRPr>
          </a:p>
        </p:txBody>
      </p:sp>
      <p:sp>
        <p:nvSpPr>
          <p:cNvPr id="12" name="Text 7"/>
          <p:cNvSpPr/>
          <p:nvPr/>
        </p:nvSpPr>
        <p:spPr>
          <a:xfrm>
            <a:off x="7906529" y="3461303"/>
            <a:ext cx="3607793" cy="554832"/>
          </a:xfrm>
          <a:prstGeom prst="rect">
            <a:avLst/>
          </a:prstGeom>
          <a:noFill/>
          <a:ln/>
        </p:spPr>
        <p:txBody>
          <a:bodyPr wrap="square" lIns="0" tIns="0" rIns="0" bIns="0" rtlCol="0" anchor="t"/>
          <a:lstStyle/>
          <a:p>
            <a:pPr algn="ctr">
              <a:lnSpc>
                <a:spcPts val="1417"/>
              </a:lnSpc>
            </a:pPr>
            <a:r>
              <a:rPr lang="en-US" sz="1000">
                <a:solidFill>
                  <a:srgbClr val="FFFFFF"/>
                </a:solidFill>
                <a:latin typeface="Montserrat" pitchFamily="2" charset="77"/>
                <a:ea typeface="Montserrat" pitchFamily="34" charset="-122"/>
                <a:cs typeface="Montserrat" pitchFamily="34" charset="-120"/>
              </a:rPr>
              <a:t>Our innovation lab continuously develops and tests new solutions, ensuring you always have access to cutting-edge customer experience technologies.</a:t>
            </a:r>
            <a:endParaRPr lang="en-US" sz="1000">
              <a:latin typeface="Montserrat" pitchFamily="2" charset="77"/>
            </a:endParaRPr>
          </a:p>
        </p:txBody>
      </p:sp>
      <p:pic>
        <p:nvPicPr>
          <p:cNvPr id="13" name="Image 3" descr="preencod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87286" y="4208124"/>
            <a:ext cx="1420728" cy="1420728"/>
          </a:xfrm>
          <a:prstGeom prst="rect">
            <a:avLst/>
          </a:prstGeom>
        </p:spPr>
      </p:pic>
      <p:sp>
        <p:nvSpPr>
          <p:cNvPr id="14" name="Text 8"/>
          <p:cNvSpPr/>
          <p:nvPr/>
        </p:nvSpPr>
        <p:spPr>
          <a:xfrm>
            <a:off x="459964" y="5744342"/>
            <a:ext cx="3607793" cy="184944"/>
          </a:xfrm>
          <a:prstGeom prst="rect">
            <a:avLst/>
          </a:prstGeom>
          <a:noFill/>
          <a:ln/>
        </p:spPr>
        <p:txBody>
          <a:bodyPr wrap="none" lIns="0" tIns="0" rIns="0" bIns="0" rtlCol="0" anchor="t"/>
          <a:lstStyle/>
          <a:p>
            <a:pPr algn="ctr">
              <a:lnSpc>
                <a:spcPts val="1417"/>
              </a:lnSpc>
            </a:pPr>
            <a:r>
              <a:rPr lang="en-US" sz="1167">
                <a:solidFill>
                  <a:srgbClr val="49FE0C"/>
                </a:solidFill>
                <a:latin typeface="Montserrat" pitchFamily="2" charset="77"/>
                <a:ea typeface="Montserrat" pitchFamily="34" charset="-122"/>
                <a:cs typeface="Montserrat" pitchFamily="34" charset="-120"/>
              </a:rPr>
              <a:t>Award-Winning Excellence</a:t>
            </a:r>
            <a:endParaRPr lang="en-US" sz="1167">
              <a:solidFill>
                <a:srgbClr val="49FE0C"/>
              </a:solidFill>
              <a:latin typeface="Montserrat" pitchFamily="2" charset="77"/>
            </a:endParaRPr>
          </a:p>
        </p:txBody>
      </p:sp>
      <p:sp>
        <p:nvSpPr>
          <p:cNvPr id="15" name="Text 9"/>
          <p:cNvSpPr/>
          <p:nvPr/>
        </p:nvSpPr>
        <p:spPr>
          <a:xfrm>
            <a:off x="459964" y="5984748"/>
            <a:ext cx="3607793" cy="554832"/>
          </a:xfrm>
          <a:prstGeom prst="rect">
            <a:avLst/>
          </a:prstGeom>
          <a:noFill/>
          <a:ln/>
        </p:spPr>
        <p:txBody>
          <a:bodyPr wrap="square" lIns="0" tIns="0" rIns="0" bIns="0" rtlCol="0" anchor="t"/>
          <a:lstStyle/>
          <a:p>
            <a:pPr algn="ctr">
              <a:lnSpc>
                <a:spcPts val="1417"/>
              </a:lnSpc>
            </a:pPr>
            <a:r>
              <a:rPr lang="en-US" sz="1000">
                <a:solidFill>
                  <a:srgbClr val="FFFFFF"/>
                </a:solidFill>
                <a:latin typeface="Montserrat" pitchFamily="2" charset="77"/>
                <a:ea typeface="Montserrat" pitchFamily="34" charset="-122"/>
                <a:cs typeface="Montserrat" pitchFamily="34" charset="-120"/>
              </a:rPr>
              <a:t>Our globally recognized team delivers exceptional results through innovative solutions and unwavering commitment to quality.</a:t>
            </a:r>
            <a:endParaRPr lang="en-US" sz="1000">
              <a:latin typeface="Montserrat" pitchFamily="2" charset="77"/>
            </a:endParaRPr>
          </a:p>
        </p:txBody>
      </p:sp>
      <p:pic>
        <p:nvPicPr>
          <p:cNvPr id="16" name="Image 4" descr="preencoded.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410569" y="4208124"/>
            <a:ext cx="1420728" cy="1420728"/>
          </a:xfrm>
          <a:prstGeom prst="rect">
            <a:avLst/>
          </a:prstGeom>
        </p:spPr>
      </p:pic>
      <p:sp>
        <p:nvSpPr>
          <p:cNvPr id="17" name="Text 10"/>
          <p:cNvSpPr/>
          <p:nvPr/>
        </p:nvSpPr>
        <p:spPr>
          <a:xfrm>
            <a:off x="4183247" y="5744342"/>
            <a:ext cx="3607793" cy="184944"/>
          </a:xfrm>
          <a:prstGeom prst="rect">
            <a:avLst/>
          </a:prstGeom>
          <a:noFill/>
          <a:ln/>
        </p:spPr>
        <p:txBody>
          <a:bodyPr wrap="none" lIns="0" tIns="0" rIns="0" bIns="0" rtlCol="0" anchor="t"/>
          <a:lstStyle/>
          <a:p>
            <a:pPr algn="ctr">
              <a:lnSpc>
                <a:spcPts val="1417"/>
              </a:lnSpc>
            </a:pPr>
            <a:r>
              <a:rPr lang="en-US" sz="1167">
                <a:solidFill>
                  <a:srgbClr val="49FE0C"/>
                </a:solidFill>
                <a:latin typeface="Montserrat" pitchFamily="2" charset="77"/>
                <a:ea typeface="Montserrat" pitchFamily="34" charset="-122"/>
                <a:cs typeface="Montserrat" pitchFamily="34" charset="-120"/>
              </a:rPr>
              <a:t>Boutique Service with High Customer Care</a:t>
            </a:r>
            <a:endParaRPr lang="en-US" sz="1167">
              <a:solidFill>
                <a:srgbClr val="49FE0C"/>
              </a:solidFill>
              <a:latin typeface="Montserrat" pitchFamily="2" charset="77"/>
            </a:endParaRPr>
          </a:p>
        </p:txBody>
      </p:sp>
      <p:sp>
        <p:nvSpPr>
          <p:cNvPr id="18" name="Text 11"/>
          <p:cNvSpPr/>
          <p:nvPr/>
        </p:nvSpPr>
        <p:spPr>
          <a:xfrm>
            <a:off x="4183247" y="5984749"/>
            <a:ext cx="3607793" cy="369888"/>
          </a:xfrm>
          <a:prstGeom prst="rect">
            <a:avLst/>
          </a:prstGeom>
          <a:noFill/>
          <a:ln/>
        </p:spPr>
        <p:txBody>
          <a:bodyPr wrap="square" lIns="0" tIns="0" rIns="0" bIns="0" rtlCol="0" anchor="t"/>
          <a:lstStyle/>
          <a:p>
            <a:pPr algn="ctr">
              <a:lnSpc>
                <a:spcPts val="1417"/>
              </a:lnSpc>
            </a:pPr>
            <a:r>
              <a:rPr lang="en-US" sz="1000">
                <a:solidFill>
                  <a:srgbClr val="FFFFFF"/>
                </a:solidFill>
                <a:latin typeface="Montserrat" pitchFamily="2" charset="77"/>
                <a:ea typeface="Montserrat" pitchFamily="34" charset="-122"/>
                <a:cs typeface="Montserrat" pitchFamily="34" charset="-120"/>
              </a:rPr>
              <a:t>We combine personalized attention with enterprise capabilities to deliver experiences that exceed expectations.</a:t>
            </a:r>
            <a:endParaRPr lang="en-US" sz="1000">
              <a:latin typeface="Montserrat" pitchFamily="2" charset="77"/>
            </a:endParaRPr>
          </a:p>
        </p:txBody>
      </p:sp>
      <p:pic>
        <p:nvPicPr>
          <p:cNvPr id="19" name="Image 5" descr="preencoded.png"/>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133852" y="4208124"/>
            <a:ext cx="1420728" cy="1420728"/>
          </a:xfrm>
          <a:prstGeom prst="rect">
            <a:avLst/>
          </a:prstGeom>
        </p:spPr>
      </p:pic>
      <p:sp>
        <p:nvSpPr>
          <p:cNvPr id="20" name="Text 12"/>
          <p:cNvSpPr/>
          <p:nvPr/>
        </p:nvSpPr>
        <p:spPr>
          <a:xfrm>
            <a:off x="7906529" y="5744342"/>
            <a:ext cx="3607793" cy="184944"/>
          </a:xfrm>
          <a:prstGeom prst="rect">
            <a:avLst/>
          </a:prstGeom>
          <a:noFill/>
          <a:ln/>
        </p:spPr>
        <p:txBody>
          <a:bodyPr wrap="none" lIns="0" tIns="0" rIns="0" bIns="0" rtlCol="0" anchor="t"/>
          <a:lstStyle/>
          <a:p>
            <a:pPr algn="ctr">
              <a:lnSpc>
                <a:spcPts val="1417"/>
              </a:lnSpc>
            </a:pPr>
            <a:r>
              <a:rPr lang="en-US" sz="1167">
                <a:solidFill>
                  <a:srgbClr val="49FE0C"/>
                </a:solidFill>
                <a:latin typeface="Montserrat" pitchFamily="2" charset="77"/>
                <a:ea typeface="Montserrat" pitchFamily="34" charset="-122"/>
                <a:cs typeface="Montserrat" pitchFamily="34" charset="-120"/>
              </a:rPr>
              <a:t>Industry Expertise</a:t>
            </a:r>
            <a:endParaRPr lang="en-US" sz="1167">
              <a:solidFill>
                <a:srgbClr val="49FE0C"/>
              </a:solidFill>
              <a:latin typeface="Montserrat" pitchFamily="2" charset="77"/>
            </a:endParaRPr>
          </a:p>
        </p:txBody>
      </p:sp>
      <p:sp>
        <p:nvSpPr>
          <p:cNvPr id="21" name="Text 13"/>
          <p:cNvSpPr/>
          <p:nvPr/>
        </p:nvSpPr>
        <p:spPr>
          <a:xfrm>
            <a:off x="7906529" y="5984748"/>
            <a:ext cx="3607793" cy="554832"/>
          </a:xfrm>
          <a:prstGeom prst="rect">
            <a:avLst/>
          </a:prstGeom>
          <a:noFill/>
          <a:ln/>
        </p:spPr>
        <p:txBody>
          <a:bodyPr wrap="square" lIns="0" tIns="0" rIns="0" bIns="0" rtlCol="0" anchor="t"/>
          <a:lstStyle/>
          <a:p>
            <a:pPr algn="ctr">
              <a:lnSpc>
                <a:spcPts val="1417"/>
              </a:lnSpc>
            </a:pPr>
            <a:r>
              <a:rPr lang="en-US" sz="1000">
                <a:solidFill>
                  <a:srgbClr val="FFFFFF"/>
                </a:solidFill>
                <a:latin typeface="Montserrat" pitchFamily="2" charset="77"/>
                <a:ea typeface="Montserrat" pitchFamily="34" charset="-122"/>
                <a:cs typeface="Montserrat" pitchFamily="34" charset="-120"/>
              </a:rPr>
              <a:t>Deep knowledge in telecommunications, retail, motor vehicles, and utilities ensures we understand your business challenges and opportunities.</a:t>
            </a:r>
            <a:endParaRPr lang="en-US" sz="1000">
              <a:latin typeface="Montserrat" pitchFamily="2" charset="77"/>
            </a:endParaRPr>
          </a:p>
        </p:txBody>
      </p:sp>
      <p:sp>
        <p:nvSpPr>
          <p:cNvPr id="22" name="Text 0">
            <a:extLst>
              <a:ext uri="{FF2B5EF4-FFF2-40B4-BE49-F238E27FC236}">
                <a16:creationId xmlns:a16="http://schemas.microsoft.com/office/drawing/2014/main" id="{654D1159-F064-5C86-BB33-F33E193D57BA}"/>
              </a:ext>
            </a:extLst>
          </p:cNvPr>
          <p:cNvSpPr/>
          <p:nvPr/>
        </p:nvSpPr>
        <p:spPr>
          <a:xfrm>
            <a:off x="245855" y="167595"/>
            <a:ext cx="6368157" cy="531614"/>
          </a:xfrm>
          <a:prstGeom prst="rect">
            <a:avLst/>
          </a:prstGeom>
          <a:noFill/>
          <a:ln/>
        </p:spPr>
        <p:txBody>
          <a:bodyPr wrap="none" lIns="0" tIns="0" rIns="0" bIns="0" rtlCol="0" anchor="t"/>
          <a:lstStyle/>
          <a:p>
            <a:pPr>
              <a:lnSpc>
                <a:spcPts val="4167"/>
              </a:lnSpc>
            </a:pPr>
            <a:r>
              <a:rPr lang="en-US" sz="3333" b="1">
                <a:solidFill>
                  <a:srgbClr val="FFFFFF"/>
                </a:solidFill>
                <a:latin typeface="Poiret One" panose="02000000000000000000" pitchFamily="2" charset="0"/>
                <a:ea typeface="Source Sans 3" pitchFamily="34" charset="-122"/>
                <a:cs typeface="Source Sans 3" pitchFamily="34" charset="-120"/>
              </a:rPr>
              <a:t>Digital Contact Centers</a:t>
            </a:r>
          </a:p>
          <a:p>
            <a:pPr>
              <a:lnSpc>
                <a:spcPts val="4167"/>
              </a:lnSpc>
            </a:pPr>
            <a:endParaRPr lang="en-US" sz="3333" b="1">
              <a:solidFill>
                <a:srgbClr val="FFFFFF"/>
              </a:solidFill>
              <a:latin typeface="Poiret One" panose="02000000000000000000" pitchFamily="2" charset="0"/>
              <a:ea typeface="Source Sans 3" pitchFamily="34" charset="-122"/>
              <a:cs typeface="Source Sans 3" pitchFamily="34" charset="-120"/>
            </a:endParaRPr>
          </a:p>
        </p:txBody>
      </p:sp>
      <p:cxnSp>
        <p:nvCxnSpPr>
          <p:cNvPr id="23" name="Straight Arrow Connector 22">
            <a:extLst>
              <a:ext uri="{FF2B5EF4-FFF2-40B4-BE49-F238E27FC236}">
                <a16:creationId xmlns:a16="http://schemas.microsoft.com/office/drawing/2014/main" id="{8458E7D9-7433-75F5-4E81-74E4A925A661}"/>
              </a:ext>
            </a:extLst>
          </p:cNvPr>
          <p:cNvCxnSpPr>
            <a:cxnSpLocks/>
          </p:cNvCxnSpPr>
          <p:nvPr/>
        </p:nvCxnSpPr>
        <p:spPr>
          <a:xfrm>
            <a:off x="245855" y="699209"/>
            <a:ext cx="6097696" cy="0"/>
          </a:xfrm>
          <a:prstGeom prst="straightConnector1">
            <a:avLst/>
          </a:prstGeom>
          <a:ln>
            <a:solidFill>
              <a:srgbClr val="49FE0C"/>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9758" y="1768772"/>
            <a:ext cx="4210149" cy="354409"/>
          </a:xfrm>
          <a:prstGeom prst="rect">
            <a:avLst/>
          </a:prstGeom>
          <a:noFill/>
          <a:ln/>
        </p:spPr>
        <p:txBody>
          <a:bodyPr wrap="none" lIns="0" tIns="0" rIns="0" bIns="0" rtlCol="0" anchor="t"/>
          <a:lstStyle/>
          <a:p>
            <a:pPr>
              <a:lnSpc>
                <a:spcPts val="2750"/>
              </a:lnSpc>
            </a:pPr>
            <a:r>
              <a:rPr lang="en-US" sz="2000" b="1">
                <a:solidFill>
                  <a:srgbClr val="FFFFFF"/>
                </a:solidFill>
                <a:latin typeface="Montserrat" pitchFamily="2" charset="77"/>
                <a:ea typeface="Source Sans 3" pitchFamily="34" charset="-122"/>
                <a:cs typeface="Source Sans 3" pitchFamily="34" charset="-120"/>
              </a:rPr>
              <a:t>The problem with "old-school" BPO</a:t>
            </a:r>
            <a:endParaRPr lang="en-US" sz="2000" b="1">
              <a:latin typeface="Montserrat" pitchFamily="2" charset="77"/>
            </a:endParaRPr>
          </a:p>
        </p:txBody>
      </p:sp>
      <p:sp>
        <p:nvSpPr>
          <p:cNvPr id="5" name="Text 3"/>
          <p:cNvSpPr/>
          <p:nvPr/>
        </p:nvSpPr>
        <p:spPr>
          <a:xfrm>
            <a:off x="519758" y="2312194"/>
            <a:ext cx="4609803" cy="1209748"/>
          </a:xfrm>
          <a:prstGeom prst="rect">
            <a:avLst/>
          </a:prstGeom>
          <a:noFill/>
          <a:ln/>
        </p:spPr>
        <p:txBody>
          <a:bodyPr wrap="square" lIns="0" tIns="0" rIns="0" bIns="0" rtlCol="0" anchor="t"/>
          <a:lstStyle/>
          <a:p>
            <a:pPr marL="285739" indent="-285739">
              <a:lnSpc>
                <a:spcPct val="150000"/>
              </a:lnSpc>
              <a:buSzPct val="100000"/>
              <a:buChar char="•"/>
            </a:pPr>
            <a:r>
              <a:rPr lang="en-GB" sz="1583" noProof="1">
                <a:solidFill>
                  <a:srgbClr val="FFFFFF"/>
                </a:solidFill>
                <a:latin typeface="Montserrat" pitchFamily="2" charset="77"/>
                <a:ea typeface="Montserrat" pitchFamily="34" charset="-122"/>
                <a:cs typeface="Montserrat" pitchFamily="34" charset="-120"/>
              </a:rPr>
              <a:t>Labour-only scaling increases cost linearly</a:t>
            </a:r>
            <a:endParaRPr lang="en-GB" sz="1583" noProof="1">
              <a:latin typeface="Montserrat" pitchFamily="2" charset="77"/>
            </a:endParaRPr>
          </a:p>
          <a:p>
            <a:pPr marL="285739" indent="-285739">
              <a:lnSpc>
                <a:spcPct val="150000"/>
              </a:lnSpc>
              <a:buSzPct val="100000"/>
              <a:buChar char="•"/>
            </a:pPr>
            <a:r>
              <a:rPr lang="en-GB" sz="1583" noProof="1">
                <a:solidFill>
                  <a:srgbClr val="FFFFFF"/>
                </a:solidFill>
                <a:latin typeface="Montserrat" pitchFamily="2" charset="77"/>
                <a:ea typeface="Montserrat" pitchFamily="34" charset="-122"/>
                <a:cs typeface="Montserrat" pitchFamily="34" charset="-120"/>
              </a:rPr>
              <a:t>Channel shift and automation are often bolt-ons</a:t>
            </a:r>
            <a:endParaRPr lang="en-GB" sz="1583" noProof="1">
              <a:latin typeface="Montserrat" pitchFamily="2" charset="77"/>
            </a:endParaRPr>
          </a:p>
          <a:p>
            <a:pPr marL="285739" indent="-285739">
              <a:lnSpc>
                <a:spcPct val="150000"/>
              </a:lnSpc>
              <a:buSzPct val="100000"/>
              <a:buChar char="•"/>
            </a:pPr>
            <a:r>
              <a:rPr lang="en-GB" sz="1583" noProof="1">
                <a:solidFill>
                  <a:srgbClr val="FFFFFF"/>
                </a:solidFill>
                <a:latin typeface="Montserrat" pitchFamily="2" charset="77"/>
                <a:ea typeface="Montserrat" pitchFamily="34" charset="-122"/>
                <a:cs typeface="Montserrat" pitchFamily="34" charset="-120"/>
              </a:rPr>
              <a:t>AI projects fail when CX teams are removed from operations</a:t>
            </a:r>
            <a:endParaRPr lang="en-GB" sz="1583" noProof="1">
              <a:latin typeface="Montserrat" pitchFamily="2" charset="77"/>
            </a:endParaRPr>
          </a:p>
        </p:txBody>
      </p:sp>
      <p:sp>
        <p:nvSpPr>
          <p:cNvPr id="6" name="Text 4"/>
          <p:cNvSpPr/>
          <p:nvPr/>
        </p:nvSpPr>
        <p:spPr>
          <a:xfrm>
            <a:off x="6191201" y="1768772"/>
            <a:ext cx="3013869" cy="354409"/>
          </a:xfrm>
          <a:prstGeom prst="rect">
            <a:avLst/>
          </a:prstGeom>
          <a:noFill/>
          <a:ln/>
        </p:spPr>
        <p:txBody>
          <a:bodyPr wrap="none" lIns="0" tIns="0" rIns="0" bIns="0" rtlCol="0" anchor="t"/>
          <a:lstStyle/>
          <a:p>
            <a:pPr>
              <a:lnSpc>
                <a:spcPts val="2750"/>
              </a:lnSpc>
            </a:pPr>
            <a:r>
              <a:rPr lang="en-US" sz="2000" b="1">
                <a:solidFill>
                  <a:srgbClr val="FFFFFF"/>
                </a:solidFill>
                <a:latin typeface="Montserrat" pitchFamily="2" charset="77"/>
                <a:ea typeface="Source Sans 3" pitchFamily="34" charset="-122"/>
                <a:cs typeface="Source Sans 3" pitchFamily="34" charset="-120"/>
              </a:rPr>
              <a:t>Trilogy's operating model</a:t>
            </a:r>
            <a:endParaRPr lang="en-US" sz="2000" b="1">
              <a:latin typeface="Montserrat" pitchFamily="2" charset="77"/>
            </a:endParaRPr>
          </a:p>
        </p:txBody>
      </p:sp>
      <p:sp>
        <p:nvSpPr>
          <p:cNvPr id="7" name="Text 5"/>
          <p:cNvSpPr/>
          <p:nvPr/>
        </p:nvSpPr>
        <p:spPr>
          <a:xfrm>
            <a:off x="6191201" y="2312194"/>
            <a:ext cx="5203924" cy="1512186"/>
          </a:xfrm>
          <a:prstGeom prst="rect">
            <a:avLst/>
          </a:prstGeom>
          <a:noFill/>
          <a:ln/>
        </p:spPr>
        <p:txBody>
          <a:bodyPr wrap="square" lIns="0" tIns="0" rIns="0" bIns="0" rtlCol="0" anchor="t"/>
          <a:lstStyle/>
          <a:p>
            <a:pPr marL="285739" indent="-285739">
              <a:lnSpc>
                <a:spcPct val="150000"/>
              </a:lnSpc>
              <a:buSzPct val="100000"/>
              <a:buChar char="•"/>
            </a:pPr>
            <a:r>
              <a:rPr lang="en-US" sz="1583" b="1">
                <a:solidFill>
                  <a:srgbClr val="FFFFFF"/>
                </a:solidFill>
                <a:latin typeface="Montserrat" pitchFamily="2" charset="77"/>
                <a:ea typeface="Montserrat" pitchFamily="34" charset="-122"/>
                <a:cs typeface="Montserrat" pitchFamily="34" charset="-120"/>
              </a:rPr>
              <a:t>Human-in-the-loop AI:</a:t>
            </a:r>
            <a:r>
              <a:rPr lang="en-US" sz="1583">
                <a:solidFill>
                  <a:srgbClr val="FFFFFF"/>
                </a:solidFill>
                <a:latin typeface="Montserrat" pitchFamily="2" charset="77"/>
                <a:ea typeface="Montserrat" pitchFamily="34" charset="-122"/>
                <a:cs typeface="Montserrat" pitchFamily="34" charset="-120"/>
              </a:rPr>
              <a:t> agents supervise, override, and handle exceptions</a:t>
            </a:r>
            <a:endParaRPr lang="en-US" sz="1583">
              <a:latin typeface="Montserrat" pitchFamily="2" charset="77"/>
            </a:endParaRPr>
          </a:p>
          <a:p>
            <a:pPr marL="285739" indent="-285739">
              <a:lnSpc>
                <a:spcPct val="150000"/>
              </a:lnSpc>
              <a:buSzPct val="100000"/>
              <a:buChar char="•"/>
            </a:pPr>
            <a:r>
              <a:rPr lang="en-US" sz="1583" b="1">
                <a:solidFill>
                  <a:srgbClr val="FFFFFF"/>
                </a:solidFill>
                <a:latin typeface="Montserrat" pitchFamily="2" charset="77"/>
                <a:ea typeface="Montserrat" pitchFamily="34" charset="-122"/>
                <a:cs typeface="Montserrat" pitchFamily="34" charset="-120"/>
              </a:rPr>
              <a:t>Digital-first CX:</a:t>
            </a:r>
            <a:r>
              <a:rPr lang="en-US" sz="1583">
                <a:solidFill>
                  <a:srgbClr val="FFFFFF"/>
                </a:solidFill>
                <a:latin typeface="Montserrat" pitchFamily="2" charset="77"/>
                <a:ea typeface="Montserrat" pitchFamily="34" charset="-122"/>
                <a:cs typeface="Montserrat" pitchFamily="34" charset="-120"/>
              </a:rPr>
              <a:t> deflects demand before it hits expensive voice queues</a:t>
            </a:r>
            <a:endParaRPr lang="en-US" sz="1583">
              <a:latin typeface="Montserrat" pitchFamily="2" charset="77"/>
            </a:endParaRPr>
          </a:p>
          <a:p>
            <a:pPr marL="285739" indent="-285739">
              <a:lnSpc>
                <a:spcPct val="150000"/>
              </a:lnSpc>
              <a:buSzPct val="100000"/>
              <a:buChar char="•"/>
            </a:pPr>
            <a:r>
              <a:rPr lang="en-US" sz="1583" b="1">
                <a:solidFill>
                  <a:srgbClr val="FFFFFF"/>
                </a:solidFill>
                <a:latin typeface="Montserrat" pitchFamily="2" charset="77"/>
                <a:ea typeface="Montserrat" pitchFamily="34" charset="-122"/>
                <a:cs typeface="Montserrat" pitchFamily="34" charset="-120"/>
              </a:rPr>
              <a:t>Automation inside operations,</a:t>
            </a:r>
            <a:r>
              <a:rPr lang="en-US" sz="1583">
                <a:solidFill>
                  <a:srgbClr val="FFFFFF"/>
                </a:solidFill>
                <a:latin typeface="Montserrat" pitchFamily="2" charset="77"/>
                <a:ea typeface="Montserrat" pitchFamily="34" charset="-122"/>
                <a:cs typeface="Montserrat" pitchFamily="34" charset="-120"/>
              </a:rPr>
              <a:t> not beside them</a:t>
            </a:r>
            <a:endParaRPr lang="en-US" sz="1583">
              <a:latin typeface="Montserrat" pitchFamily="2" charset="77"/>
            </a:endParaRPr>
          </a:p>
        </p:txBody>
      </p:sp>
      <p:sp>
        <p:nvSpPr>
          <p:cNvPr id="8" name="Text 6"/>
          <p:cNvSpPr/>
          <p:nvPr/>
        </p:nvSpPr>
        <p:spPr>
          <a:xfrm>
            <a:off x="803226" y="4945088"/>
            <a:ext cx="10585549" cy="604838"/>
          </a:xfrm>
          <a:prstGeom prst="rect">
            <a:avLst/>
          </a:prstGeom>
          <a:noFill/>
          <a:ln/>
        </p:spPr>
        <p:txBody>
          <a:bodyPr wrap="square" lIns="0" tIns="0" rIns="0" bIns="0" rtlCol="0" anchor="t"/>
          <a:lstStyle/>
          <a:p>
            <a:pPr>
              <a:lnSpc>
                <a:spcPct val="150000"/>
              </a:lnSpc>
            </a:pPr>
            <a:r>
              <a:rPr lang="en-US" sz="1500">
                <a:solidFill>
                  <a:schemeClr val="bg1"/>
                </a:solidFill>
                <a:latin typeface="Montserrat" pitchFamily="2" charset="77"/>
              </a:rPr>
              <a:t>AI and automation can reduce </a:t>
            </a:r>
            <a:r>
              <a:rPr lang="en-US" sz="1500" b="1">
                <a:solidFill>
                  <a:schemeClr val="bg1"/>
                </a:solidFill>
                <a:latin typeface="Montserrat" pitchFamily="2" charset="77"/>
              </a:rPr>
              <a:t>contact-centre operating costs by 20–30%</a:t>
            </a:r>
            <a:r>
              <a:rPr lang="en-US" sz="1500">
                <a:solidFill>
                  <a:schemeClr val="bg1"/>
                </a:solidFill>
                <a:latin typeface="Montserrat" pitchFamily="2" charset="77"/>
              </a:rPr>
              <a:t> when embedded into workflows</a:t>
            </a:r>
          </a:p>
          <a:p>
            <a:pPr>
              <a:lnSpc>
                <a:spcPct val="150000"/>
              </a:lnSpc>
            </a:pPr>
            <a:r>
              <a:rPr lang="en-US" sz="1500">
                <a:solidFill>
                  <a:schemeClr val="bg1"/>
                </a:solidFill>
                <a:latin typeface="Montserrat" pitchFamily="2" charset="77"/>
              </a:rPr>
              <a:t>Source: </a:t>
            </a:r>
            <a:r>
              <a:rPr lang="en-US" sz="1500">
                <a:solidFill>
                  <a:schemeClr val="bg1"/>
                </a:solidFill>
                <a:latin typeface="Montserrat" pitchFamily="2" charset="77"/>
                <a:hlinkClick r:id="rId3">
                  <a:extLst>
                    <a:ext uri="{A12FA001-AC4F-418D-AE19-62706E023703}">
                      <ahyp:hlinkClr xmlns:ahyp="http://schemas.microsoft.com/office/drawing/2018/hyperlinkcolor" val="tx"/>
                    </a:ext>
                  </a:extLst>
                </a:hlinkClick>
              </a:rPr>
              <a:t>McKinsey – “Next Best Experience”</a:t>
            </a:r>
            <a:endParaRPr lang="en-US" sz="1500">
              <a:solidFill>
                <a:schemeClr val="bg1"/>
              </a:solidFill>
              <a:latin typeface="Montserrat" pitchFamily="2" charset="77"/>
            </a:endParaRPr>
          </a:p>
        </p:txBody>
      </p:sp>
      <p:sp>
        <p:nvSpPr>
          <p:cNvPr id="9" name="Shape 7"/>
          <p:cNvSpPr/>
          <p:nvPr/>
        </p:nvSpPr>
        <p:spPr>
          <a:xfrm>
            <a:off x="519757" y="4732462"/>
            <a:ext cx="25400" cy="1030089"/>
          </a:xfrm>
          <a:prstGeom prst="rect">
            <a:avLst/>
          </a:prstGeom>
          <a:solidFill>
            <a:srgbClr val="4AFD0E"/>
          </a:solidFill>
          <a:ln/>
        </p:spPr>
        <p:txBody>
          <a:bodyPr/>
          <a:lstStyle/>
          <a:p>
            <a:endParaRPr lang="en-GB" sz="1500">
              <a:latin typeface="Montserrat" pitchFamily="2" charset="77"/>
            </a:endParaRPr>
          </a:p>
        </p:txBody>
      </p:sp>
      <p:cxnSp>
        <p:nvCxnSpPr>
          <p:cNvPr id="11" name="Straight Connector 10">
            <a:extLst>
              <a:ext uri="{FF2B5EF4-FFF2-40B4-BE49-F238E27FC236}">
                <a16:creationId xmlns:a16="http://schemas.microsoft.com/office/drawing/2014/main" id="{18DEE715-D491-33ED-98C1-7D2BCFD330F2}"/>
              </a:ext>
            </a:extLst>
          </p:cNvPr>
          <p:cNvCxnSpPr/>
          <p:nvPr/>
        </p:nvCxnSpPr>
        <p:spPr>
          <a:xfrm>
            <a:off x="5668516" y="1768772"/>
            <a:ext cx="0" cy="2340968"/>
          </a:xfrm>
          <a:prstGeom prst="line">
            <a:avLst/>
          </a:prstGeom>
          <a:ln>
            <a:solidFill>
              <a:srgbClr val="49FE0C"/>
            </a:solidFill>
          </a:ln>
        </p:spPr>
        <p:style>
          <a:lnRef idx="1">
            <a:schemeClr val="accent1"/>
          </a:lnRef>
          <a:fillRef idx="0">
            <a:schemeClr val="accent1"/>
          </a:fillRef>
          <a:effectRef idx="0">
            <a:schemeClr val="accent1"/>
          </a:effectRef>
          <a:fontRef idx="minor">
            <a:schemeClr val="tx1"/>
          </a:fontRef>
        </p:style>
      </p:cxnSp>
      <p:sp>
        <p:nvSpPr>
          <p:cNvPr id="10" name="Text 0">
            <a:extLst>
              <a:ext uri="{FF2B5EF4-FFF2-40B4-BE49-F238E27FC236}">
                <a16:creationId xmlns:a16="http://schemas.microsoft.com/office/drawing/2014/main" id="{D6E30B4A-EACD-E921-A82F-AE62BDF442B8}"/>
              </a:ext>
            </a:extLst>
          </p:cNvPr>
          <p:cNvSpPr/>
          <p:nvPr/>
        </p:nvSpPr>
        <p:spPr>
          <a:xfrm>
            <a:off x="245855" y="167595"/>
            <a:ext cx="9483252" cy="531614"/>
          </a:xfrm>
          <a:prstGeom prst="rect">
            <a:avLst/>
          </a:prstGeom>
          <a:noFill/>
          <a:ln/>
        </p:spPr>
        <p:txBody>
          <a:bodyPr wrap="none" lIns="0" tIns="0" rIns="0" bIns="0" rtlCol="0" anchor="t"/>
          <a:lstStyle/>
          <a:p>
            <a:r>
              <a:rPr lang="en-GB" sz="3333" b="1" noProof="1">
                <a:solidFill>
                  <a:srgbClr val="FFFFFF"/>
                </a:solidFill>
                <a:latin typeface="Poiret One" panose="02000000000000000000" pitchFamily="2" charset="0"/>
                <a:ea typeface="Source Sans 3" pitchFamily="34" charset="-122"/>
                <a:cs typeface="Source Sans 3" pitchFamily="34" charset="-120"/>
              </a:rPr>
              <a:t>Why AI-Enabled BPO Beats Traditional Outsourcing</a:t>
            </a:r>
          </a:p>
          <a:p>
            <a:r>
              <a:rPr lang="en-GB" sz="1667" b="1" noProof="1">
                <a:solidFill>
                  <a:srgbClr val="FFFFFF"/>
                </a:solidFill>
                <a:latin typeface="Poiret One" panose="02000000000000000000" pitchFamily="2" charset="0"/>
                <a:ea typeface="Source Sans 3" pitchFamily="34" charset="-122"/>
                <a:cs typeface="Source Sans 3" pitchFamily="34" charset="-120"/>
              </a:rPr>
              <a:t>AI works only when it's operationalised. BPO is the fastest way to do that safely</a:t>
            </a:r>
          </a:p>
          <a:p>
            <a:endParaRPr lang="en-GB" sz="3333" b="1" noProof="1">
              <a:solidFill>
                <a:srgbClr val="FFFFFF"/>
              </a:solidFill>
              <a:latin typeface="Poiret One" panose="02000000000000000000" pitchFamily="2" charset="0"/>
              <a:ea typeface="Source Sans 3" pitchFamily="34" charset="-122"/>
              <a:cs typeface="Source Sans 3" pitchFamily="34" charset="-120"/>
            </a:endParaRPr>
          </a:p>
        </p:txBody>
      </p:sp>
      <p:cxnSp>
        <p:nvCxnSpPr>
          <p:cNvPr id="12" name="Straight Arrow Connector 11">
            <a:extLst>
              <a:ext uri="{FF2B5EF4-FFF2-40B4-BE49-F238E27FC236}">
                <a16:creationId xmlns:a16="http://schemas.microsoft.com/office/drawing/2014/main" id="{5BCE4A35-2072-6164-7032-B2755C0F095F}"/>
              </a:ext>
            </a:extLst>
          </p:cNvPr>
          <p:cNvCxnSpPr>
            <a:cxnSpLocks/>
          </p:cNvCxnSpPr>
          <p:nvPr/>
        </p:nvCxnSpPr>
        <p:spPr>
          <a:xfrm>
            <a:off x="245854" y="1095449"/>
            <a:ext cx="9483253" cy="0"/>
          </a:xfrm>
          <a:prstGeom prst="straightConnector1">
            <a:avLst/>
          </a:prstGeom>
          <a:ln>
            <a:solidFill>
              <a:srgbClr val="49FE0C"/>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a:extLst>
              <a:ext uri="{FF2B5EF4-FFF2-40B4-BE49-F238E27FC236}">
                <a16:creationId xmlns:a16="http://schemas.microsoft.com/office/drawing/2014/main" id="{3C1AE910-34C3-E10C-637F-902497BCFCB9}"/>
              </a:ext>
            </a:extLst>
          </p:cNvPr>
          <p:cNvSpPr/>
          <p:nvPr/>
        </p:nvSpPr>
        <p:spPr>
          <a:xfrm>
            <a:off x="254545" y="3684253"/>
            <a:ext cx="11542813" cy="17018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a:p>
        </p:txBody>
      </p:sp>
      <p:sp>
        <p:nvSpPr>
          <p:cNvPr id="4" name="Text 2"/>
          <p:cNvSpPr/>
          <p:nvPr/>
        </p:nvSpPr>
        <p:spPr>
          <a:xfrm>
            <a:off x="254545" y="1383580"/>
            <a:ext cx="10869018" cy="793849"/>
          </a:xfrm>
          <a:prstGeom prst="rect">
            <a:avLst/>
          </a:prstGeom>
          <a:noFill/>
          <a:ln/>
        </p:spPr>
        <p:txBody>
          <a:bodyPr wrap="square" lIns="0" tIns="0" rIns="0" bIns="0" rtlCol="0" anchor="t"/>
          <a:lstStyle/>
          <a:p>
            <a:pPr>
              <a:lnSpc>
                <a:spcPts val="2083"/>
              </a:lnSpc>
            </a:pPr>
            <a:r>
              <a:rPr lang="en-US" sz="1292">
                <a:solidFill>
                  <a:srgbClr val="FFFFFF"/>
                </a:solidFill>
                <a:latin typeface="Montserrat" pitchFamily="2" charset="77"/>
                <a:ea typeface="Montserrat" pitchFamily="34" charset="-122"/>
                <a:cs typeface="Montserrat" pitchFamily="34" charset="-120"/>
              </a:rPr>
              <a:t>Trilogy's leadership team has built and run over 40 contact centers for some of the world's best-known brands. We were the first company in South Africa that a UK brand chose to partner with for outsourcing. The second company to outsource to South Africa also selected the Trilogy team and has subsequently remained and grown their operations in the country.</a:t>
            </a:r>
          </a:p>
          <a:p>
            <a:pPr>
              <a:lnSpc>
                <a:spcPts val="2083"/>
              </a:lnSpc>
            </a:pPr>
            <a:endParaRPr lang="en-US" sz="1292">
              <a:solidFill>
                <a:srgbClr val="FFFFFF"/>
              </a:solidFill>
              <a:latin typeface="Montserrat" pitchFamily="2" charset="77"/>
              <a:ea typeface="Montserrat" pitchFamily="34" charset="-122"/>
              <a:cs typeface="Montserrat" pitchFamily="34" charset="-120"/>
            </a:endParaRPr>
          </a:p>
          <a:p>
            <a:pPr>
              <a:lnSpc>
                <a:spcPts val="2083"/>
              </a:lnSpc>
            </a:pPr>
            <a:r>
              <a:rPr lang="en-US" sz="1292">
                <a:solidFill>
                  <a:srgbClr val="FFFFFF"/>
                </a:solidFill>
                <a:latin typeface="Montserrat" pitchFamily="2" charset="77"/>
                <a:ea typeface="Montserrat" pitchFamily="34" charset="-122"/>
                <a:cs typeface="Montserrat" pitchFamily="34" charset="-120"/>
              </a:rPr>
              <a:t>This pioneering experience gives us unmatched insight into the challenges and opportunities of offshore customer service delivery. Our deep vertical expertise spans telecommunications, utilities, retail, fast food, insurance, and technology sectors, allowing us to hit the ground running with proven playbooks and best practices.</a:t>
            </a:r>
            <a:endParaRPr lang="en-US" sz="1292">
              <a:latin typeface="Montserrat" pitchFamily="2" charset="77"/>
            </a:endParaRPr>
          </a:p>
          <a:p>
            <a:pPr>
              <a:lnSpc>
                <a:spcPts val="2083"/>
              </a:lnSpc>
            </a:pPr>
            <a:endParaRPr lang="en-US" sz="1292">
              <a:latin typeface="Montserrat" pitchFamily="2" charset="77"/>
            </a:endParaRPr>
          </a:p>
        </p:txBody>
      </p:sp>
      <p:pic>
        <p:nvPicPr>
          <p:cNvPr id="6"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81" y="3873661"/>
            <a:ext cx="1212553" cy="661492"/>
          </a:xfrm>
          <a:prstGeom prst="rect">
            <a:avLst/>
          </a:prstGeom>
        </p:spPr>
      </p:pic>
      <p:pic>
        <p:nvPicPr>
          <p:cNvPr id="7"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47445" y="4574097"/>
            <a:ext cx="805458" cy="661492"/>
          </a:xfrm>
          <a:prstGeom prst="rect">
            <a:avLst/>
          </a:prstGeom>
        </p:spPr>
      </p:pic>
      <p:pic>
        <p:nvPicPr>
          <p:cNvPr id="8" name="Image 2"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73909" y="3873661"/>
            <a:ext cx="858243" cy="661492"/>
          </a:xfrm>
          <a:prstGeom prst="rect">
            <a:avLst/>
          </a:prstGeom>
        </p:spPr>
      </p:pic>
      <p:pic>
        <p:nvPicPr>
          <p:cNvPr id="9" name="Image 3" descr="preencod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764409" y="3873661"/>
            <a:ext cx="989310" cy="661492"/>
          </a:xfrm>
          <a:prstGeom prst="rect">
            <a:avLst/>
          </a:prstGeom>
        </p:spPr>
      </p:pic>
      <p:pic>
        <p:nvPicPr>
          <p:cNvPr id="10" name="Image 4" descr="preencoded.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85977" y="3873661"/>
            <a:ext cx="741462" cy="661492"/>
          </a:xfrm>
          <a:prstGeom prst="rect">
            <a:avLst/>
          </a:prstGeom>
        </p:spPr>
      </p:pic>
      <p:pic>
        <p:nvPicPr>
          <p:cNvPr id="11" name="Image 5" descr="preencoded.png"/>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727277" y="4574097"/>
            <a:ext cx="1058863" cy="661492"/>
          </a:xfrm>
          <a:prstGeom prst="rect">
            <a:avLst/>
          </a:prstGeom>
        </p:spPr>
      </p:pic>
      <p:pic>
        <p:nvPicPr>
          <p:cNvPr id="12" name="Image 6" descr="preencoded.png"/>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5617121" y="3884762"/>
            <a:ext cx="1074837" cy="661492"/>
          </a:xfrm>
          <a:prstGeom prst="rect">
            <a:avLst/>
          </a:prstGeom>
        </p:spPr>
      </p:pic>
      <p:pic>
        <p:nvPicPr>
          <p:cNvPr id="13" name="Image 7" descr="preencoded.png"/>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7157913" y="3884762"/>
            <a:ext cx="826790" cy="661492"/>
          </a:xfrm>
          <a:prstGeom prst="rect">
            <a:avLst/>
          </a:prstGeom>
        </p:spPr>
      </p:pic>
      <p:pic>
        <p:nvPicPr>
          <p:cNvPr id="14" name="Image 8" descr="preencoded.png"/>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053263" y="3884762"/>
            <a:ext cx="826790" cy="661492"/>
          </a:xfrm>
          <a:prstGeom prst="rect">
            <a:avLst/>
          </a:prstGeom>
        </p:spPr>
      </p:pic>
      <p:pic>
        <p:nvPicPr>
          <p:cNvPr id="15" name="Image 9" descr="preencoded.png"/>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5815354" y="4541518"/>
            <a:ext cx="759818" cy="661492"/>
          </a:xfrm>
          <a:prstGeom prst="rect">
            <a:avLst/>
          </a:prstGeom>
        </p:spPr>
      </p:pic>
      <p:pic>
        <p:nvPicPr>
          <p:cNvPr id="16" name="Image 10" descr="preencoded.png"/>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730848" y="4574097"/>
            <a:ext cx="892473" cy="661492"/>
          </a:xfrm>
          <a:prstGeom prst="rect">
            <a:avLst/>
          </a:prstGeom>
        </p:spPr>
      </p:pic>
      <p:pic>
        <p:nvPicPr>
          <p:cNvPr id="17" name="Image 11" descr="preencoded.png"/>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3648323" y="4574097"/>
            <a:ext cx="1237655" cy="661492"/>
          </a:xfrm>
          <a:prstGeom prst="rect">
            <a:avLst/>
          </a:prstGeom>
        </p:spPr>
      </p:pic>
      <p:pic>
        <p:nvPicPr>
          <p:cNvPr id="18" name="Image 12" descr="preencoded.png"/>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646101" y="4595463"/>
            <a:ext cx="858243" cy="661492"/>
          </a:xfrm>
          <a:prstGeom prst="rect">
            <a:avLst/>
          </a:prstGeom>
        </p:spPr>
      </p:pic>
      <p:pic>
        <p:nvPicPr>
          <p:cNvPr id="19" name="Image 13" descr="preencoded.png"/>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565101" y="4574097"/>
            <a:ext cx="826790" cy="661492"/>
          </a:xfrm>
          <a:prstGeom prst="rect">
            <a:avLst/>
          </a:prstGeom>
        </p:spPr>
      </p:pic>
      <p:pic>
        <p:nvPicPr>
          <p:cNvPr id="20" name="Image 14" descr="preencoded.png"/>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7902478" y="4503764"/>
            <a:ext cx="1002607" cy="802158"/>
          </a:xfrm>
          <a:prstGeom prst="rect">
            <a:avLst/>
          </a:prstGeom>
        </p:spPr>
      </p:pic>
      <p:pic>
        <p:nvPicPr>
          <p:cNvPr id="21" name="Image 15" descr="preencoded.png"/>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1577702" y="3873661"/>
            <a:ext cx="826790" cy="661492"/>
          </a:xfrm>
          <a:prstGeom prst="rect">
            <a:avLst/>
          </a:prstGeom>
        </p:spPr>
      </p:pic>
      <p:sp>
        <p:nvSpPr>
          <p:cNvPr id="5" name="Text 0">
            <a:extLst>
              <a:ext uri="{FF2B5EF4-FFF2-40B4-BE49-F238E27FC236}">
                <a16:creationId xmlns:a16="http://schemas.microsoft.com/office/drawing/2014/main" id="{A4082682-792B-8ABF-AB2D-3A8F4AF6EBBF}"/>
              </a:ext>
            </a:extLst>
          </p:cNvPr>
          <p:cNvSpPr/>
          <p:nvPr/>
        </p:nvSpPr>
        <p:spPr>
          <a:xfrm>
            <a:off x="245855" y="167595"/>
            <a:ext cx="6368157" cy="531614"/>
          </a:xfrm>
          <a:prstGeom prst="rect">
            <a:avLst/>
          </a:prstGeom>
          <a:noFill/>
          <a:ln/>
        </p:spPr>
        <p:txBody>
          <a:bodyPr wrap="none" lIns="0" tIns="0" rIns="0" bIns="0" rtlCol="0" anchor="t"/>
          <a:lstStyle/>
          <a:p>
            <a:r>
              <a:rPr lang="en-US" sz="3333" b="1">
                <a:solidFill>
                  <a:srgbClr val="FFFFFF"/>
                </a:solidFill>
                <a:latin typeface="Poiret One" panose="02000000000000000000" pitchFamily="2" charset="0"/>
                <a:ea typeface="Source Sans 3" pitchFamily="34" charset="-122"/>
                <a:cs typeface="Source Sans 3" pitchFamily="34" charset="-120"/>
              </a:rPr>
              <a:t>Vertical Expertise</a:t>
            </a:r>
          </a:p>
          <a:p>
            <a:r>
              <a:rPr lang="en-US" sz="1667">
                <a:solidFill>
                  <a:srgbClr val="FFFFFF"/>
                </a:solidFill>
                <a:latin typeface="Poiret One" panose="02000000000000000000" pitchFamily="2" charset="0"/>
                <a:ea typeface="Source Sans 3" pitchFamily="34" charset="-122"/>
                <a:cs typeface="Source Sans 3" pitchFamily="34" charset="-120"/>
              </a:rPr>
              <a:t>Proven Track Record with World-Class Brands</a:t>
            </a:r>
            <a:endParaRPr lang="en-US" sz="1667">
              <a:latin typeface="Poiret One" panose="02000000000000000000" pitchFamily="2" charset="0"/>
            </a:endParaRPr>
          </a:p>
        </p:txBody>
      </p:sp>
      <p:cxnSp>
        <p:nvCxnSpPr>
          <p:cNvPr id="24" name="Straight Arrow Connector 23">
            <a:extLst>
              <a:ext uri="{FF2B5EF4-FFF2-40B4-BE49-F238E27FC236}">
                <a16:creationId xmlns:a16="http://schemas.microsoft.com/office/drawing/2014/main" id="{A62891DD-8FAF-C2B9-28C0-DF0021458E01}"/>
              </a:ext>
            </a:extLst>
          </p:cNvPr>
          <p:cNvCxnSpPr>
            <a:cxnSpLocks/>
          </p:cNvCxnSpPr>
          <p:nvPr/>
        </p:nvCxnSpPr>
        <p:spPr>
          <a:xfrm>
            <a:off x="245856" y="1067072"/>
            <a:ext cx="4258109" cy="0"/>
          </a:xfrm>
          <a:prstGeom prst="straightConnector1">
            <a:avLst/>
          </a:prstGeom>
          <a:ln>
            <a:solidFill>
              <a:srgbClr val="49FE0C"/>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South African Tourism - Wikipedia">
            <a:extLst>
              <a:ext uri="{FF2B5EF4-FFF2-40B4-BE49-F238E27FC236}">
                <a16:creationId xmlns:a16="http://schemas.microsoft.com/office/drawing/2014/main" id="{B289EA3A-1DAC-3FDE-D96C-401B8DB6169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986061" y="3959240"/>
            <a:ext cx="983943" cy="51253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516BBB18-E0F4-64BA-E00B-B87401BC1D9B}"/>
              </a:ext>
            </a:extLst>
          </p:cNvPr>
          <p:cNvPicPr>
            <a:picLocks noChangeAspect="1"/>
          </p:cNvPicPr>
          <p:nvPr/>
        </p:nvPicPr>
        <p:blipFill>
          <a:blip r:embed="rId20"/>
          <a:stretch>
            <a:fillRect/>
          </a:stretch>
        </p:blipFill>
        <p:spPr>
          <a:xfrm>
            <a:off x="8986061" y="4660856"/>
            <a:ext cx="1599595" cy="530707"/>
          </a:xfrm>
          <a:prstGeom prst="rect">
            <a:avLst/>
          </a:prstGeom>
        </p:spPr>
      </p:pic>
      <p:pic>
        <p:nvPicPr>
          <p:cNvPr id="1030" name="Picture 6" descr="Download Vodacom Logo in SVG Vector or PNG File Format - Logo.wine">
            <a:extLst>
              <a:ext uri="{FF2B5EF4-FFF2-40B4-BE49-F238E27FC236}">
                <a16:creationId xmlns:a16="http://schemas.microsoft.com/office/drawing/2014/main" id="{05B2BA04-D2D9-D58A-8EE3-C98F764ED48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125260" y="3714550"/>
            <a:ext cx="1469572" cy="979714"/>
          </a:xfrm>
          <a:prstGeom prst="rect">
            <a:avLst/>
          </a:prstGeom>
          <a:noFill/>
          <a:extLst>
            <a:ext uri="{909E8E84-426E-40DD-AFC4-6F175D3DCCD1}">
              <a14:hiddenFill xmlns:a14="http://schemas.microsoft.com/office/drawing/2010/main">
                <a:solidFill>
                  <a:srgbClr val="FFFFFF"/>
                </a:solidFill>
              </a14:hiddenFill>
            </a:ext>
          </a:extLst>
        </p:spPr>
      </p:pic>
      <p:sp>
        <p:nvSpPr>
          <p:cNvPr id="3" name="Text 2">
            <a:extLst>
              <a:ext uri="{FF2B5EF4-FFF2-40B4-BE49-F238E27FC236}">
                <a16:creationId xmlns:a16="http://schemas.microsoft.com/office/drawing/2014/main" id="{190B0B61-487B-B0F2-B885-3F9BE611CAAF}"/>
              </a:ext>
            </a:extLst>
          </p:cNvPr>
          <p:cNvSpPr/>
          <p:nvPr/>
        </p:nvSpPr>
        <p:spPr>
          <a:xfrm>
            <a:off x="380845" y="5695930"/>
            <a:ext cx="6194326" cy="346879"/>
          </a:xfrm>
          <a:prstGeom prst="rect">
            <a:avLst/>
          </a:prstGeom>
          <a:noFill/>
          <a:ln/>
        </p:spPr>
        <p:txBody>
          <a:bodyPr wrap="square" lIns="0" tIns="0" rIns="0" bIns="0" rtlCol="0" anchor="t"/>
          <a:lstStyle/>
          <a:p>
            <a:pPr algn="ctr">
              <a:lnSpc>
                <a:spcPts val="2083"/>
              </a:lnSpc>
            </a:pPr>
            <a:r>
              <a:rPr lang="en-US" sz="1292">
                <a:solidFill>
                  <a:srgbClr val="FFFFFF"/>
                </a:solidFill>
                <a:latin typeface="Montserrat" pitchFamily="2" charset="77"/>
                <a:ea typeface="Montserrat" pitchFamily="34" charset="-122"/>
                <a:cs typeface="Montserrat" pitchFamily="34" charset="-120"/>
              </a:rPr>
              <a:t>Global Brands</a:t>
            </a:r>
            <a:endParaRPr lang="en-US" sz="1292">
              <a:latin typeface="Montserrat" pitchFamily="2" charset="77"/>
            </a:endParaRPr>
          </a:p>
        </p:txBody>
      </p:sp>
      <p:sp>
        <p:nvSpPr>
          <p:cNvPr id="25" name="Text 2">
            <a:extLst>
              <a:ext uri="{FF2B5EF4-FFF2-40B4-BE49-F238E27FC236}">
                <a16:creationId xmlns:a16="http://schemas.microsoft.com/office/drawing/2014/main" id="{BD59BB65-03C4-EBBE-5084-2A5FCF9928FA}"/>
              </a:ext>
            </a:extLst>
          </p:cNvPr>
          <p:cNvSpPr/>
          <p:nvPr/>
        </p:nvSpPr>
        <p:spPr>
          <a:xfrm>
            <a:off x="7717320" y="5695930"/>
            <a:ext cx="3877512" cy="346879"/>
          </a:xfrm>
          <a:prstGeom prst="rect">
            <a:avLst/>
          </a:prstGeom>
          <a:noFill/>
          <a:ln/>
        </p:spPr>
        <p:txBody>
          <a:bodyPr wrap="square" lIns="0" tIns="0" rIns="0" bIns="0" rtlCol="0" anchor="t"/>
          <a:lstStyle/>
          <a:p>
            <a:pPr algn="ctr">
              <a:lnSpc>
                <a:spcPts val="2083"/>
              </a:lnSpc>
            </a:pPr>
            <a:r>
              <a:rPr lang="en-US" sz="1292">
                <a:solidFill>
                  <a:srgbClr val="FFFFFF"/>
                </a:solidFill>
                <a:latin typeface="Montserrat" pitchFamily="2" charset="77"/>
                <a:ea typeface="Montserrat" pitchFamily="34" charset="-122"/>
                <a:cs typeface="Montserrat" pitchFamily="34" charset="-120"/>
              </a:rPr>
              <a:t>Local Brands</a:t>
            </a:r>
            <a:endParaRPr lang="en-US" sz="1292">
              <a:latin typeface="Montserrat" pitchFamily="2" charset="7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59556" y="874827"/>
            <a:ext cx="10869018" cy="449858"/>
          </a:xfrm>
          <a:prstGeom prst="rect">
            <a:avLst/>
          </a:prstGeom>
          <a:noFill/>
          <a:ln/>
        </p:spPr>
        <p:txBody>
          <a:bodyPr wrap="square" lIns="0" tIns="0" rIns="0" bIns="0" rtlCol="0" anchor="t"/>
          <a:lstStyle/>
          <a:p>
            <a:pPr>
              <a:lnSpc>
                <a:spcPts val="1750"/>
              </a:lnSpc>
            </a:pPr>
            <a:r>
              <a:rPr lang="en-US" sz="1333">
                <a:solidFill>
                  <a:srgbClr val="FFFFFF"/>
                </a:solidFill>
                <a:latin typeface="Montserrat" pitchFamily="2" charset="77"/>
                <a:ea typeface="Montserrat" pitchFamily="34" charset="-122"/>
                <a:cs typeface="Montserrat" pitchFamily="34" charset="-120"/>
              </a:rPr>
              <a:t>Two decades of consistent excellence in the BPO industry has positioned Trilogy as a trusted partner for global brands. Our track record speaks to our ability to deliver results at scale while maintaining the highest standards of quality and innovation.</a:t>
            </a:r>
            <a:endParaRPr lang="en-US" sz="1333">
              <a:latin typeface="Montserrat" pitchFamily="2" charset="77"/>
            </a:endParaRPr>
          </a:p>
        </p:txBody>
      </p:sp>
      <p:sp>
        <p:nvSpPr>
          <p:cNvPr id="5" name="Text 2"/>
          <p:cNvSpPr/>
          <p:nvPr/>
        </p:nvSpPr>
        <p:spPr>
          <a:xfrm>
            <a:off x="2414091" y="1876694"/>
            <a:ext cx="3104257" cy="463848"/>
          </a:xfrm>
          <a:prstGeom prst="rect">
            <a:avLst/>
          </a:prstGeom>
          <a:noFill/>
          <a:ln/>
        </p:spPr>
        <p:txBody>
          <a:bodyPr wrap="none" lIns="0" tIns="0" rIns="0" bIns="0" rtlCol="0" anchor="t"/>
          <a:lstStyle/>
          <a:p>
            <a:pPr algn="ctr">
              <a:lnSpc>
                <a:spcPts val="3625"/>
              </a:lnSpc>
            </a:pPr>
            <a:r>
              <a:rPr lang="en-US" sz="4000">
                <a:solidFill>
                  <a:srgbClr val="49FE0C"/>
                </a:solidFill>
                <a:latin typeface="Montserrat" pitchFamily="2" charset="77"/>
                <a:ea typeface="Source Sans 3" pitchFamily="34" charset="-122"/>
                <a:cs typeface="Source Sans 3" pitchFamily="34" charset="-120"/>
              </a:rPr>
              <a:t>45K</a:t>
            </a:r>
            <a:endParaRPr lang="en-US" sz="4000">
              <a:solidFill>
                <a:srgbClr val="49FE0C"/>
              </a:solidFill>
              <a:latin typeface="Montserrat" pitchFamily="2" charset="77"/>
            </a:endParaRPr>
          </a:p>
        </p:txBody>
      </p:sp>
      <p:sp>
        <p:nvSpPr>
          <p:cNvPr id="6" name="Text 3"/>
          <p:cNvSpPr/>
          <p:nvPr/>
        </p:nvSpPr>
        <p:spPr>
          <a:xfrm>
            <a:off x="3087588" y="2516160"/>
            <a:ext cx="1757263" cy="219571"/>
          </a:xfrm>
          <a:prstGeom prst="rect">
            <a:avLst/>
          </a:prstGeom>
          <a:noFill/>
          <a:ln/>
        </p:spPr>
        <p:txBody>
          <a:bodyPr wrap="none" lIns="0" tIns="0" rIns="0" bIns="0" rtlCol="0" anchor="t"/>
          <a:lstStyle/>
          <a:p>
            <a:pPr algn="ctr">
              <a:lnSpc>
                <a:spcPts val="1708"/>
              </a:lnSpc>
            </a:pPr>
            <a:r>
              <a:rPr lang="en-US" sz="1667">
                <a:solidFill>
                  <a:srgbClr val="FFFFFF"/>
                </a:solidFill>
                <a:latin typeface="Montserrat" pitchFamily="2" charset="77"/>
                <a:ea typeface="Source Sans 3" pitchFamily="34" charset="-122"/>
                <a:cs typeface="Source Sans 3" pitchFamily="34" charset="-120"/>
              </a:rPr>
              <a:t>Jobs Created</a:t>
            </a:r>
            <a:endParaRPr lang="en-US" sz="1667">
              <a:latin typeface="Montserrat" pitchFamily="2" charset="77"/>
            </a:endParaRPr>
          </a:p>
        </p:txBody>
      </p:sp>
      <p:sp>
        <p:nvSpPr>
          <p:cNvPr id="7" name="Text 4"/>
          <p:cNvSpPr/>
          <p:nvPr/>
        </p:nvSpPr>
        <p:spPr>
          <a:xfrm>
            <a:off x="2414091" y="2876225"/>
            <a:ext cx="3104257" cy="899716"/>
          </a:xfrm>
          <a:prstGeom prst="rect">
            <a:avLst/>
          </a:prstGeom>
          <a:noFill/>
          <a:ln/>
        </p:spPr>
        <p:txBody>
          <a:bodyPr wrap="square" lIns="0" tIns="0" rIns="0" bIns="0" rtlCol="0" anchor="t"/>
          <a:lstStyle/>
          <a:p>
            <a:pPr algn="ctr">
              <a:lnSpc>
                <a:spcPts val="1750"/>
              </a:lnSpc>
            </a:pPr>
            <a:r>
              <a:rPr lang="en-US" sz="1333">
                <a:solidFill>
                  <a:srgbClr val="FFFFFF"/>
                </a:solidFill>
                <a:latin typeface="Montserrat" pitchFamily="2" charset="77"/>
                <a:ea typeface="Montserrat" pitchFamily="34" charset="-122"/>
                <a:cs typeface="Montserrat" pitchFamily="34" charset="-120"/>
              </a:rPr>
              <a:t>Our team has created 45,000 jobs over the past 20 years, making a significant positive impact on South Africa's economy and communities.</a:t>
            </a:r>
            <a:endParaRPr lang="en-US" sz="1333">
              <a:latin typeface="Montserrat" pitchFamily="2" charset="77"/>
            </a:endParaRPr>
          </a:p>
        </p:txBody>
      </p:sp>
      <p:sp>
        <p:nvSpPr>
          <p:cNvPr id="8" name="Text 5"/>
          <p:cNvSpPr/>
          <p:nvPr/>
        </p:nvSpPr>
        <p:spPr>
          <a:xfrm>
            <a:off x="5694064" y="1876694"/>
            <a:ext cx="3104257" cy="463848"/>
          </a:xfrm>
          <a:prstGeom prst="rect">
            <a:avLst/>
          </a:prstGeom>
          <a:noFill/>
          <a:ln/>
        </p:spPr>
        <p:txBody>
          <a:bodyPr wrap="none" lIns="0" tIns="0" rIns="0" bIns="0" rtlCol="0" anchor="t"/>
          <a:lstStyle/>
          <a:p>
            <a:pPr algn="ctr">
              <a:lnSpc>
                <a:spcPts val="3625"/>
              </a:lnSpc>
            </a:pPr>
            <a:r>
              <a:rPr lang="en-US" sz="4000">
                <a:solidFill>
                  <a:srgbClr val="49FE0C"/>
                </a:solidFill>
                <a:latin typeface="Montserrat" pitchFamily="2" charset="77"/>
                <a:ea typeface="Source Sans 3" pitchFamily="34" charset="-122"/>
                <a:cs typeface="Source Sans 3" pitchFamily="34" charset="-120"/>
              </a:rPr>
              <a:t>20</a:t>
            </a:r>
            <a:endParaRPr lang="en-US" sz="4000">
              <a:solidFill>
                <a:srgbClr val="49FE0C"/>
              </a:solidFill>
              <a:latin typeface="Montserrat" pitchFamily="2" charset="77"/>
            </a:endParaRPr>
          </a:p>
        </p:txBody>
      </p:sp>
      <p:sp>
        <p:nvSpPr>
          <p:cNvPr id="9" name="Text 6"/>
          <p:cNvSpPr/>
          <p:nvPr/>
        </p:nvSpPr>
        <p:spPr>
          <a:xfrm>
            <a:off x="6367561" y="2516160"/>
            <a:ext cx="1757263" cy="219571"/>
          </a:xfrm>
          <a:prstGeom prst="rect">
            <a:avLst/>
          </a:prstGeom>
          <a:noFill/>
          <a:ln/>
        </p:spPr>
        <p:txBody>
          <a:bodyPr wrap="none" lIns="0" tIns="0" rIns="0" bIns="0" rtlCol="0" anchor="t"/>
          <a:lstStyle/>
          <a:p>
            <a:pPr algn="ctr">
              <a:lnSpc>
                <a:spcPts val="1708"/>
              </a:lnSpc>
            </a:pPr>
            <a:r>
              <a:rPr lang="en-US" sz="1667">
                <a:solidFill>
                  <a:srgbClr val="FFFFFF"/>
                </a:solidFill>
                <a:latin typeface="Montserrat" pitchFamily="2" charset="77"/>
                <a:ea typeface="Source Sans 3" pitchFamily="34" charset="-122"/>
                <a:cs typeface="Source Sans 3" pitchFamily="34" charset="-120"/>
              </a:rPr>
              <a:t>Years of Experience</a:t>
            </a:r>
            <a:endParaRPr lang="en-US" sz="1667">
              <a:latin typeface="Montserrat" pitchFamily="2" charset="77"/>
            </a:endParaRPr>
          </a:p>
        </p:txBody>
      </p:sp>
      <p:sp>
        <p:nvSpPr>
          <p:cNvPr id="10" name="Text 7"/>
          <p:cNvSpPr/>
          <p:nvPr/>
        </p:nvSpPr>
        <p:spPr>
          <a:xfrm>
            <a:off x="5694064" y="2876225"/>
            <a:ext cx="3104257" cy="899716"/>
          </a:xfrm>
          <a:prstGeom prst="rect">
            <a:avLst/>
          </a:prstGeom>
          <a:noFill/>
          <a:ln/>
        </p:spPr>
        <p:txBody>
          <a:bodyPr wrap="square" lIns="0" tIns="0" rIns="0" bIns="0" rtlCol="0" anchor="t"/>
          <a:lstStyle/>
          <a:p>
            <a:pPr algn="ctr">
              <a:lnSpc>
                <a:spcPts val="1750"/>
              </a:lnSpc>
            </a:pPr>
            <a:r>
              <a:rPr lang="en-US" sz="1333">
                <a:solidFill>
                  <a:srgbClr val="FFFFFF"/>
                </a:solidFill>
                <a:latin typeface="Montserrat" pitchFamily="2" charset="77"/>
                <a:ea typeface="Montserrat" pitchFamily="34" charset="-122"/>
                <a:cs typeface="Montserrat" pitchFamily="34" charset="-120"/>
              </a:rPr>
              <a:t>Two decades of proven track record in providing exceptional value to our customers across multiple industries and geographies.</a:t>
            </a:r>
            <a:endParaRPr lang="en-US" sz="1333">
              <a:latin typeface="Montserrat" pitchFamily="2" charset="77"/>
            </a:endParaRPr>
          </a:p>
        </p:txBody>
      </p:sp>
      <p:sp>
        <p:nvSpPr>
          <p:cNvPr id="11" name="Text 8"/>
          <p:cNvSpPr/>
          <p:nvPr/>
        </p:nvSpPr>
        <p:spPr>
          <a:xfrm>
            <a:off x="2414091" y="4127274"/>
            <a:ext cx="3104257" cy="463848"/>
          </a:xfrm>
          <a:prstGeom prst="rect">
            <a:avLst/>
          </a:prstGeom>
          <a:noFill/>
          <a:ln/>
        </p:spPr>
        <p:txBody>
          <a:bodyPr wrap="none" lIns="0" tIns="0" rIns="0" bIns="0" rtlCol="0" anchor="t"/>
          <a:lstStyle/>
          <a:p>
            <a:pPr algn="ctr">
              <a:lnSpc>
                <a:spcPts val="3625"/>
              </a:lnSpc>
            </a:pPr>
            <a:r>
              <a:rPr lang="en-US" sz="4000">
                <a:solidFill>
                  <a:srgbClr val="49FE0C"/>
                </a:solidFill>
                <a:latin typeface="Montserrat" pitchFamily="2" charset="77"/>
                <a:ea typeface="Source Sans 3" pitchFamily="34" charset="-122"/>
                <a:cs typeface="Source Sans 3" pitchFamily="34" charset="-120"/>
              </a:rPr>
              <a:t>8</a:t>
            </a:r>
            <a:endParaRPr lang="en-US" sz="4000">
              <a:solidFill>
                <a:srgbClr val="49FE0C"/>
              </a:solidFill>
              <a:latin typeface="Montserrat" pitchFamily="2" charset="77"/>
            </a:endParaRPr>
          </a:p>
        </p:txBody>
      </p:sp>
      <p:sp>
        <p:nvSpPr>
          <p:cNvPr id="12" name="Text 9"/>
          <p:cNvSpPr/>
          <p:nvPr/>
        </p:nvSpPr>
        <p:spPr>
          <a:xfrm>
            <a:off x="3087588" y="4766739"/>
            <a:ext cx="1757263" cy="219571"/>
          </a:xfrm>
          <a:prstGeom prst="rect">
            <a:avLst/>
          </a:prstGeom>
          <a:noFill/>
          <a:ln/>
        </p:spPr>
        <p:txBody>
          <a:bodyPr wrap="none" lIns="0" tIns="0" rIns="0" bIns="0" rtlCol="0" anchor="t"/>
          <a:lstStyle/>
          <a:p>
            <a:pPr algn="ctr">
              <a:lnSpc>
                <a:spcPts val="1708"/>
              </a:lnSpc>
            </a:pPr>
            <a:r>
              <a:rPr lang="en-US" sz="1667">
                <a:solidFill>
                  <a:srgbClr val="FFFFFF"/>
                </a:solidFill>
                <a:latin typeface="Montserrat" pitchFamily="2" charset="77"/>
                <a:ea typeface="Source Sans 3" pitchFamily="34" charset="-122"/>
                <a:cs typeface="Source Sans 3" pitchFamily="34" charset="-120"/>
              </a:rPr>
              <a:t>Years in AI/ML</a:t>
            </a:r>
            <a:endParaRPr lang="en-US" sz="1667">
              <a:latin typeface="Montserrat" pitchFamily="2" charset="77"/>
            </a:endParaRPr>
          </a:p>
        </p:txBody>
      </p:sp>
      <p:sp>
        <p:nvSpPr>
          <p:cNvPr id="13" name="Text 10"/>
          <p:cNvSpPr/>
          <p:nvPr/>
        </p:nvSpPr>
        <p:spPr>
          <a:xfrm>
            <a:off x="2414091" y="5126803"/>
            <a:ext cx="3104257" cy="674787"/>
          </a:xfrm>
          <a:prstGeom prst="rect">
            <a:avLst/>
          </a:prstGeom>
          <a:noFill/>
          <a:ln/>
        </p:spPr>
        <p:txBody>
          <a:bodyPr wrap="square" lIns="0" tIns="0" rIns="0" bIns="0" rtlCol="0" anchor="t"/>
          <a:lstStyle/>
          <a:p>
            <a:pPr algn="ctr">
              <a:lnSpc>
                <a:spcPts val="1750"/>
              </a:lnSpc>
            </a:pPr>
            <a:r>
              <a:rPr lang="en-US" sz="1333">
                <a:solidFill>
                  <a:srgbClr val="FFFFFF"/>
                </a:solidFill>
                <a:latin typeface="Montserrat" pitchFamily="2" charset="77"/>
                <a:ea typeface="Montserrat" pitchFamily="34" charset="-122"/>
                <a:cs typeface="Montserrat" pitchFamily="34" charset="-120"/>
              </a:rPr>
              <a:t>Eight years of experience developing AI and Machine Learning platforms, analytics solutions, and digital automation tools.</a:t>
            </a:r>
            <a:endParaRPr lang="en-US" sz="1333">
              <a:latin typeface="Montserrat" pitchFamily="2" charset="77"/>
            </a:endParaRPr>
          </a:p>
        </p:txBody>
      </p:sp>
      <p:sp>
        <p:nvSpPr>
          <p:cNvPr id="14" name="Text 11"/>
          <p:cNvSpPr/>
          <p:nvPr/>
        </p:nvSpPr>
        <p:spPr>
          <a:xfrm>
            <a:off x="5694064" y="4127274"/>
            <a:ext cx="3104257" cy="463848"/>
          </a:xfrm>
          <a:prstGeom prst="rect">
            <a:avLst/>
          </a:prstGeom>
          <a:noFill/>
          <a:ln/>
        </p:spPr>
        <p:txBody>
          <a:bodyPr wrap="none" lIns="0" tIns="0" rIns="0" bIns="0" rtlCol="0" anchor="t"/>
          <a:lstStyle/>
          <a:p>
            <a:pPr algn="ctr">
              <a:lnSpc>
                <a:spcPts val="3625"/>
              </a:lnSpc>
            </a:pPr>
            <a:r>
              <a:rPr lang="en-US" sz="4000">
                <a:solidFill>
                  <a:srgbClr val="49FE0C"/>
                </a:solidFill>
                <a:latin typeface="Montserrat" pitchFamily="2" charset="77"/>
                <a:ea typeface="Source Sans 3" pitchFamily="34" charset="-122"/>
                <a:cs typeface="Source Sans 3" pitchFamily="34" charset="-120"/>
              </a:rPr>
              <a:t>36</a:t>
            </a:r>
            <a:endParaRPr lang="en-US" sz="4000">
              <a:solidFill>
                <a:srgbClr val="49FE0C"/>
              </a:solidFill>
              <a:latin typeface="Montserrat" pitchFamily="2" charset="77"/>
            </a:endParaRPr>
          </a:p>
        </p:txBody>
      </p:sp>
      <p:sp>
        <p:nvSpPr>
          <p:cNvPr id="15" name="Text 12"/>
          <p:cNvSpPr/>
          <p:nvPr/>
        </p:nvSpPr>
        <p:spPr>
          <a:xfrm>
            <a:off x="6367561" y="4766739"/>
            <a:ext cx="1757263" cy="219571"/>
          </a:xfrm>
          <a:prstGeom prst="rect">
            <a:avLst/>
          </a:prstGeom>
          <a:noFill/>
          <a:ln/>
        </p:spPr>
        <p:txBody>
          <a:bodyPr wrap="none" lIns="0" tIns="0" rIns="0" bIns="0" rtlCol="0" anchor="t"/>
          <a:lstStyle/>
          <a:p>
            <a:pPr algn="ctr">
              <a:lnSpc>
                <a:spcPts val="1708"/>
              </a:lnSpc>
            </a:pPr>
            <a:r>
              <a:rPr lang="en-US" sz="1667">
                <a:solidFill>
                  <a:srgbClr val="FFFFFF"/>
                </a:solidFill>
                <a:latin typeface="Montserrat" pitchFamily="2" charset="77"/>
                <a:ea typeface="Source Sans 3" pitchFamily="34" charset="-122"/>
                <a:cs typeface="Source Sans 3" pitchFamily="34" charset="-120"/>
              </a:rPr>
              <a:t>Blue Chip Centers Built</a:t>
            </a:r>
            <a:endParaRPr lang="en-US" sz="1667">
              <a:latin typeface="Montserrat" pitchFamily="2" charset="77"/>
            </a:endParaRPr>
          </a:p>
        </p:txBody>
      </p:sp>
      <p:sp>
        <p:nvSpPr>
          <p:cNvPr id="16" name="Text 13"/>
          <p:cNvSpPr/>
          <p:nvPr/>
        </p:nvSpPr>
        <p:spPr>
          <a:xfrm>
            <a:off x="5694064" y="5126803"/>
            <a:ext cx="3104257" cy="674787"/>
          </a:xfrm>
          <a:prstGeom prst="rect">
            <a:avLst/>
          </a:prstGeom>
          <a:noFill/>
          <a:ln/>
        </p:spPr>
        <p:txBody>
          <a:bodyPr wrap="square" lIns="0" tIns="0" rIns="0" bIns="0" rtlCol="0" anchor="t"/>
          <a:lstStyle/>
          <a:p>
            <a:pPr algn="ctr">
              <a:lnSpc>
                <a:spcPts val="1750"/>
              </a:lnSpc>
            </a:pPr>
            <a:r>
              <a:rPr lang="en-US" sz="1333">
                <a:solidFill>
                  <a:srgbClr val="FFFFFF"/>
                </a:solidFill>
                <a:latin typeface="Montserrat" pitchFamily="2" charset="77"/>
                <a:ea typeface="Montserrat" pitchFamily="34" charset="-122"/>
                <a:cs typeface="Montserrat" pitchFamily="34" charset="-120"/>
              </a:rPr>
              <a:t>Successfully built and launched 36 contact centers for blue chip companies in South Africa over 20 years.</a:t>
            </a:r>
            <a:endParaRPr lang="en-US" sz="1333">
              <a:latin typeface="Montserrat" pitchFamily="2" charset="77"/>
            </a:endParaRPr>
          </a:p>
        </p:txBody>
      </p:sp>
      <p:sp>
        <p:nvSpPr>
          <p:cNvPr id="17" name="Text 0">
            <a:extLst>
              <a:ext uri="{FF2B5EF4-FFF2-40B4-BE49-F238E27FC236}">
                <a16:creationId xmlns:a16="http://schemas.microsoft.com/office/drawing/2014/main" id="{7DDDDA4D-7317-4ED6-0765-0D67976B9392}"/>
              </a:ext>
            </a:extLst>
          </p:cNvPr>
          <p:cNvSpPr/>
          <p:nvPr/>
        </p:nvSpPr>
        <p:spPr>
          <a:xfrm>
            <a:off x="245855" y="167595"/>
            <a:ext cx="6368157" cy="531614"/>
          </a:xfrm>
          <a:prstGeom prst="rect">
            <a:avLst/>
          </a:prstGeom>
          <a:noFill/>
          <a:ln/>
        </p:spPr>
        <p:txBody>
          <a:bodyPr wrap="none" lIns="0" tIns="0" rIns="0" bIns="0" rtlCol="0" anchor="t"/>
          <a:lstStyle/>
          <a:p>
            <a:pPr>
              <a:lnSpc>
                <a:spcPts val="4167"/>
              </a:lnSpc>
            </a:pPr>
            <a:r>
              <a:rPr lang="en-US" sz="3333" b="1">
                <a:solidFill>
                  <a:srgbClr val="FFFFFF"/>
                </a:solidFill>
                <a:latin typeface="Poiret One" panose="02000000000000000000" pitchFamily="2" charset="0"/>
                <a:ea typeface="Source Sans 3" pitchFamily="34" charset="-122"/>
                <a:cs typeface="Source Sans 3" pitchFamily="34" charset="-120"/>
              </a:rPr>
              <a:t>Our Achievements</a:t>
            </a:r>
          </a:p>
        </p:txBody>
      </p:sp>
      <p:cxnSp>
        <p:nvCxnSpPr>
          <p:cNvPr id="18" name="Straight Arrow Connector 17">
            <a:extLst>
              <a:ext uri="{FF2B5EF4-FFF2-40B4-BE49-F238E27FC236}">
                <a16:creationId xmlns:a16="http://schemas.microsoft.com/office/drawing/2014/main" id="{DC26A814-4C8C-97A7-AFB7-6FE9FCF3272F}"/>
              </a:ext>
            </a:extLst>
          </p:cNvPr>
          <p:cNvCxnSpPr>
            <a:cxnSpLocks/>
          </p:cNvCxnSpPr>
          <p:nvPr/>
        </p:nvCxnSpPr>
        <p:spPr>
          <a:xfrm>
            <a:off x="245856" y="699209"/>
            <a:ext cx="4258109" cy="0"/>
          </a:xfrm>
          <a:prstGeom prst="straightConnector1">
            <a:avLst/>
          </a:prstGeom>
          <a:ln>
            <a:solidFill>
              <a:srgbClr val="49FE0C"/>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30B84F-65F3-C6D1-45BE-7A8D8C8E3179}"/>
              </a:ext>
            </a:extLst>
          </p:cNvPr>
          <p:cNvPicPr>
            <a:picLocks noChangeAspect="1"/>
          </p:cNvPicPr>
          <p:nvPr/>
        </p:nvPicPr>
        <p:blipFill>
          <a:blip r:embed="rId3"/>
          <a:stretch>
            <a:fillRect/>
          </a:stretch>
        </p:blipFill>
        <p:spPr>
          <a:xfrm>
            <a:off x="7848600" y="0"/>
            <a:ext cx="4343400" cy="6858000"/>
          </a:xfrm>
          <a:prstGeom prst="rect">
            <a:avLst/>
          </a:prstGeom>
        </p:spPr>
      </p:pic>
      <p:sp>
        <p:nvSpPr>
          <p:cNvPr id="10" name="Rectangle 9">
            <a:extLst>
              <a:ext uri="{FF2B5EF4-FFF2-40B4-BE49-F238E27FC236}">
                <a16:creationId xmlns:a16="http://schemas.microsoft.com/office/drawing/2014/main" id="{C148C80A-A903-DFAE-1F2F-C07376AEB942}"/>
              </a:ext>
            </a:extLst>
          </p:cNvPr>
          <p:cNvSpPr/>
          <p:nvPr/>
        </p:nvSpPr>
        <p:spPr>
          <a:xfrm>
            <a:off x="7523018" y="1"/>
            <a:ext cx="554182" cy="6858000"/>
          </a:xfrm>
          <a:prstGeom prst="rect">
            <a:avLst/>
          </a:prstGeom>
          <a:gradFill flip="none" rotWithShape="1">
            <a:gsLst>
              <a:gs pos="0">
                <a:srgbClr val="212121"/>
              </a:gs>
              <a:gs pos="100000">
                <a:schemeClr val="tx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Rectangle 1">
            <a:extLst>
              <a:ext uri="{FF2B5EF4-FFF2-40B4-BE49-F238E27FC236}">
                <a16:creationId xmlns:a16="http://schemas.microsoft.com/office/drawing/2014/main" id="{3094F14B-2B19-2F65-DCE1-B7E28625ECE0}"/>
              </a:ext>
            </a:extLst>
          </p:cNvPr>
          <p:cNvSpPr/>
          <p:nvPr/>
        </p:nvSpPr>
        <p:spPr>
          <a:xfrm>
            <a:off x="9732211" y="2327078"/>
            <a:ext cx="1109578" cy="2311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a:solidFill>
                <a:schemeClr val="bg1"/>
              </a:solidFill>
            </a:endParaRPr>
          </a:p>
        </p:txBody>
      </p:sp>
      <p:sp>
        <p:nvSpPr>
          <p:cNvPr id="6" name="TextBox 5">
            <a:extLst>
              <a:ext uri="{FF2B5EF4-FFF2-40B4-BE49-F238E27FC236}">
                <a16:creationId xmlns:a16="http://schemas.microsoft.com/office/drawing/2014/main" id="{5729E8C8-8652-FB91-CF15-0681482BE299}"/>
              </a:ext>
            </a:extLst>
          </p:cNvPr>
          <p:cNvSpPr txBox="1"/>
          <p:nvPr/>
        </p:nvSpPr>
        <p:spPr>
          <a:xfrm>
            <a:off x="245856" y="2155859"/>
            <a:ext cx="6980904" cy="2953950"/>
          </a:xfrm>
          <a:prstGeom prst="rect">
            <a:avLst/>
          </a:prstGeom>
          <a:noFill/>
        </p:spPr>
        <p:txBody>
          <a:bodyPr wrap="square">
            <a:spAutoFit/>
          </a:bodyPr>
          <a:lstStyle/>
          <a:p>
            <a:pPr marL="285739" indent="-285739">
              <a:lnSpc>
                <a:spcPct val="150000"/>
              </a:lnSpc>
              <a:buFont typeface="Arial" panose="020B0604020202020204" pitchFamily="34" charset="0"/>
              <a:buChar char="•"/>
            </a:pPr>
            <a:r>
              <a:rPr lang="en-GB" noProof="1">
                <a:solidFill>
                  <a:schemeClr val="bg1"/>
                </a:solidFill>
                <a:latin typeface="Montserrat" pitchFamily="2" charset="77"/>
              </a:rPr>
              <a:t>Trilogy’s Test Kitchen is a </a:t>
            </a:r>
            <a:r>
              <a:rPr lang="en-GB" b="1" noProof="1">
                <a:solidFill>
                  <a:schemeClr val="bg1"/>
                </a:solidFill>
                <a:latin typeface="Montserrat" pitchFamily="2" charset="77"/>
              </a:rPr>
              <a:t>controlled, real-data experimentation environment</a:t>
            </a:r>
            <a:r>
              <a:rPr lang="en-GB" noProof="1">
                <a:solidFill>
                  <a:schemeClr val="bg1"/>
                </a:solidFill>
                <a:latin typeface="Montserrat" pitchFamily="2" charset="77"/>
              </a:rPr>
              <a:t> where AI, automation, and digital deflection are </a:t>
            </a:r>
            <a:r>
              <a:rPr lang="en-GB" b="1" noProof="1">
                <a:solidFill>
                  <a:schemeClr val="bg1"/>
                </a:solidFill>
                <a:latin typeface="Montserrat" pitchFamily="2" charset="77"/>
              </a:rPr>
              <a:t>proven before deployment</a:t>
            </a:r>
            <a:r>
              <a:rPr lang="en-GB" noProof="1">
                <a:solidFill>
                  <a:schemeClr val="bg1"/>
                </a:solidFill>
                <a:latin typeface="Montserrat" pitchFamily="2" charset="77"/>
              </a:rPr>
              <a:t> — not theorised, not PowerPointed.</a:t>
            </a:r>
          </a:p>
          <a:p>
            <a:pPr marL="285739" indent="-285739">
              <a:lnSpc>
                <a:spcPct val="150000"/>
              </a:lnSpc>
              <a:buFont typeface="Arial" panose="020B0604020202020204" pitchFamily="34" charset="0"/>
              <a:buChar char="•"/>
            </a:pPr>
            <a:r>
              <a:rPr lang="en-GB" noProof="1">
                <a:solidFill>
                  <a:schemeClr val="bg1"/>
                </a:solidFill>
                <a:latin typeface="Montserrat" pitchFamily="2" charset="77"/>
              </a:rPr>
              <a:t>It exists to answer one question - </a:t>
            </a:r>
            <a:r>
              <a:rPr lang="en-GB" i="1" noProof="1">
                <a:solidFill>
                  <a:schemeClr val="bg1"/>
                </a:solidFill>
                <a:latin typeface="Montserrat" pitchFamily="2" charset="77"/>
              </a:rPr>
              <a:t>“What automation will materially reduce cost or improve CX — without breaking live operations?”</a:t>
            </a:r>
            <a:endParaRPr lang="en-GB" noProof="1">
              <a:solidFill>
                <a:schemeClr val="bg1"/>
              </a:solidFill>
              <a:latin typeface="Montserrat" pitchFamily="2" charset="77"/>
            </a:endParaRPr>
          </a:p>
        </p:txBody>
      </p:sp>
      <p:sp>
        <p:nvSpPr>
          <p:cNvPr id="3" name="Text 0">
            <a:extLst>
              <a:ext uri="{FF2B5EF4-FFF2-40B4-BE49-F238E27FC236}">
                <a16:creationId xmlns:a16="http://schemas.microsoft.com/office/drawing/2014/main" id="{CEEA9D94-CE73-DC6F-0A7C-F987657200B4}"/>
              </a:ext>
            </a:extLst>
          </p:cNvPr>
          <p:cNvSpPr/>
          <p:nvPr/>
        </p:nvSpPr>
        <p:spPr>
          <a:xfrm>
            <a:off x="245855" y="167595"/>
            <a:ext cx="6368157" cy="531614"/>
          </a:xfrm>
          <a:prstGeom prst="rect">
            <a:avLst/>
          </a:prstGeom>
          <a:noFill/>
          <a:ln/>
        </p:spPr>
        <p:txBody>
          <a:bodyPr wrap="none" lIns="0" tIns="0" rIns="0" bIns="0" rtlCol="0" anchor="t"/>
          <a:lstStyle/>
          <a:p>
            <a:r>
              <a:rPr lang="en-US" sz="3333" b="1">
                <a:solidFill>
                  <a:srgbClr val="FFFFFF"/>
                </a:solidFill>
                <a:latin typeface="Poiret One" panose="02000000000000000000" pitchFamily="2" charset="0"/>
                <a:ea typeface="Source Sans 3" pitchFamily="34" charset="-122"/>
                <a:cs typeface="Source Sans 3" pitchFamily="34" charset="-120"/>
              </a:rPr>
              <a:t>Trilogy AI Test Kitchen for BPO</a:t>
            </a:r>
          </a:p>
          <a:p>
            <a:r>
              <a:rPr lang="en-US" sz="1667" b="1">
                <a:solidFill>
                  <a:schemeClr val="bg1"/>
                </a:solidFill>
                <a:latin typeface="Poiret One" panose="02000000000000000000" pitchFamily="2" charset="0"/>
              </a:rPr>
              <a:t>Prove value. Reduce risk. Then scale with confidence.</a:t>
            </a:r>
          </a:p>
          <a:p>
            <a:endParaRPr lang="en-US" sz="1667" b="1">
              <a:solidFill>
                <a:schemeClr val="bg1"/>
              </a:solidFill>
              <a:latin typeface="Poiret One" panose="02000000000000000000" pitchFamily="2" charset="0"/>
            </a:endParaRPr>
          </a:p>
        </p:txBody>
      </p:sp>
      <p:cxnSp>
        <p:nvCxnSpPr>
          <p:cNvPr id="4" name="Straight Arrow Connector 3">
            <a:extLst>
              <a:ext uri="{FF2B5EF4-FFF2-40B4-BE49-F238E27FC236}">
                <a16:creationId xmlns:a16="http://schemas.microsoft.com/office/drawing/2014/main" id="{BDB21E5C-A849-B3D6-ED9C-DE25F183172F}"/>
              </a:ext>
            </a:extLst>
          </p:cNvPr>
          <p:cNvCxnSpPr>
            <a:cxnSpLocks/>
          </p:cNvCxnSpPr>
          <p:nvPr/>
        </p:nvCxnSpPr>
        <p:spPr>
          <a:xfrm>
            <a:off x="245855" y="1015929"/>
            <a:ext cx="6083661" cy="0"/>
          </a:xfrm>
          <a:prstGeom prst="straightConnector1">
            <a:avLst/>
          </a:prstGeom>
          <a:ln>
            <a:solidFill>
              <a:srgbClr val="49FE0C"/>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CC0BC5-2813-9F8B-DA6B-02F1CD332046}"/>
              </a:ext>
            </a:extLst>
          </p:cNvPr>
          <p:cNvSpPr txBox="1"/>
          <p:nvPr/>
        </p:nvSpPr>
        <p:spPr>
          <a:xfrm>
            <a:off x="6712333" y="2467198"/>
            <a:ext cx="5233812" cy="1938992"/>
          </a:xfrm>
          <a:prstGeom prst="rect">
            <a:avLst/>
          </a:prstGeom>
          <a:solidFill>
            <a:srgbClr val="49FE0C"/>
          </a:solidFill>
        </p:spPr>
        <p:txBody>
          <a:bodyPr wrap="square">
            <a:spAutoFit/>
          </a:bodyPr>
          <a:lstStyle/>
          <a:p>
            <a:r>
              <a:rPr lang="en-US" sz="1500">
                <a:latin typeface="Montserrat" pitchFamily="2" charset="77"/>
              </a:rPr>
              <a:t>“Only </a:t>
            </a:r>
            <a:r>
              <a:rPr lang="en-US" sz="1500" b="1">
                <a:latin typeface="Montserrat" pitchFamily="2" charset="77"/>
              </a:rPr>
              <a:t>30% of AI projects</a:t>
            </a:r>
            <a:r>
              <a:rPr lang="en-US" sz="1500">
                <a:latin typeface="Montserrat" pitchFamily="2" charset="77"/>
              </a:rPr>
              <a:t> make it past the pilot stage and deliver real business value.”</a:t>
            </a:r>
          </a:p>
          <a:p>
            <a:r>
              <a:rPr lang="en-US" sz="1500" b="1">
                <a:latin typeface="Montserrat" pitchFamily="2" charset="77"/>
              </a:rPr>
              <a:t>Source: </a:t>
            </a:r>
            <a:r>
              <a:rPr lang="en-US" sz="1500" b="1">
                <a:latin typeface="Montserrat" pitchFamily="2" charset="77"/>
                <a:hlinkClick r:id="rId2">
                  <a:extLst>
                    <a:ext uri="{A12FA001-AC4F-418D-AE19-62706E023703}">
                      <ahyp:hlinkClr xmlns:ahyp="http://schemas.microsoft.com/office/drawing/2018/hyperlinkcolor" val="tx"/>
                    </a:ext>
                  </a:extLst>
                </a:hlinkClick>
              </a:rPr>
              <a:t>Gartner</a:t>
            </a:r>
            <a:endParaRPr lang="en-US" sz="1500">
              <a:latin typeface="Montserrat" pitchFamily="2" charset="77"/>
            </a:endParaRPr>
          </a:p>
          <a:p>
            <a:br>
              <a:rPr lang="en-US" sz="1500">
                <a:latin typeface="Montserrat" pitchFamily="2" charset="77"/>
              </a:rPr>
            </a:br>
            <a:endParaRPr lang="en-US" sz="1500">
              <a:latin typeface="Montserrat" pitchFamily="2" charset="77"/>
            </a:endParaRPr>
          </a:p>
          <a:p>
            <a:r>
              <a:rPr lang="en-US" sz="1500">
                <a:latin typeface="Montserrat" pitchFamily="2" charset="77"/>
              </a:rPr>
              <a:t>“Organizations that fail to link AI initiatives to measurable business outcomes struggle to scale.”</a:t>
            </a:r>
          </a:p>
          <a:p>
            <a:r>
              <a:rPr lang="en-US" sz="1500" b="1">
                <a:latin typeface="Montserrat" pitchFamily="2" charset="77"/>
              </a:rPr>
              <a:t>Source: </a:t>
            </a:r>
            <a:r>
              <a:rPr lang="en-US" sz="1500" b="1">
                <a:latin typeface="Montserrat" pitchFamily="2" charset="77"/>
                <a:hlinkClick r:id="rId3">
                  <a:extLst>
                    <a:ext uri="{A12FA001-AC4F-418D-AE19-62706E023703}">
                      <ahyp:hlinkClr xmlns:ahyp="http://schemas.microsoft.com/office/drawing/2018/hyperlinkcolor" val="tx"/>
                    </a:ext>
                  </a:extLst>
                </a:hlinkClick>
              </a:rPr>
              <a:t>McKinsey</a:t>
            </a:r>
            <a:endParaRPr lang="en-US" sz="1500">
              <a:latin typeface="Montserrat" pitchFamily="2" charset="77"/>
            </a:endParaRPr>
          </a:p>
        </p:txBody>
      </p:sp>
      <p:sp>
        <p:nvSpPr>
          <p:cNvPr id="4" name="TextBox 3">
            <a:extLst>
              <a:ext uri="{FF2B5EF4-FFF2-40B4-BE49-F238E27FC236}">
                <a16:creationId xmlns:a16="http://schemas.microsoft.com/office/drawing/2014/main" id="{A922B9DB-9DFF-71B5-A52E-A5CBFD0E6A46}"/>
              </a:ext>
            </a:extLst>
          </p:cNvPr>
          <p:cNvSpPr txBox="1"/>
          <p:nvPr/>
        </p:nvSpPr>
        <p:spPr>
          <a:xfrm>
            <a:off x="5815141" y="5688183"/>
            <a:ext cx="5479667" cy="323165"/>
          </a:xfrm>
          <a:prstGeom prst="rect">
            <a:avLst/>
          </a:prstGeom>
          <a:noFill/>
        </p:spPr>
        <p:txBody>
          <a:bodyPr wrap="square">
            <a:spAutoFit/>
          </a:bodyPr>
          <a:lstStyle/>
          <a:p>
            <a:pPr>
              <a:buNone/>
            </a:pPr>
            <a:r>
              <a:rPr lang="en-US" sz="1500" b="1">
                <a:solidFill>
                  <a:schemeClr val="bg1"/>
                </a:solidFill>
                <a:latin typeface="Montserrat" pitchFamily="2" charset="77"/>
              </a:rPr>
              <a:t>The Test Kitchen exists to fix this exact failure point</a:t>
            </a:r>
            <a:endParaRPr lang="en-US" sz="1500">
              <a:solidFill>
                <a:schemeClr val="bg1"/>
              </a:solidFill>
              <a:latin typeface="Montserrat" pitchFamily="2" charset="77"/>
            </a:endParaRPr>
          </a:p>
        </p:txBody>
      </p:sp>
      <p:sp>
        <p:nvSpPr>
          <p:cNvPr id="3" name="Text 0">
            <a:extLst>
              <a:ext uri="{FF2B5EF4-FFF2-40B4-BE49-F238E27FC236}">
                <a16:creationId xmlns:a16="http://schemas.microsoft.com/office/drawing/2014/main" id="{3B51DCE9-B7FF-F550-FF86-E0472B036C07}"/>
              </a:ext>
            </a:extLst>
          </p:cNvPr>
          <p:cNvSpPr/>
          <p:nvPr/>
        </p:nvSpPr>
        <p:spPr>
          <a:xfrm>
            <a:off x="245855" y="167595"/>
            <a:ext cx="6368157" cy="531614"/>
          </a:xfrm>
          <a:prstGeom prst="rect">
            <a:avLst/>
          </a:prstGeom>
          <a:noFill/>
          <a:ln/>
        </p:spPr>
        <p:txBody>
          <a:bodyPr wrap="none" lIns="0" tIns="0" rIns="0" bIns="0" rtlCol="0" anchor="t"/>
          <a:lstStyle/>
          <a:p>
            <a:r>
              <a:rPr lang="en-US" sz="3333" b="1">
                <a:solidFill>
                  <a:srgbClr val="FFFFFF"/>
                </a:solidFill>
                <a:latin typeface="Poiret One" panose="02000000000000000000" pitchFamily="2" charset="0"/>
                <a:ea typeface="Source Sans 3" pitchFamily="34" charset="-122"/>
                <a:cs typeface="Source Sans 3" pitchFamily="34" charset="-120"/>
              </a:rPr>
              <a:t>The Trilogy Test Kitchen Difference</a:t>
            </a:r>
          </a:p>
          <a:p>
            <a:r>
              <a:rPr lang="en-US" sz="1667" b="1">
                <a:solidFill>
                  <a:schemeClr val="bg1"/>
                </a:solidFill>
                <a:latin typeface="Poiret One" panose="02000000000000000000" pitchFamily="2" charset="0"/>
              </a:rPr>
              <a:t>Not a Lab. Not a POC. Not a Vendor Demo</a:t>
            </a:r>
          </a:p>
        </p:txBody>
      </p:sp>
      <p:cxnSp>
        <p:nvCxnSpPr>
          <p:cNvPr id="5" name="Straight Arrow Connector 4">
            <a:extLst>
              <a:ext uri="{FF2B5EF4-FFF2-40B4-BE49-F238E27FC236}">
                <a16:creationId xmlns:a16="http://schemas.microsoft.com/office/drawing/2014/main" id="{3B749565-958B-D636-F247-A6FFC4572E5D}"/>
              </a:ext>
            </a:extLst>
          </p:cNvPr>
          <p:cNvCxnSpPr>
            <a:cxnSpLocks/>
          </p:cNvCxnSpPr>
          <p:nvPr/>
        </p:nvCxnSpPr>
        <p:spPr>
          <a:xfrm>
            <a:off x="245855" y="1015929"/>
            <a:ext cx="6083661" cy="0"/>
          </a:xfrm>
          <a:prstGeom prst="straightConnector1">
            <a:avLst/>
          </a:prstGeom>
          <a:ln>
            <a:solidFill>
              <a:srgbClr val="49FE0C"/>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3815422-D832-4A39-D64B-41AFE5EC70D1}"/>
              </a:ext>
            </a:extLst>
          </p:cNvPr>
          <p:cNvSpPr txBox="1"/>
          <p:nvPr/>
        </p:nvSpPr>
        <p:spPr>
          <a:xfrm>
            <a:off x="245855" y="1379311"/>
            <a:ext cx="5948468" cy="4981107"/>
          </a:xfrm>
          <a:prstGeom prst="rect">
            <a:avLst/>
          </a:prstGeom>
          <a:noFill/>
        </p:spPr>
        <p:txBody>
          <a:bodyPr wrap="square">
            <a:spAutoFit/>
          </a:bodyPr>
          <a:lstStyle/>
          <a:p>
            <a:pPr>
              <a:lnSpc>
                <a:spcPct val="150000"/>
              </a:lnSpc>
              <a:buNone/>
            </a:pPr>
            <a:r>
              <a:rPr lang="en-US" sz="1333">
                <a:solidFill>
                  <a:schemeClr val="bg1"/>
                </a:solidFill>
                <a:latin typeface="Montserrat" pitchFamily="2" charset="77"/>
              </a:rPr>
              <a:t>Most “innovation labs”:</a:t>
            </a:r>
          </a:p>
          <a:p>
            <a:pPr marL="238115" indent="-238115">
              <a:lnSpc>
                <a:spcPct val="150000"/>
              </a:lnSpc>
              <a:buFont typeface="Arial" panose="020B0604020202020204" pitchFamily="34" charset="0"/>
              <a:buChar char="•"/>
            </a:pPr>
            <a:r>
              <a:rPr lang="en-US" sz="1333">
                <a:solidFill>
                  <a:schemeClr val="bg1"/>
                </a:solidFill>
                <a:latin typeface="Montserrat" pitchFamily="2" charset="77"/>
              </a:rPr>
              <a:t>Test fake data</a:t>
            </a:r>
          </a:p>
          <a:p>
            <a:pPr marL="238115" indent="-238115">
              <a:lnSpc>
                <a:spcPct val="150000"/>
              </a:lnSpc>
              <a:buFont typeface="Arial" panose="020B0604020202020204" pitchFamily="34" charset="0"/>
              <a:buChar char="•"/>
            </a:pPr>
            <a:r>
              <a:rPr lang="en-US" sz="1333">
                <a:solidFill>
                  <a:schemeClr val="bg1"/>
                </a:solidFill>
                <a:latin typeface="Montserrat" pitchFamily="2" charset="77"/>
              </a:rPr>
              <a:t>Sit outside operations</a:t>
            </a:r>
          </a:p>
          <a:p>
            <a:pPr marL="238115" indent="-238115">
              <a:lnSpc>
                <a:spcPct val="150000"/>
              </a:lnSpc>
              <a:buFont typeface="Arial" panose="020B0604020202020204" pitchFamily="34" charset="0"/>
              <a:buChar char="•"/>
            </a:pPr>
            <a:r>
              <a:rPr lang="en-US" sz="1333">
                <a:solidFill>
                  <a:schemeClr val="bg1"/>
                </a:solidFill>
                <a:latin typeface="Montserrat" pitchFamily="2" charset="77"/>
              </a:rPr>
              <a:t>Never reach production</a:t>
            </a:r>
          </a:p>
          <a:p>
            <a:pPr>
              <a:lnSpc>
                <a:spcPct val="150000"/>
              </a:lnSpc>
              <a:buFont typeface="Arial" panose="020B0604020202020204" pitchFamily="34" charset="0"/>
              <a:buChar char="•"/>
            </a:pPr>
            <a:endParaRPr lang="en-US" sz="1333">
              <a:solidFill>
                <a:schemeClr val="bg1"/>
              </a:solidFill>
              <a:latin typeface="Montserrat" pitchFamily="2" charset="77"/>
            </a:endParaRPr>
          </a:p>
          <a:p>
            <a:pPr>
              <a:lnSpc>
                <a:spcPct val="150000"/>
              </a:lnSpc>
              <a:buNone/>
            </a:pPr>
            <a:r>
              <a:rPr lang="en-US" sz="1333">
                <a:solidFill>
                  <a:schemeClr val="bg1"/>
                </a:solidFill>
                <a:latin typeface="Montserrat" pitchFamily="2" charset="77"/>
              </a:rPr>
              <a:t>Trilogy’s Test Kitchen is operational by design. It combines:</a:t>
            </a:r>
          </a:p>
          <a:p>
            <a:pPr marL="238115" indent="-238115">
              <a:lnSpc>
                <a:spcPct val="150000"/>
              </a:lnSpc>
              <a:buFont typeface="Arial" panose="020B0604020202020204" pitchFamily="34" charset="0"/>
              <a:buChar char="•"/>
            </a:pPr>
            <a:r>
              <a:rPr lang="en-US" sz="1333" b="1">
                <a:solidFill>
                  <a:schemeClr val="bg1"/>
                </a:solidFill>
                <a:latin typeface="Montserrat" pitchFamily="2" charset="77"/>
              </a:rPr>
              <a:t>Trilogy Discover</a:t>
            </a:r>
            <a:r>
              <a:rPr lang="en-US" sz="1333">
                <a:solidFill>
                  <a:schemeClr val="bg1"/>
                </a:solidFill>
                <a:latin typeface="Montserrat" pitchFamily="2" charset="77"/>
              </a:rPr>
              <a:t> – LLM-based learning bot </a:t>
            </a:r>
            <a:r>
              <a:rPr lang="en-US" sz="1333" err="1">
                <a:solidFill>
                  <a:schemeClr val="bg1"/>
                </a:solidFill>
                <a:latin typeface="Montserrat" pitchFamily="2" charset="77"/>
              </a:rPr>
              <a:t>analysing</a:t>
            </a:r>
            <a:r>
              <a:rPr lang="en-US" sz="1333">
                <a:solidFill>
                  <a:schemeClr val="bg1"/>
                </a:solidFill>
                <a:latin typeface="Montserrat" pitchFamily="2" charset="77"/>
              </a:rPr>
              <a:t> real customer interactions</a:t>
            </a:r>
          </a:p>
          <a:p>
            <a:pPr marL="238115" indent="-238115">
              <a:lnSpc>
                <a:spcPct val="150000"/>
              </a:lnSpc>
              <a:buFont typeface="Arial" panose="020B0604020202020204" pitchFamily="34" charset="0"/>
              <a:buChar char="•"/>
            </a:pPr>
            <a:r>
              <a:rPr lang="en-US" sz="1333" b="1">
                <a:solidFill>
                  <a:schemeClr val="bg1"/>
                </a:solidFill>
                <a:latin typeface="Montserrat" pitchFamily="2" charset="77"/>
              </a:rPr>
              <a:t>Genii Analytics</a:t>
            </a:r>
            <a:r>
              <a:rPr lang="en-US" sz="1333">
                <a:solidFill>
                  <a:schemeClr val="bg1"/>
                </a:solidFill>
                <a:latin typeface="Montserrat" pitchFamily="2" charset="77"/>
              </a:rPr>
              <a:t> – deep root-cause analytics across voice, chat, digital, and back-office</a:t>
            </a:r>
          </a:p>
          <a:p>
            <a:pPr marL="238115" indent="-238115">
              <a:lnSpc>
                <a:spcPct val="150000"/>
              </a:lnSpc>
              <a:buFont typeface="Arial" panose="020B0604020202020204" pitchFamily="34" charset="0"/>
              <a:buChar char="•"/>
            </a:pPr>
            <a:r>
              <a:rPr lang="en-US" sz="1333">
                <a:solidFill>
                  <a:schemeClr val="bg1"/>
                </a:solidFill>
                <a:latin typeface="Montserrat" pitchFamily="2" charset="77"/>
              </a:rPr>
              <a:t>Human-in-the-loop governance from day one</a:t>
            </a:r>
          </a:p>
          <a:p>
            <a:pPr>
              <a:lnSpc>
                <a:spcPct val="150000"/>
              </a:lnSpc>
              <a:buNone/>
            </a:pPr>
            <a:endParaRPr lang="en-US" sz="1333">
              <a:solidFill>
                <a:schemeClr val="bg1"/>
              </a:solidFill>
              <a:latin typeface="Montserrat" pitchFamily="2" charset="77"/>
            </a:endParaRPr>
          </a:p>
          <a:p>
            <a:pPr>
              <a:lnSpc>
                <a:spcPct val="150000"/>
              </a:lnSpc>
              <a:buNone/>
            </a:pPr>
            <a:r>
              <a:rPr lang="en-US" sz="1333">
                <a:solidFill>
                  <a:schemeClr val="bg1"/>
                </a:solidFill>
                <a:latin typeface="Montserrat" pitchFamily="2" charset="77"/>
              </a:rPr>
              <a:t>This means:</a:t>
            </a:r>
          </a:p>
          <a:p>
            <a:pPr>
              <a:lnSpc>
                <a:spcPct val="150000"/>
              </a:lnSpc>
              <a:buFont typeface="Arial" panose="020B0604020202020204" pitchFamily="34" charset="0"/>
              <a:buChar char="•"/>
            </a:pPr>
            <a:r>
              <a:rPr lang="en-US" sz="1333">
                <a:solidFill>
                  <a:schemeClr val="bg1"/>
                </a:solidFill>
                <a:latin typeface="Montserrat" pitchFamily="2" charset="77"/>
              </a:rPr>
              <a:t>You find </a:t>
            </a:r>
            <a:r>
              <a:rPr lang="en-US" sz="1333" b="1">
                <a:solidFill>
                  <a:schemeClr val="bg1"/>
                </a:solidFill>
                <a:latin typeface="Montserrat" pitchFamily="2" charset="77"/>
              </a:rPr>
              <a:t>real automation opportunities</a:t>
            </a:r>
            <a:endParaRPr lang="en-US" sz="1333">
              <a:solidFill>
                <a:schemeClr val="bg1"/>
              </a:solidFill>
              <a:latin typeface="Montserrat" pitchFamily="2" charset="77"/>
            </a:endParaRPr>
          </a:p>
          <a:p>
            <a:pPr>
              <a:lnSpc>
                <a:spcPct val="150000"/>
              </a:lnSpc>
              <a:buFont typeface="Arial" panose="020B0604020202020204" pitchFamily="34" charset="0"/>
              <a:buChar char="•"/>
            </a:pPr>
            <a:r>
              <a:rPr lang="en-US" sz="1333">
                <a:solidFill>
                  <a:schemeClr val="bg1"/>
                </a:solidFill>
                <a:latin typeface="Montserrat" pitchFamily="2" charset="77"/>
              </a:rPr>
              <a:t>You quantify </a:t>
            </a:r>
            <a:r>
              <a:rPr lang="en-US" sz="1333" b="1">
                <a:solidFill>
                  <a:schemeClr val="bg1"/>
                </a:solidFill>
                <a:latin typeface="Montserrat" pitchFamily="2" charset="77"/>
              </a:rPr>
              <a:t>real deflection</a:t>
            </a:r>
            <a:endParaRPr lang="en-US" sz="1333">
              <a:solidFill>
                <a:schemeClr val="bg1"/>
              </a:solidFill>
              <a:latin typeface="Montserrat" pitchFamily="2" charset="77"/>
            </a:endParaRPr>
          </a:p>
          <a:p>
            <a:pPr>
              <a:lnSpc>
                <a:spcPct val="150000"/>
              </a:lnSpc>
              <a:buFont typeface="Arial" panose="020B0604020202020204" pitchFamily="34" charset="0"/>
              <a:buChar char="•"/>
            </a:pPr>
            <a:r>
              <a:rPr lang="en-US" sz="1333">
                <a:solidFill>
                  <a:schemeClr val="bg1"/>
                </a:solidFill>
                <a:latin typeface="Montserrat" pitchFamily="2" charset="77"/>
              </a:rPr>
              <a:t>You deploy </a:t>
            </a:r>
            <a:r>
              <a:rPr lang="en-US" sz="1333" b="1">
                <a:solidFill>
                  <a:schemeClr val="bg1"/>
                </a:solidFill>
                <a:latin typeface="Montserrat" pitchFamily="2" charset="77"/>
              </a:rPr>
              <a:t>only what works</a:t>
            </a:r>
            <a:endParaRPr lang="en-US" sz="1333">
              <a:solidFill>
                <a:schemeClr val="bg1"/>
              </a:solidFill>
              <a:latin typeface="Montserrat" pitchFamily="2" charset="77"/>
            </a:endParaRPr>
          </a:p>
        </p:txBody>
      </p:sp>
      <p:cxnSp>
        <p:nvCxnSpPr>
          <p:cNvPr id="10" name="Straight Arrow Connector 9">
            <a:extLst>
              <a:ext uri="{FF2B5EF4-FFF2-40B4-BE49-F238E27FC236}">
                <a16:creationId xmlns:a16="http://schemas.microsoft.com/office/drawing/2014/main" id="{D7EEC043-ED26-902C-0685-DD5E12B8CF1B}"/>
              </a:ext>
            </a:extLst>
          </p:cNvPr>
          <p:cNvCxnSpPr>
            <a:stCxn id="4" idx="0"/>
            <a:endCxn id="2" idx="2"/>
          </p:cNvCxnSpPr>
          <p:nvPr/>
        </p:nvCxnSpPr>
        <p:spPr>
          <a:xfrm flipV="1">
            <a:off x="8554975" y="4406190"/>
            <a:ext cx="774264" cy="1281993"/>
          </a:xfrm>
          <a:prstGeom prst="straightConnector1">
            <a:avLst/>
          </a:prstGeom>
          <a:ln w="19050">
            <a:solidFill>
              <a:srgbClr val="49FE0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223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7A22E85D508D4BA3D88F285A4BFBFF" ma:contentTypeVersion="12" ma:contentTypeDescription="Create a new document." ma:contentTypeScope="" ma:versionID="9987cb3c740d251d46b9333d08217780">
  <xsd:schema xmlns:xsd="http://www.w3.org/2001/XMLSchema" xmlns:xs="http://www.w3.org/2001/XMLSchema" xmlns:p="http://schemas.microsoft.com/office/2006/metadata/properties" xmlns:ns2="4aba8e23-181e-4a95-9270-5fdb07633be2" xmlns:ns3="5b5294e1-9b14-479f-be65-1200265709b9" targetNamespace="http://schemas.microsoft.com/office/2006/metadata/properties" ma:root="true" ma:fieldsID="5a731378c195bae6e936e83aa8f38fa1" ns2:_="" ns3:_="">
    <xsd:import namespace="4aba8e23-181e-4a95-9270-5fdb07633be2"/>
    <xsd:import namespace="5b5294e1-9b14-479f-be65-1200265709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InformationClassifi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ba8e23-181e-4a95-9270-5fdb07633b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54d1e14-a102-48c8-8e1e-c1b118d551e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InformationClassification" ma:index="18" nillable="true" ma:displayName="Information Classification" ma:default="Internal - Confidential" ma:format="Dropdown" ma:internalName="InformationClassification">
      <xsd:simpleType>
        <xsd:restriction base="dms:Choice">
          <xsd:enumeration value="Internal - Confidential"/>
          <xsd:enumeration value="External - Confidential"/>
          <xsd:enumeration value="Public"/>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b5294e1-9b14-479f-be65-1200265709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0f0de05-ede7-4a46-9e41-f1e1e405c4b4}" ma:internalName="TaxCatchAll" ma:showField="CatchAllData" ma:web="5b5294e1-9b14-479f-be65-1200265709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Classification xmlns="4aba8e23-181e-4a95-9270-5fdb07633be2">Internal - Confidential</InformationClassification>
    <TaxCatchAll xmlns="5b5294e1-9b14-479f-be65-1200265709b9" xsi:nil="true"/>
    <lcf76f155ced4ddcb4097134ff3c332f xmlns="4aba8e23-181e-4a95-9270-5fdb07633be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0F5A134-A5D9-4A32-9F76-C1296AAFA6CF}"/>
</file>

<file path=customXml/itemProps2.xml><?xml version="1.0" encoding="utf-8"?>
<ds:datastoreItem xmlns:ds="http://schemas.openxmlformats.org/officeDocument/2006/customXml" ds:itemID="{09BAE428-4EE7-4F1B-AEB9-EDDEB764578D}"/>
</file>

<file path=customXml/itemProps3.xml><?xml version="1.0" encoding="utf-8"?>
<ds:datastoreItem xmlns:ds="http://schemas.openxmlformats.org/officeDocument/2006/customXml" ds:itemID="{C34D98EB-1DB7-4B9B-984E-92C46A787147}"/>
</file>

<file path=docProps/app.xml><?xml version="1.0" encoding="utf-8"?>
<Properties xmlns="http://schemas.openxmlformats.org/officeDocument/2006/extended-properties" xmlns:vt="http://schemas.openxmlformats.org/officeDocument/2006/docPropsVTypes">
  <TotalTime>0</TotalTime>
  <Words>1039</Words>
  <Application>Microsoft Macintosh PowerPoint</Application>
  <PresentationFormat>Widescreen</PresentationFormat>
  <Paragraphs>99</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Montserrat</vt:lpstr>
      <vt:lpstr>Poiret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Craig Shalekoff</dc:creator>
  <cp:lastModifiedBy>Craig Shalekoff</cp:lastModifiedBy>
  <cp:revision>1</cp:revision>
  <dcterms:created xsi:type="dcterms:W3CDTF">2026-09-04T09:31:13Z</dcterms:created>
  <dcterms:modified xsi:type="dcterms:W3CDTF">2026-09-04T09:31:25Z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0x0101008D7A22E85D508D4BA3D88F285A4BFBFF</vt:lpwstr>
  </property>
</Properties>
</file>